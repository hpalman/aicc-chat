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57" r:id="rId4"/>
    <p:sldId id="258" r:id="rId5"/>
    <p:sldId id="260" r:id="rId6"/>
    <p:sldId id="270" r:id="rId7"/>
    <p:sldId id="269" r:id="rId8"/>
    <p:sldId id="272" r:id="rId9"/>
    <p:sldId id="273" r:id="rId10"/>
    <p:sldId id="271" r:id="rId11"/>
    <p:sldId id="268" r:id="rId12"/>
    <p:sldId id="265" r:id="rId13"/>
    <p:sldId id="267" r:id="rId14"/>
    <p:sldId id="261" r:id="rId15"/>
    <p:sldId id="262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64"/>
            <p14:sldId id="257"/>
            <p14:sldId id="258"/>
          </p14:sldIdLst>
        </p14:section>
        <p14:section name="참고) Access/Refresh Token" id="{712EC8BA-557A-4A0A-BB56-5C560F099E21}">
          <p14:sldIdLst>
            <p14:sldId id="260"/>
          </p14:sldIdLst>
        </p14:section>
        <p14:section name="상담사 및 고객의 Pub/Sub" id="{6AA874A4-C796-4085-89D1-9FCF5BBF5BC7}">
          <p14:sldIdLst>
            <p14:sldId id="270"/>
          </p14:sldIdLst>
        </p14:section>
        <p14:section name="API" id="{E5130F8B-ECE6-44E2-8F6D-83F7DE5DA0C3}">
          <p14:sldIdLst>
            <p14:sldId id="269"/>
          </p14:sldIdLst>
        </p14:section>
        <p14:section name="API-FLOW [상담사 연결 요청]" id="{5FF70771-8FB2-4EFE-A6CD-847E251879FE}">
          <p14:sldIdLst>
            <p14:sldId id="272"/>
          </p14:sldIdLst>
        </p14:section>
        <p14:section name="API-FLOW [상담사 개입]" id="{154AFED2-8684-46E6-A959-6E31F17DD67E}">
          <p14:sldIdLst>
            <p14:sldId id="273"/>
          </p14:sldIdLst>
        </p14:section>
        <p14:section name="API 백업(보지마요)" id="{2A0D9E60-E044-4427-9F1E-249254AF286E}">
          <p14:sldIdLst>
            <p14:sldId id="271"/>
          </p14:sldIdLst>
        </p14:section>
        <p14:section name="Redis KEY 구조" id="{B2F46301-2BB3-4A52-8683-06848834DE10}">
          <p14:sldIdLst>
            <p14:sldId id="268"/>
            <p14:sldId id="265"/>
            <p14:sldId id="267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11" userDrawn="1">
          <p15:clr>
            <a:srgbClr val="A4A3A4"/>
          </p15:clr>
        </p15:guide>
        <p15:guide id="4" orient="horz" pos="164" userDrawn="1">
          <p15:clr>
            <a:srgbClr val="A4A3A4"/>
          </p15:clr>
        </p15:guide>
        <p15:guide id="5" orient="horz" pos="28" userDrawn="1">
          <p15:clr>
            <a:srgbClr val="A4A3A4"/>
          </p15:clr>
        </p15:guide>
        <p15:guide id="6" pos="30" userDrawn="1">
          <p15:clr>
            <a:srgbClr val="A4A3A4"/>
          </p15:clr>
        </p15:guide>
        <p15:guide id="7" pos="824" userDrawn="1">
          <p15:clr>
            <a:srgbClr val="A4A3A4"/>
          </p15:clr>
        </p15:guide>
        <p15:guide id="8" pos="801" userDrawn="1">
          <p15:clr>
            <a:srgbClr val="A4A3A4"/>
          </p15:clr>
        </p15:guide>
        <p15:guide id="9" orient="horz" pos="3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5D6"/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06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32" y="342"/>
      </p:cViewPr>
      <p:guideLst>
        <p:guide orient="horz" pos="2160"/>
        <p:guide pos="3840"/>
        <p:guide pos="211"/>
        <p:guide orient="horz" pos="164"/>
        <p:guide orient="horz" pos="28"/>
        <p:guide pos="30"/>
        <p:guide pos="824"/>
        <p:guide pos="801"/>
        <p:guide orient="horz" pos="3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161612" y="3984237"/>
            <a:ext cx="734614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5. 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622896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 + STOMP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33455E-0F0B-B104-8DD5-CA0B56CFBCB3}"/>
              </a:ext>
            </a:extLst>
          </p:cNvPr>
          <p:cNvSpPr/>
          <p:nvPr/>
        </p:nvSpPr>
        <p:spPr>
          <a:xfrm>
            <a:off x="1977242" y="1425038"/>
            <a:ext cx="1745672" cy="2161309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25ADE1-18E6-B0C4-AE54-C5C3B7503A3D}"/>
              </a:ext>
            </a:extLst>
          </p:cNvPr>
          <p:cNvSpPr/>
          <p:nvPr/>
        </p:nvSpPr>
        <p:spPr>
          <a:xfrm>
            <a:off x="1972788" y="635650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/frontend/chat-customer.html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BB5645-A029-FCE0-C1AA-295D02C84E94}"/>
              </a:ext>
            </a:extLst>
          </p:cNvPr>
          <p:cNvSpPr/>
          <p:nvPr/>
        </p:nvSpPr>
        <p:spPr>
          <a:xfrm>
            <a:off x="2012155" y="804852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/frontend/chat-agent.html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2F8E8A6-FB02-EA4D-3E4A-4134090C2DF4}"/>
              </a:ext>
            </a:extLst>
          </p:cNvPr>
          <p:cNvSpPr/>
          <p:nvPr/>
        </p:nvSpPr>
        <p:spPr>
          <a:xfrm>
            <a:off x="9406684" y="5779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1.AICC (FRONTEND)-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0133F07-A277-D58F-B41A-7E06C7E1A7D0}"/>
              </a:ext>
            </a:extLst>
          </p:cNvPr>
          <p:cNvSpPr/>
          <p:nvPr/>
        </p:nvSpPr>
        <p:spPr>
          <a:xfrm>
            <a:off x="9406684" y="107629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3.AICC (BACKEND) - 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89D89F-4C50-630E-B95F-F3EA1D38B599}"/>
              </a:ext>
            </a:extLst>
          </p:cNvPr>
          <p:cNvSpPr/>
          <p:nvPr/>
        </p:nvSpPr>
        <p:spPr>
          <a:xfrm>
            <a:off x="10563540" y="5779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Next.js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345F31-01F5-7F5E-4E09-2F23B73B9517}"/>
              </a:ext>
            </a:extLst>
          </p:cNvPr>
          <p:cNvSpPr/>
          <p:nvPr/>
        </p:nvSpPr>
        <p:spPr>
          <a:xfrm>
            <a:off x="10563540" y="10654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SpringBoot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30AFF8-C6F9-13AF-F4B8-32995466A308}"/>
              </a:ext>
            </a:extLst>
          </p:cNvPr>
          <p:cNvSpPr/>
          <p:nvPr/>
        </p:nvSpPr>
        <p:spPr>
          <a:xfrm>
            <a:off x="11258865" y="577977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A8B6501-3113-B6AB-9B01-BF122E4BB16A}"/>
              </a:ext>
            </a:extLst>
          </p:cNvPr>
          <p:cNvSpPr/>
          <p:nvPr/>
        </p:nvSpPr>
        <p:spPr>
          <a:xfrm>
            <a:off x="9397585" y="325565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0.NGINX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AD176A5-234B-2647-525C-79A31D85C83B}"/>
              </a:ext>
            </a:extLst>
          </p:cNvPr>
          <p:cNvCxnSpPr>
            <a:cxnSpLocks/>
          </p:cNvCxnSpPr>
          <p:nvPr/>
        </p:nvCxnSpPr>
        <p:spPr>
          <a:xfrm>
            <a:off x="11393932" y="728755"/>
            <a:ext cx="0" cy="33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5DC51B8-A059-1BF9-61D7-E6FB3500F024}"/>
              </a:ext>
            </a:extLst>
          </p:cNvPr>
          <p:cNvSpPr/>
          <p:nvPr/>
        </p:nvSpPr>
        <p:spPr>
          <a:xfrm>
            <a:off x="11258865" y="1070239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8080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AE3B7D8-C2DC-D6EC-7923-42172FF6449A}"/>
              </a:ext>
            </a:extLst>
          </p:cNvPr>
          <p:cNvSpPr/>
          <p:nvPr/>
        </p:nvSpPr>
        <p:spPr>
          <a:xfrm>
            <a:off x="8982672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82A19F2-C145-2B4B-2042-591B1C21A566}"/>
              </a:ext>
            </a:extLst>
          </p:cNvPr>
          <p:cNvSpPr/>
          <p:nvPr/>
        </p:nvSpPr>
        <p:spPr>
          <a:xfrm>
            <a:off x="7787997" y="436288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455647B-B05D-06ED-0C7A-0F09759703F6}"/>
              </a:ext>
            </a:extLst>
          </p:cNvPr>
          <p:cNvSpPr/>
          <p:nvPr/>
        </p:nvSpPr>
        <p:spPr>
          <a:xfrm>
            <a:off x="9406684" y="7363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2.AICC (FRONTEND)-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F374B6-11BF-8540-D3F7-A5692AFA9FFD}"/>
              </a:ext>
            </a:extLst>
          </p:cNvPr>
          <p:cNvSpPr/>
          <p:nvPr/>
        </p:nvSpPr>
        <p:spPr>
          <a:xfrm>
            <a:off x="9406684" y="1244002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4.AICC (BACKEND) - 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cxnSp>
        <p:nvCxnSpPr>
          <p:cNvPr id="62" name="연결선: 구부러짐 61">
            <a:extLst>
              <a:ext uri="{FF2B5EF4-FFF2-40B4-BE49-F238E27FC236}">
                <a16:creationId xmlns:a16="http://schemas.microsoft.com/office/drawing/2014/main" id="{CFFA365F-CB69-86C2-832F-0887D0C16059}"/>
              </a:ext>
            </a:extLst>
          </p:cNvPr>
          <p:cNvCxnSpPr>
            <a:cxnSpLocks/>
            <a:stCxn id="41" idx="2"/>
            <a:endCxn id="35" idx="1"/>
          </p:cNvCxnSpPr>
          <p:nvPr/>
        </p:nvCxnSpPr>
        <p:spPr>
          <a:xfrm rot="5400000" flipH="1" flipV="1">
            <a:off x="8473586" y="-16542"/>
            <a:ext cx="502691" cy="1345305"/>
          </a:xfrm>
          <a:prstGeom prst="curvedConnector4">
            <a:avLst>
              <a:gd name="adj1" fmla="val -45475"/>
              <a:gd name="adj2" fmla="val 596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A74F53-0FC0-23C1-3C67-9F6BED6F596D}"/>
              </a:ext>
            </a:extLst>
          </p:cNvPr>
          <p:cNvSpPr/>
          <p:nvPr/>
        </p:nvSpPr>
        <p:spPr>
          <a:xfrm>
            <a:off x="9352907" y="1022858"/>
            <a:ext cx="2334712" cy="42344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EEC5E6-4675-DBB4-1CF6-5DF102B050D9}"/>
              </a:ext>
            </a:extLst>
          </p:cNvPr>
          <p:cNvSpPr/>
          <p:nvPr/>
        </p:nvSpPr>
        <p:spPr>
          <a:xfrm>
            <a:off x="7792405" y="510896"/>
            <a:ext cx="519749" cy="3965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6932FF8-2484-1927-CEAB-200D3D91C383}"/>
              </a:ext>
            </a:extLst>
          </p:cNvPr>
          <p:cNvSpPr/>
          <p:nvPr/>
        </p:nvSpPr>
        <p:spPr>
          <a:xfrm>
            <a:off x="7814997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이벤트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B2B211F5-4FEB-6AFB-A41C-82394AC0DF37}"/>
              </a:ext>
            </a:extLst>
          </p:cNvPr>
          <p:cNvGrpSpPr/>
          <p:nvPr/>
        </p:nvGrpSpPr>
        <p:grpSpPr>
          <a:xfrm>
            <a:off x="3150287" y="-19214"/>
            <a:ext cx="4436589" cy="523220"/>
            <a:chOff x="3150287" y="-19214"/>
            <a:chExt cx="4436589" cy="52322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4A3700F-1295-4BB8-E331-8A34CC681E4E}"/>
                </a:ext>
              </a:extLst>
            </p:cNvPr>
            <p:cNvSpPr txBox="1"/>
            <p:nvPr/>
          </p:nvSpPr>
          <p:spPr>
            <a:xfrm>
              <a:off x="3150287" y="-19214"/>
              <a:ext cx="38107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http://localhost:28070/frontend/chat-customer.html </a:t>
              </a:r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(ui)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http://localhost:28070/api/me (api)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http://localhost:28070/ws-chat/info?token=eyJn0=&amp;roomId=roomid&amp;t=17690 (stomp)     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ws://localhost:28070/ws-chat/641/fwznlidm/websocket?token=e&amp;roomId=rfa1 (websocke)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1CB403-7876-FD98-E8D6-573D4DF1B5EC}"/>
                </a:ext>
              </a:extLst>
            </p:cNvPr>
            <p:cNvSpPr txBox="1"/>
            <p:nvPr/>
          </p:nvSpPr>
          <p:spPr>
            <a:xfrm>
              <a:off x="6961060" y="-19214"/>
              <a:ext cx="62581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1 ]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80" name="연결선: 구부러짐 79">
            <a:extLst>
              <a:ext uri="{FF2B5EF4-FFF2-40B4-BE49-F238E27FC236}">
                <a16:creationId xmlns:a16="http://schemas.microsoft.com/office/drawing/2014/main" id="{1633DF1E-A6DA-1C1A-EFA7-4ADE034C25AF}"/>
              </a:ext>
            </a:extLst>
          </p:cNvPr>
          <p:cNvCxnSpPr>
            <a:cxnSpLocks/>
            <a:stCxn id="70" idx="1"/>
            <a:endCxn id="61" idx="6"/>
          </p:cNvCxnSpPr>
          <p:nvPr/>
        </p:nvCxnSpPr>
        <p:spPr>
          <a:xfrm rot="10800000" flipV="1">
            <a:off x="8186125" y="1234582"/>
            <a:ext cx="1166783" cy="99961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순서도: 자기 디스크 86">
            <a:extLst>
              <a:ext uri="{FF2B5EF4-FFF2-40B4-BE49-F238E27FC236}">
                <a16:creationId xmlns:a16="http://schemas.microsoft.com/office/drawing/2014/main" id="{7A56F87E-0619-F265-39FA-8183ED13B9F6}"/>
              </a:ext>
            </a:extLst>
          </p:cNvPr>
          <p:cNvSpPr/>
          <p:nvPr/>
        </p:nvSpPr>
        <p:spPr>
          <a:xfrm>
            <a:off x="6262688" y="3984237"/>
            <a:ext cx="674450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PostgreSQL</a:t>
            </a:r>
          </a:p>
          <a:p>
            <a:pPr algn="ctr"/>
            <a:r>
              <a:rPr lang="ko-KR" altLang="en-US" sz="700">
                <a:solidFill>
                  <a:schemeClr val="tx1"/>
                </a:solidFill>
              </a:rPr>
              <a:t>이력</a:t>
            </a:r>
          </a:p>
        </p:txBody>
      </p:sp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7432453E-F238-2886-5B8E-3E7E0F1FD8E1}"/>
              </a:ext>
            </a:extLst>
          </p:cNvPr>
          <p:cNvSpPr/>
          <p:nvPr/>
        </p:nvSpPr>
        <p:spPr>
          <a:xfrm>
            <a:off x="8508306" y="1965389"/>
            <a:ext cx="191046" cy="191046"/>
          </a:xfrm>
          <a:prstGeom prst="flowChartSummingJunction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78BF1E52-FB04-1656-3E7F-AC3319A70351}"/>
              </a:ext>
            </a:extLst>
          </p:cNvPr>
          <p:cNvSpPr/>
          <p:nvPr/>
        </p:nvSpPr>
        <p:spPr>
          <a:xfrm>
            <a:off x="8132124" y="1891962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61C324F6-FFEB-318A-AF06-B61D61471BBE}"/>
              </a:ext>
            </a:extLst>
          </p:cNvPr>
          <p:cNvSpPr/>
          <p:nvPr/>
        </p:nvSpPr>
        <p:spPr>
          <a:xfrm>
            <a:off x="8132124" y="22071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연결선: 구부러짐 68">
            <a:extLst>
              <a:ext uri="{FF2B5EF4-FFF2-40B4-BE49-F238E27FC236}">
                <a16:creationId xmlns:a16="http://schemas.microsoft.com/office/drawing/2014/main" id="{1153B948-579F-4DCC-6F53-5331FAF25B5E}"/>
              </a:ext>
            </a:extLst>
          </p:cNvPr>
          <p:cNvCxnSpPr>
            <a:cxnSpLocks/>
            <a:endCxn id="58" idx="6"/>
          </p:cNvCxnSpPr>
          <p:nvPr/>
        </p:nvCxnSpPr>
        <p:spPr>
          <a:xfrm rot="5400000">
            <a:off x="8167399" y="502690"/>
            <a:ext cx="1434997" cy="139754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7E0F623-AC20-FCE6-E5C1-A318E83C1EC3}"/>
              </a:ext>
            </a:extLst>
          </p:cNvPr>
          <p:cNvSpPr/>
          <p:nvPr/>
        </p:nvSpPr>
        <p:spPr>
          <a:xfrm>
            <a:off x="8374833" y="942670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3BE02E9-AFD7-1FE6-E3B2-3520E9827EFE}"/>
              </a:ext>
            </a:extLst>
          </p:cNvPr>
          <p:cNvSpPr/>
          <p:nvPr/>
        </p:nvSpPr>
        <p:spPr>
          <a:xfrm>
            <a:off x="8903470" y="1579277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C39B318-C952-D4F7-E1AA-DBF98DF9AA2E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6628172" y="2209402"/>
            <a:ext cx="332889" cy="1778881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3696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3438595" y="1806474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2760570" y="4693335"/>
            <a:ext cx="609600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9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900">
                <a:effectLst/>
                <a:latin typeface="fkGroteskNeue"/>
              </a:rPr>
              <a:t>웹소켓 연결 시 </a:t>
            </a:r>
            <a:r>
              <a:rPr lang="en-US" altLang="ko-KR" sz="900">
                <a:effectLst/>
                <a:latin typeface="fkGroteskNeue"/>
              </a:rPr>
              <a:t>Access Token</a:t>
            </a:r>
            <a:r>
              <a:rPr lang="ko-KR" altLang="en-US" sz="900">
                <a:effectLst/>
                <a:latin typeface="fkGroteskNeue"/>
              </a:rPr>
              <a:t>을 쿼리 파라미터나 헤더로 전달하고</a:t>
            </a:r>
            <a:r>
              <a:rPr lang="en-US" altLang="ko-KR" sz="900">
                <a:effectLst/>
                <a:latin typeface="fkGroteskNeue"/>
              </a:rPr>
              <a:t>, </a:t>
            </a:r>
            <a:r>
              <a:rPr lang="ko-KR" altLang="en-US" sz="900">
                <a:effectLst/>
                <a:latin typeface="fkGroteskNeue"/>
              </a:rPr>
              <a:t>만료 시 클라이언트가 </a:t>
            </a:r>
            <a:r>
              <a:rPr lang="en-US" altLang="ko-KR" sz="900">
                <a:effectLst/>
                <a:latin typeface="fkGroteskNeue"/>
              </a:rPr>
              <a:t>Refresh Token</a:t>
            </a:r>
            <a:r>
              <a:rPr lang="ko-KR" altLang="en-US" sz="900">
                <a:effectLst/>
                <a:latin typeface="fkGroteskNeue"/>
              </a:rPr>
              <a:t>으로 재발급 요청을 보냅니다</a:t>
            </a:r>
            <a:r>
              <a:rPr lang="en-US" altLang="ko-KR" sz="900">
                <a:effectLst/>
                <a:latin typeface="fkGroteskNeue"/>
              </a:rPr>
              <a:t>.​</a:t>
            </a:r>
            <a:br>
              <a:rPr lang="en-US" altLang="ko-KR" sz="900">
                <a:effectLst/>
                <a:latin typeface="fkGroteskNeue"/>
              </a:rPr>
            </a:br>
            <a:r>
              <a:rPr lang="ko-KR" altLang="en-US" sz="9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900">
                <a:effectLst/>
                <a:latin typeface="fkGroteskNeue"/>
              </a:rPr>
              <a:t>, Refresh API(/refresh)</a:t>
            </a:r>
            <a:r>
              <a:rPr lang="ko-KR" altLang="en-US" sz="9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900">
                <a:effectLst/>
                <a:latin typeface="fkGroteskNeue"/>
              </a:rPr>
              <a:t>.​</a:t>
            </a:r>
            <a:br>
              <a:rPr lang="en-US" altLang="ko-KR" sz="900">
                <a:effectLst/>
                <a:latin typeface="fkGroteskNeue"/>
              </a:rPr>
            </a:br>
            <a:r>
              <a:rPr lang="en-US" altLang="ko-KR" sz="900">
                <a:effectLst/>
                <a:latin typeface="fkGroteskNeue"/>
              </a:rPr>
              <a:t>Redis</a:t>
            </a:r>
            <a:r>
              <a:rPr lang="ko-KR" altLang="en-US" sz="900">
                <a:effectLst/>
                <a:latin typeface="fkGroteskNeue"/>
              </a:rPr>
              <a:t>에 </a:t>
            </a:r>
            <a:r>
              <a:rPr lang="en-US" altLang="ko-KR" sz="900">
                <a:effectLst/>
                <a:latin typeface="fkGroteskNeue"/>
              </a:rPr>
              <a:t>Refresh Token</a:t>
            </a:r>
            <a:r>
              <a:rPr lang="ko-KR" altLang="en-US" sz="9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9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9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900" b="0" i="0">
                <a:effectLst/>
                <a:latin typeface="fkGroteskNeue"/>
              </a:rPr>
              <a:t>Refresh Token </a:t>
            </a:r>
            <a:r>
              <a:rPr lang="ko-KR" altLang="en-US" sz="900" b="0" i="0">
                <a:effectLst/>
                <a:latin typeface="fkGroteskNeue"/>
              </a:rPr>
              <a:t>블랙리스트</a:t>
            </a:r>
            <a:r>
              <a:rPr lang="en-US" altLang="ko-KR" sz="900" b="0" i="0">
                <a:effectLst/>
                <a:latin typeface="fkGroteskNeue"/>
              </a:rPr>
              <a:t>(Redis SETEX </a:t>
            </a:r>
            <a:r>
              <a:rPr lang="ko-KR" altLang="en-US" sz="900" b="0" i="0">
                <a:effectLst/>
                <a:latin typeface="fkGroteskNeue"/>
              </a:rPr>
              <a:t>사용</a:t>
            </a:r>
            <a:r>
              <a:rPr lang="en-US" altLang="ko-KR" sz="900" b="0" i="0">
                <a:effectLst/>
                <a:latin typeface="fkGroteskNeue"/>
              </a:rPr>
              <a:t>)</a:t>
            </a:r>
            <a:r>
              <a:rPr lang="ko-KR" altLang="en-US" sz="900" b="0" i="0">
                <a:effectLst/>
                <a:latin typeface="fkGroteskNeue"/>
              </a:rPr>
              <a:t>로 로그아웃 시 무효화하세요</a:t>
            </a:r>
            <a:r>
              <a:rPr lang="en-US" altLang="ko-KR" sz="900" b="0" i="0">
                <a:effectLst/>
                <a:latin typeface="fkGroteskNeue"/>
              </a:rPr>
              <a:t>.</a:t>
            </a:r>
            <a:br>
              <a:rPr lang="ko-KR" altLang="en-US" sz="900">
                <a:effectLst/>
                <a:latin typeface="fkGroteskNeue"/>
              </a:rPr>
            </a:br>
            <a:r>
              <a:rPr lang="ko-KR" altLang="en-US" sz="900" b="0" i="0">
                <a:effectLst/>
                <a:latin typeface="fkGroteskNeue"/>
              </a:rPr>
              <a:t>고객 정보는 </a:t>
            </a:r>
            <a:r>
              <a:rPr lang="en-US" altLang="ko-KR" sz="900" b="0" i="0">
                <a:effectLst/>
                <a:latin typeface="fkGroteskNeue"/>
              </a:rPr>
              <a:t>Access Token</a:t>
            </a:r>
            <a:r>
              <a:rPr lang="ko-KR" altLang="en-US" sz="900" b="0" i="0">
                <a:effectLst/>
                <a:latin typeface="fkGroteskNeue"/>
              </a:rPr>
              <a:t>에 최소화하고</a:t>
            </a:r>
            <a:r>
              <a:rPr lang="en-US" altLang="ko-KR" sz="900" b="0" i="0">
                <a:effectLst/>
                <a:latin typeface="fkGroteskNeue"/>
              </a:rPr>
              <a:t>, </a:t>
            </a:r>
            <a:r>
              <a:rPr lang="ko-KR" altLang="en-US" sz="900" b="0" i="0">
                <a:effectLst/>
                <a:latin typeface="fkGroteskNeue"/>
              </a:rPr>
              <a:t>필요 시 서버 </a:t>
            </a:r>
            <a:r>
              <a:rPr lang="en-US" altLang="ko-KR" sz="900" b="0" i="0">
                <a:effectLst/>
                <a:latin typeface="fkGroteskNeue"/>
              </a:rPr>
              <a:t>DB </a:t>
            </a:r>
            <a:r>
              <a:rPr lang="ko-KR" altLang="en-US" sz="900" b="0" i="0">
                <a:effectLst/>
                <a:latin typeface="fkGroteskNeue"/>
              </a:rPr>
              <a:t>조회로 보완합니다</a:t>
            </a:r>
            <a:r>
              <a:rPr lang="en-US" altLang="ko-KR" sz="900" b="0" i="0">
                <a:effectLst/>
                <a:latin typeface="fkGroteskNeue"/>
              </a:rPr>
              <a:t>.​</a:t>
            </a:r>
            <a:br>
              <a:rPr lang="ko-KR" altLang="en-US" sz="900">
                <a:effectLst/>
                <a:latin typeface="fkGroteskNeue"/>
              </a:rPr>
            </a:br>
            <a:r>
              <a:rPr lang="ko-KR" altLang="en-US" sz="900" b="0" i="0">
                <a:effectLst/>
                <a:latin typeface="fkGroteskNeue"/>
              </a:rPr>
              <a:t>클라이언트에서는 </a:t>
            </a:r>
            <a:r>
              <a:rPr lang="en-US" altLang="ko-KR" sz="900" b="0" i="0">
                <a:effectLst/>
                <a:latin typeface="fkGroteskNeue"/>
              </a:rPr>
              <a:t>localStorage </a:t>
            </a:r>
            <a:r>
              <a:rPr lang="ko-KR" altLang="en-US" sz="900" b="0" i="0">
                <a:effectLst/>
                <a:latin typeface="fkGroteskNeue"/>
              </a:rPr>
              <a:t>대신 </a:t>
            </a:r>
            <a:r>
              <a:rPr lang="en-US" altLang="ko-KR" sz="900" b="0" i="0">
                <a:effectLst/>
                <a:latin typeface="fkGroteskNeue"/>
              </a:rPr>
              <a:t>httpOnly </a:t>
            </a:r>
            <a:r>
              <a:rPr lang="ko-KR" altLang="en-US" sz="900" b="0" i="0">
                <a:effectLst/>
                <a:latin typeface="fkGroteskNeue"/>
              </a:rPr>
              <a:t>쿠키를 활용해 </a:t>
            </a:r>
            <a:r>
              <a:rPr lang="en-US" altLang="ko-KR" sz="900" b="0" i="0">
                <a:effectLst/>
                <a:latin typeface="fkGroteskNeue"/>
              </a:rPr>
              <a:t>XSS </a:t>
            </a:r>
            <a:r>
              <a:rPr lang="ko-KR" altLang="en-US" sz="900" b="0" i="0">
                <a:effectLst/>
                <a:latin typeface="fkGroteskNeue"/>
              </a:rPr>
              <a:t>공격을 방지하세요</a:t>
            </a:r>
            <a:r>
              <a:rPr lang="en-US" altLang="ko-KR" sz="900" b="0" i="0">
                <a:effectLst/>
                <a:latin typeface="fkGroteskNeue"/>
              </a:rPr>
              <a:t>.</a:t>
            </a:r>
            <a:br>
              <a:rPr lang="en-US" altLang="ko-KR" sz="900" b="0" i="0">
                <a:effectLst/>
                <a:latin typeface="fkGroteskNeue"/>
              </a:rPr>
            </a:br>
            <a:endParaRPr lang="ko-KR" altLang="en-US" sz="9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015E84-83A1-E036-3CEC-8B7F3AAD9AF5}"/>
              </a:ext>
            </a:extLst>
          </p:cNvPr>
          <p:cNvSpPr txBox="1"/>
          <p:nvPr/>
        </p:nvSpPr>
        <p:spPr>
          <a:xfrm>
            <a:off x="47625" y="44450"/>
            <a:ext cx="2047875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en-US" altLang="ko-KR" sz="800">
                <a:latin typeface="fkGroteskNeue"/>
              </a:rPr>
              <a:t>Access / Refresh Token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D2FD12E-DEDD-01DE-918A-5989FBDB83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551811"/>
              </p:ext>
            </p:extLst>
          </p:nvPr>
        </p:nvGraphicFramePr>
        <p:xfrm>
          <a:off x="300301" y="562092"/>
          <a:ext cx="5763615" cy="125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05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294250">
                  <a:extLst>
                    <a:ext uri="{9D8B030D-6E8A-4147-A177-3AD203B41FA5}">
                      <a16:colId xmlns:a16="http://schemas.microsoft.com/office/drawing/2014/main" val="2261654565"/>
                    </a:ext>
                  </a:extLst>
                </a:gridCol>
                <a:gridCol w="12277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805550">
                  <a:extLst>
                    <a:ext uri="{9D8B030D-6E8A-4147-A177-3AD203B41FA5}">
                      <a16:colId xmlns:a16="http://schemas.microsoft.com/office/drawing/2014/main" val="2394182754"/>
                    </a:ext>
                  </a:extLst>
                </a:gridCol>
                <a:gridCol w="1964065">
                  <a:extLst>
                    <a:ext uri="{9D8B030D-6E8A-4147-A177-3AD203B41FA5}">
                      <a16:colId xmlns:a16="http://schemas.microsoft.com/office/drawing/2014/main" val="33299952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용도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destination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Controller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@MessageMapping("/customer/chat")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566453"/>
                  </a:ext>
                </a:extLst>
              </a:tr>
              <a:tr h="103124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/topic/agent-availability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모든 고객에게 보내는 알림 내용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/app/agent/chat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@MessageMapping("/agent/chat")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방 목록을 상담사에게 브로드캐스트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5840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007BC6E-B31A-3385-9EFE-4C52CFC158CE}"/>
              </a:ext>
            </a:extLst>
          </p:cNvPr>
          <p:cNvSpPr txBox="1"/>
          <p:nvPr/>
        </p:nvSpPr>
        <p:spPr>
          <a:xfrm>
            <a:off x="1030" y="0"/>
            <a:ext cx="6094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상담사 및 고객의 Pub/Sub</a:t>
            </a:r>
          </a:p>
        </p:txBody>
      </p:sp>
    </p:spTree>
    <p:extLst>
      <p:ext uri="{BB962C8B-B14F-4D97-AF65-F5344CB8AC3E}">
        <p14:creationId xmlns:p14="http://schemas.microsoft.com/office/powerpoint/2010/main" val="2786830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8494844"/>
              </p:ext>
            </p:extLst>
          </p:nvPr>
        </p:nvGraphicFramePr>
        <p:xfrm>
          <a:off x="45296" y="34080"/>
          <a:ext cx="9874607" cy="464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60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383150">
                  <a:extLst>
                    <a:ext uri="{9D8B030D-6E8A-4147-A177-3AD203B41FA5}">
                      <a16:colId xmlns:a16="http://schemas.microsoft.com/office/drawing/2014/main" val="1221839679"/>
                    </a:ext>
                  </a:extLst>
                </a:gridCol>
                <a:gridCol w="26501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299578614"/>
                    </a:ext>
                  </a:extLst>
                </a:gridCol>
                <a:gridCol w="294250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436686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3388321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api &gt; http://{HOST}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/{companyId}/login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로그인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특정회사 고객의 로그인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회사 지정 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). token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등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89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ChatCustomerController.java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로그아웃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로그아웃 처리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AUTH_TOKEN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은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UI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제거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3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이전 채팅 연결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챗봇 상담방을 생성하고 세션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/chat-end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상담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○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챗본 상담방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34369"/>
                  </a:ext>
                </a:extLst>
              </a:tr>
              <a:tr h="1021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/chat-lastinfo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최종 상담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마지막 채팅 정보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이전 연결 끊김 대응용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815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X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상담원 연결 가능하게 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ChatAgentController.java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정보 확인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헤더의 토큰을 검증해 현재 상담원 정보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(UserInfo)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30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ㅇ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고객대기 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모두 대기 끝나면 상담원연결 불가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874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(ChatRoom)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목록을 반환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고객들의 방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8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DELETE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상담 종료 또는 종료 방 삭제 처리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3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/rooms/{roomId}/assign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개입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상담원을 방에 배정하고 상태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이력을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연결 가능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상담사연결 가능상태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브로드캐스로 먼저 알림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{ "onlineAgentCount":2 }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8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-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596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/status/{status}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062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/heartbeat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하드비트 전송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HeartBeat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전송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875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schedular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관리시스템용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상담방정리 스케줄러 시작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 정리 스케쥴러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/api/cleanup/scheduler/stop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상담방정리 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상담방정리 스케쥴러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현재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8337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 (HANDOFF)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상담사 연결 요청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996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 (CANCEL_HANDOFF)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상담사 연결 요청 취소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075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/app/agent/chat (TALK)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메시지 전송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2069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 (TALK)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메시지 전송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82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/ws-chat/info?token=&amp;t=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 연결 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WebSocket over 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510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Socket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ws://{HOST}/ws-chat/424/ksjqtp0s/websocket?token=&amp;roomId=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 연결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6293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150058-CDC8-F4FC-F0AD-8B4393CCDF35}"/>
              </a:ext>
            </a:extLst>
          </p:cNvPr>
          <p:cNvSpPr txBox="1"/>
          <p:nvPr/>
        </p:nvSpPr>
        <p:spPr>
          <a:xfrm>
            <a:off x="8919135" y="5558143"/>
            <a:ext cx="3165056" cy="1169551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# 동적 값 설정하여 시작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http://localhost:28070/api/cleanup/scheduler/start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-H "Content-Type: application/json"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-d ‘{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"idleTimeout": 300000,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"checkInterval": 30000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}’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GET http://localhost:28070/api/cleanup/scheduler/status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5B467E-C705-D7FF-7CD4-61CA62A54B68}"/>
              </a:ext>
            </a:extLst>
          </p:cNvPr>
          <p:cNvSpPr txBox="1"/>
          <p:nvPr/>
        </p:nvSpPr>
        <p:spPr>
          <a:xfrm>
            <a:off x="10886704" y="1978171"/>
            <a:ext cx="1260000" cy="9360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/api/customer/chat-start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{ "roomId": "room-5f941d8e",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"roomName": "cust01",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"members": [],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"status": "BOT",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"assignedAgent": null,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"createdAt":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"lastActivityAt":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"custId": null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D8843-FAB7-CC0E-850D-F83625DFE0C9}"/>
              </a:ext>
            </a:extLst>
          </p:cNvPr>
          <p:cNvSpPr txBox="1"/>
          <p:nvPr/>
        </p:nvSpPr>
        <p:spPr>
          <a:xfrm>
            <a:off x="10886704" y="1061239"/>
            <a:ext cx="1260000" cy="86177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/api/agent/me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 "userId": "agent01",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"userName":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상담원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-01",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"role": "AGENT",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"email": "agent01@aicc.com",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"token": "eyJ1c2 . . fQ==",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"companyId": "apt001"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  <a:endParaRPr lang="ko-KR" altLang="en-US" sz="5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69EC0-5262-BF29-0174-E9608490D91B}"/>
              </a:ext>
            </a:extLst>
          </p:cNvPr>
          <p:cNvSpPr txBox="1"/>
          <p:nvPr/>
        </p:nvSpPr>
        <p:spPr>
          <a:xfrm>
            <a:off x="45296" y="4736750"/>
            <a:ext cx="3621829" cy="846386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/api/customer              &gt;&gt;&gt; ChatCustomerController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/{companyId}/login     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회사별 고객 로그인 처리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P /chat-start            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상담 시작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P /chat-end              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상담 종료</a:t>
            </a:r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nn-NO" altLang="ko-KR" sz="700">
                <a:highlight>
                  <a:srgbClr val="00FFFF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P /logout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로그아웃 처리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/app/customer/chat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 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/chat-lastinfo         </a:t>
            </a:r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최종 상담 정보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/customer/chat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곡객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5DFE7-A7BF-E99C-5983-C3DFF8E13916}"/>
              </a:ext>
            </a:extLst>
          </p:cNvPr>
          <p:cNvSpPr txBox="1"/>
          <p:nvPr/>
        </p:nvSpPr>
        <p:spPr>
          <a:xfrm>
            <a:off x="10886704" y="34080"/>
            <a:ext cx="1260000" cy="97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"room-8b6d2569",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배송문의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"members": [],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"status": "BOT",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"assignedAgent":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"createdAt":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"lastActivityAt":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"custId": null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A1657A-13DB-63CF-F853-16E27966BDA8}"/>
              </a:ext>
            </a:extLst>
          </p:cNvPr>
          <p:cNvSpPr txBox="1"/>
          <p:nvPr/>
        </p:nvSpPr>
        <p:spPr>
          <a:xfrm>
            <a:off x="3700877" y="4736750"/>
            <a:ext cx="4824000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/api/agent                 &gt;&gt;&gt; ChatAgentController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상담원 로그인 요청을 인증 서비스로 전달하고 토큰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프로필 반환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/me           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Authorization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헤더의 토큰을 검증해 현재 상담원 정보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/logout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로그아웃 처리 및 고객에게 알림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/rooms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상담사에게 전체 상담방 목록을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G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상담방 상세 정보를 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D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 종료 또는 종료 방 삭제 처리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/rooms/{roomId}/assign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상담사를 방에 배정하고 상태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이력을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/availability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가용성 확인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로그인한 상담사가 있고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미만의 상담을 하고 있는지 확인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/agent/chat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채팅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/api/session               &gt;&gt;&gt; WebSocketSessionController.java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/all 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/{sessionId}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사용자 정보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/user/{userId}/online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 온라인 상태확인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P /{sessionId}/refresh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TTL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갱신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하트비트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/stats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세션통계조회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248D6C-8E73-46DF-8023-D10C9AE97DF0}"/>
              </a:ext>
            </a:extLst>
          </p:cNvPr>
          <p:cNvSpPr txBox="1"/>
          <p:nvPr/>
        </p:nvSpPr>
        <p:spPr>
          <a:xfrm>
            <a:off x="8627629" y="4721049"/>
            <a:ext cx="3165056" cy="52322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/api/cleanup/schedular     &gt;&gt;&gt; RoomCleanupController.java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/start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시작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/stop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중지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/status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현재 상태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1695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079959-FFA1-FDD1-74D1-9DB5151D55AB}"/>
              </a:ext>
            </a:extLst>
          </p:cNvPr>
          <p:cNvSpPr txBox="1"/>
          <p:nvPr/>
        </p:nvSpPr>
        <p:spPr>
          <a:xfrm>
            <a:off x="331909" y="296725"/>
            <a:ext cx="609746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고객의 상담사 연결 요청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BF1106-3E91-89F9-F8EF-E13228AE9FED}"/>
              </a:ext>
            </a:extLst>
          </p:cNvPr>
          <p:cNvSpPr txBox="1"/>
          <p:nvPr/>
        </p:nvSpPr>
        <p:spPr>
          <a:xfrm>
            <a:off x="423129" y="859431"/>
            <a:ext cx="1130542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 연결 요청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DA1188-BD3D-F7F4-D615-FDCBBAFFD1ED}"/>
              </a:ext>
            </a:extLst>
          </p:cNvPr>
          <p:cNvSpPr txBox="1"/>
          <p:nvPr/>
        </p:nvSpPr>
        <p:spPr>
          <a:xfrm>
            <a:off x="595126" y="1140784"/>
            <a:ext cx="2042566" cy="156966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pPr algn="l"/>
            <a:r>
              <a:rPr lang="en-US" altLang="ko-KR"/>
              <a:t>function </a:t>
            </a:r>
            <a:r>
              <a:rPr lang="ko-KR" altLang="en-US"/>
              <a:t>requestHandoff</a:t>
            </a:r>
            <a:r>
              <a:rPr lang="en-US" altLang="ko-KR"/>
              <a:t>(mesg) {</a:t>
            </a: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sc.send(</a:t>
            </a: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</a:t>
            </a:r>
            <a:r>
              <a:rPr lang="en-US" altLang="ko-KR">
                <a:solidFill>
                  <a:srgbClr val="2A00FF"/>
                </a:solidFill>
              </a:rPr>
              <a:t> </a:t>
            </a:r>
            <a:r>
              <a:rPr lang="en-US" altLang="ko-KR">
                <a:solidFill>
                  <a:srgbClr val="00B050"/>
                </a:solidFill>
              </a:rPr>
              <a:t>/* STOMP endpoint destination */</a:t>
            </a:r>
            <a:endParaRPr lang="en-US" altLang="ko-KR">
              <a:solidFill>
                <a:srgbClr val="00000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 "</a:t>
            </a:r>
            <a:r>
              <a:rPr lang="en-US" altLang="ko-KR">
                <a:solidFill>
                  <a:srgbClr val="2A00FF"/>
                </a:solidFill>
              </a:rPr>
              <a:t>/app/customer/chat"</a:t>
            </a:r>
            <a:r>
              <a:rPr lang="en-US" altLang="ko-KR">
                <a:solidFill>
                  <a:srgbClr val="000000"/>
                </a:solidFill>
              </a:rPr>
              <a:t>,</a:t>
            </a:r>
          </a:p>
          <a:p>
            <a:pPr algn="l"/>
            <a:endParaRPr lang="en-US" altLang="ko-KR">
              <a:solidFill>
                <a:srgbClr val="00000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 </a:t>
            </a:r>
            <a:r>
              <a:rPr lang="en-US" altLang="ko-KR">
                <a:solidFill>
                  <a:srgbClr val="00B050"/>
                </a:solidFill>
              </a:rPr>
              <a:t>/* headers */</a:t>
            </a:r>
            <a:endParaRPr lang="en-US" altLang="ko-KR">
              <a:solidFill>
                <a:srgbClr val="00000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 {},</a:t>
            </a:r>
          </a:p>
          <a:p>
            <a:pPr algn="l"/>
            <a:endParaRPr lang="en-US" altLang="ko-KR">
              <a:solidFill>
                <a:srgbClr val="00B050"/>
              </a:solidFill>
            </a:endParaRPr>
          </a:p>
          <a:p>
            <a:pPr algn="l"/>
            <a:r>
              <a:rPr lang="en-US" altLang="ko-KR">
                <a:solidFill>
                  <a:srgbClr val="00B050"/>
                </a:solidFill>
              </a:rPr>
              <a:t>    /* body ChatMessage */</a:t>
            </a:r>
            <a:endParaRPr lang="en-US" altLang="ko-KR">
              <a:solidFill>
                <a:srgbClr val="00000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 { type: 'HANDOFF’ }</a:t>
            </a:r>
            <a:endParaRPr lang="en-US" altLang="ko-KR">
              <a:solidFill>
                <a:srgbClr val="00B05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);</a:t>
            </a:r>
            <a:endParaRPr lang="en-US" altLang="ko-KR"/>
          </a:p>
          <a:p>
            <a:pPr algn="l"/>
            <a:r>
              <a:rPr lang="en-US" altLang="ko-KR"/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B1B93F-1DE4-7823-4646-6E13BF73AB99}"/>
              </a:ext>
            </a:extLst>
          </p:cNvPr>
          <p:cNvSpPr txBox="1"/>
          <p:nvPr/>
        </p:nvSpPr>
        <p:spPr>
          <a:xfrm>
            <a:off x="4896000" y="859431"/>
            <a:ext cx="2351944" cy="33855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>
                <a:solidFill>
                  <a:srgbClr val="0070C0"/>
                </a:solidFill>
              </a:rPr>
              <a:t>@MessageMapping("/customer/chat")</a:t>
            </a:r>
          </a:p>
          <a:p>
            <a:r>
              <a:rPr lang="en-US" altLang="ko-KR"/>
              <a:t>ChatCustomerController.onCustomerMessage</a:t>
            </a:r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6C56D1-EE75-1E0E-5546-07A17B86D09C}"/>
              </a:ext>
            </a:extLst>
          </p:cNvPr>
          <p:cNvSpPr txBox="1"/>
          <p:nvPr/>
        </p:nvSpPr>
        <p:spPr>
          <a:xfrm>
            <a:off x="5040000" y="1197985"/>
            <a:ext cx="2213468" cy="21544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chatCustomerService.customerMessage</a:t>
            </a:r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4B0AF7-425E-4B48-55D2-ECED86DD4236}"/>
              </a:ext>
            </a:extLst>
          </p:cNvPr>
          <p:cNvSpPr txBox="1"/>
          <p:nvPr/>
        </p:nvSpPr>
        <p:spPr>
          <a:xfrm>
            <a:off x="5184000" y="1414212"/>
            <a:ext cx="2877283" cy="33855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da-DK" altLang="ko-KR" sz="800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routingStrategy(</a:t>
            </a:r>
            <a:r>
              <a:rPr lang="en-US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DynamicRoutingStrategy</a:t>
            </a:r>
            <a:r>
              <a:rPr lang="en-US" altLang="ko-KR" sz="80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da-DK" altLang="ko-KR" sz="8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.handleMessage</a:t>
            </a:r>
          </a:p>
          <a:p>
            <a:r>
              <a:rPr lang="da-DK" altLang="ko-KR" sz="80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da-DK" altLang="ko-KR" sz="8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da-DK" altLang="ko-KR" sz="800">
                <a:solidFill>
                  <a:srgbClr val="6A3E3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message</a:t>
            </a:r>
            <a:r>
              <a:rPr lang="da-DK" altLang="ko-KR" sz="8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.getRoomId(), </a:t>
            </a:r>
            <a:r>
              <a:rPr lang="da-DK" altLang="ko-KR" sz="800">
                <a:solidFill>
                  <a:srgbClr val="6A3E3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message</a:t>
            </a:r>
            <a:r>
              <a:rPr lang="da-DK" altLang="ko-KR" sz="8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endParaRPr lang="ko-KR" altLang="en-US" sz="8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41DE78-4B20-52C8-E5D9-8DC733D723BC}"/>
              </a:ext>
            </a:extLst>
          </p:cNvPr>
          <p:cNvSpPr txBox="1"/>
          <p:nvPr/>
        </p:nvSpPr>
        <p:spPr>
          <a:xfrm>
            <a:off x="5472000" y="2460412"/>
            <a:ext cx="5384490" cy="83099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MiChatRoutingStrategy.handleMessage(String roomId, ChatMessage message) { </a:t>
            </a:r>
            <a:r>
              <a:rPr lang="en-US" altLang="ko-KR">
                <a:solidFill>
                  <a:srgbClr val="C00000"/>
                </a:solidFill>
              </a:rPr>
              <a:t>// HANDOFF </a:t>
            </a:r>
            <a:r>
              <a:rPr lang="ko-KR" altLang="en-US">
                <a:solidFill>
                  <a:srgbClr val="C00000"/>
                </a:solidFill>
              </a:rPr>
              <a:t>일 때</a:t>
            </a:r>
            <a:endParaRPr lang="en-US" altLang="ko-KR">
              <a:solidFill>
                <a:srgbClr val="C00000"/>
              </a:solidFill>
            </a:endParaRPr>
          </a:p>
          <a:p>
            <a:endParaRPr lang="en-US" altLang="ko-KR"/>
          </a:p>
          <a:p>
            <a:r>
              <a:rPr lang="en-US" altLang="ko-KR"/>
              <a:t>    messageBroker.publish(message); </a:t>
            </a:r>
            <a:r>
              <a:rPr lang="en-US" altLang="ko-KR">
                <a:solidFill>
                  <a:srgbClr val="00B050"/>
                </a:solidFill>
              </a:rPr>
              <a:t>// redisTemplate.convertAndSend("chat.topic", message);</a:t>
            </a:r>
          </a:p>
          <a:p>
            <a:endParaRPr lang="en-US" altLang="ko-KR">
              <a:solidFill>
                <a:srgbClr val="00B050"/>
              </a:solidFill>
            </a:endParaRPr>
          </a:p>
          <a:p>
            <a:r>
              <a:rPr lang="en-US" altLang="ko-KR">
                <a:solidFill>
                  <a:srgbClr val="00B050"/>
                </a:solidFill>
              </a:rPr>
              <a:t>    </a:t>
            </a:r>
            <a:r>
              <a:rPr lang="en-US" altLang="ko-KR"/>
              <a:t>switchToAgentMode(roomId);</a:t>
            </a:r>
          </a:p>
          <a:p>
            <a:r>
              <a:rPr lang="en-US" altLang="ko-KR"/>
              <a:t>}</a:t>
            </a:r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D5C5613-D91C-CE1D-09AF-0B3282C91F58}"/>
              </a:ext>
            </a:extLst>
          </p:cNvPr>
          <p:cNvCxnSpPr>
            <a:cxnSpLocks/>
          </p:cNvCxnSpPr>
          <p:nvPr/>
        </p:nvCxnSpPr>
        <p:spPr>
          <a:xfrm>
            <a:off x="2637692" y="1305707"/>
            <a:ext cx="2071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BABB24B-8B62-9BAC-DE9C-639B858E8588}"/>
              </a:ext>
            </a:extLst>
          </p:cNvPr>
          <p:cNvSpPr txBox="1"/>
          <p:nvPr/>
        </p:nvSpPr>
        <p:spPr>
          <a:xfrm>
            <a:off x="2839623" y="1197985"/>
            <a:ext cx="978143" cy="21544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WebsocketBroker</a:t>
            </a:r>
            <a:endParaRPr lang="ko-KR" altLang="en-US"/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3A5ED12E-2A03-90D6-9138-ABBF687ED536}"/>
              </a:ext>
            </a:extLst>
          </p:cNvPr>
          <p:cNvCxnSpPr>
            <a:stCxn id="22" idx="3"/>
            <a:endCxn id="17" idx="1"/>
          </p:cNvCxnSpPr>
          <p:nvPr/>
        </p:nvCxnSpPr>
        <p:spPr>
          <a:xfrm flipV="1">
            <a:off x="3817766" y="1028708"/>
            <a:ext cx="1078234" cy="276999"/>
          </a:xfrm>
          <a:prstGeom prst="bentConnector3">
            <a:avLst/>
          </a:prstGeom>
          <a:ln w="31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CABBA08-8979-7B63-46E7-1AEB34C15CCC}"/>
              </a:ext>
            </a:extLst>
          </p:cNvPr>
          <p:cNvSpPr txBox="1"/>
          <p:nvPr/>
        </p:nvSpPr>
        <p:spPr>
          <a:xfrm>
            <a:off x="5328000" y="1752526"/>
            <a:ext cx="6133750" cy="7078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DynamicRoutingStrategy.handleMessage(String roomId, ChatMessage message) {</a:t>
            </a:r>
          </a:p>
          <a:p>
            <a:r>
              <a:rPr lang="da-DK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roomRepository.updateLastActivity(roomId); </a:t>
            </a:r>
            <a:r>
              <a:rPr lang="da-DK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8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방최종활동시간갱신</a:t>
            </a:r>
            <a:r>
              <a:rPr lang="en-US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da-DK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chat:room-info:{roomId} lastActivity</a:t>
            </a:r>
          </a:p>
          <a:p>
            <a:endParaRPr lang="da-DK" altLang="ko-KR" sz="80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miChatRoutingStrategy(</a:t>
            </a:r>
            <a:r>
              <a:rPr lang="en-US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MiChatRoutingStrategy</a:t>
            </a:r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).handleMessage(roomId, message);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endParaRPr lang="ko-KR" altLang="en-US" sz="8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30FFD8-824A-5D66-A46B-B9C2B790CB8A}"/>
              </a:ext>
            </a:extLst>
          </p:cNvPr>
          <p:cNvSpPr txBox="1"/>
          <p:nvPr/>
        </p:nvSpPr>
        <p:spPr>
          <a:xfrm>
            <a:off x="5616000" y="3290661"/>
            <a:ext cx="5579050" cy="15696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MiChatRoutingStrategy.switchToAgentMode(String roomId) {</a:t>
            </a:r>
          </a:p>
          <a:p>
            <a:endParaRPr lang="en-US" altLang="ko-KR"/>
          </a:p>
          <a:p>
            <a:r>
              <a:rPr lang="en-US" altLang="ko-KR"/>
              <a:t>    roomRepository.setRoutingMode(roomId, "WAITING"); // chat:room-info:{roomId} mode</a:t>
            </a:r>
          </a:p>
          <a:p>
            <a:r>
              <a:rPr lang="en-US" altLang="ko-KR"/>
              <a:t>    roomUpdateBroadcaster.broadcastRoomList(); // </a:t>
            </a:r>
            <a:r>
              <a:rPr lang="ko-KR" altLang="en-US"/>
              <a:t>상담원 대기 상태 알림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>
                <a:solidFill>
                  <a:srgbClr val="00B050"/>
                </a:solidFill>
              </a:rPr>
              <a:t>    </a:t>
            </a:r>
            <a:r>
              <a:rPr lang="en-US" altLang="ko-KR">
                <a:solidFill>
                  <a:srgbClr val="00B050"/>
                </a:solidFill>
              </a:rPr>
              <a:t>// </a:t>
            </a:r>
            <a:r>
              <a:rPr lang="ko-KR" altLang="en-US">
                <a:solidFill>
                  <a:srgbClr val="00B050"/>
                </a:solidFill>
              </a:rPr>
              <a:t>상담원 연결을 요청하였습니다</a:t>
            </a:r>
            <a:r>
              <a:rPr lang="en-US" altLang="ko-KR">
                <a:solidFill>
                  <a:srgbClr val="00B050"/>
                </a:solidFill>
              </a:rPr>
              <a:t>. </a:t>
            </a:r>
            <a:r>
              <a:rPr lang="ko-KR" altLang="en-US">
                <a:solidFill>
                  <a:srgbClr val="00B050"/>
                </a:solidFill>
              </a:rPr>
              <a:t>상담원이 연결될 때까지 잠시만 기다려 주세요</a:t>
            </a:r>
            <a:r>
              <a:rPr lang="en-US" altLang="ko-KR">
                <a:solidFill>
                  <a:srgbClr val="00B050"/>
                </a:solidFill>
              </a:rPr>
              <a:t>.</a:t>
            </a:r>
            <a:endParaRPr lang="en-US" altLang="ko-KR"/>
          </a:p>
          <a:p>
            <a:r>
              <a:rPr lang="en-US" altLang="ko-KR"/>
              <a:t>    messageBroker.publish(message(roomId:TALK); </a:t>
            </a:r>
            <a:r>
              <a:rPr lang="en-US" altLang="ko-KR">
                <a:solidFill>
                  <a:srgbClr val="00B050"/>
                </a:solidFill>
              </a:rPr>
              <a:t>// redisTemplate.convertAndSend("chat.topic", message);</a:t>
            </a:r>
          </a:p>
          <a:p>
            <a:r>
              <a:rPr lang="en-US" altLang="ko-KR"/>
              <a:t>}</a:t>
            </a:r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B6B6F5-E028-4C37-B262-E467147D1E92}"/>
              </a:ext>
            </a:extLst>
          </p:cNvPr>
          <p:cNvSpPr txBox="1"/>
          <p:nvPr/>
        </p:nvSpPr>
        <p:spPr>
          <a:xfrm>
            <a:off x="6071972" y="3829270"/>
            <a:ext cx="3205378" cy="58477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RoomUpdateBroadcaster.broadcastRoomList() {</a:t>
            </a:r>
          </a:p>
          <a:p>
            <a:endParaRPr lang="en-US" altLang="ko-KR"/>
          </a:p>
          <a:p>
            <a:r>
              <a:rPr lang="en-US" altLang="ko-KR"/>
              <a:t>    messagingTemplate.convertAndSend("/topic/rooms", rooms);</a:t>
            </a:r>
          </a:p>
          <a:p>
            <a:r>
              <a:rPr lang="en-US" altLang="ko-KR"/>
              <a:t>}</a:t>
            </a:r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2D4506-D7F3-0908-023E-F5D64F61A244}"/>
              </a:ext>
            </a:extLst>
          </p:cNvPr>
          <p:cNvSpPr txBox="1"/>
          <p:nvPr/>
        </p:nvSpPr>
        <p:spPr>
          <a:xfrm>
            <a:off x="5277440" y="4905740"/>
            <a:ext cx="5579050" cy="46166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Redis </a:t>
            </a:r>
            <a:r>
              <a:rPr lang="ko-KR" altLang="en-US"/>
              <a:t>고객 채팅 방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고객 채팅 방 마지막 활동 시간 기록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고객 채팅 방에 </a:t>
            </a:r>
            <a:r>
              <a:rPr lang="en-US" altLang="ko-KR"/>
              <a:t>"</a:t>
            </a:r>
            <a:r>
              <a:rPr lang="ko-KR" altLang="en-US"/>
              <a:t>상담원 연결을 요청하였습니다</a:t>
            </a:r>
            <a:r>
              <a:rPr lang="en-US" altLang="ko-KR"/>
              <a:t>." </a:t>
            </a:r>
            <a:r>
              <a:rPr lang="ko-KR" altLang="en-US"/>
              <a:t>메시지 발송</a:t>
            </a:r>
            <a:r>
              <a:rPr lang="en-US" altLang="ko-KR"/>
              <a:t>(Pub, TALK)</a:t>
            </a:r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B9EF942-5004-ABFD-0039-7086A643741C}"/>
              </a:ext>
            </a:extLst>
          </p:cNvPr>
          <p:cNvSpPr txBox="1"/>
          <p:nvPr/>
        </p:nvSpPr>
        <p:spPr>
          <a:xfrm>
            <a:off x="4896000" y="164245"/>
            <a:ext cx="3865133" cy="584775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. </a:t>
            </a:r>
            <a:r>
              <a:rPr lang="ko-KR" altLang="en-US"/>
              <a:t>고객 채팅 방 마지막 활동 시간 기록 </a:t>
            </a:r>
            <a:endParaRPr lang="en-US" altLang="ko-KR"/>
          </a:p>
          <a:p>
            <a:r>
              <a:rPr lang="en-US" altLang="ko-KR"/>
              <a:t>. Redis </a:t>
            </a:r>
            <a:r>
              <a:rPr lang="ko-KR" altLang="en-US"/>
              <a:t>고객 채팅 방 상태 변경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상담원 결 요청 알림 전체 상담사에게 전송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고객 채팅 방에 </a:t>
            </a:r>
            <a:r>
              <a:rPr lang="en-US" altLang="ko-KR"/>
              <a:t>"</a:t>
            </a:r>
            <a:r>
              <a:rPr lang="ko-KR" altLang="en-US"/>
              <a:t>상담원 연결을 요청하였습니다</a:t>
            </a:r>
            <a:r>
              <a:rPr lang="en-US" altLang="ko-KR"/>
              <a:t>." </a:t>
            </a:r>
            <a:r>
              <a:rPr lang="ko-KR" altLang="en-US"/>
              <a:t>메시지 발송</a:t>
            </a:r>
            <a:r>
              <a:rPr lang="en-US" altLang="ko-KR"/>
              <a:t>(Pub, TALK)</a:t>
            </a:r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FD80EB-7F5C-68AF-3FC1-5F286D928381}"/>
              </a:ext>
            </a:extLst>
          </p:cNvPr>
          <p:cNvSpPr txBox="1"/>
          <p:nvPr/>
        </p:nvSpPr>
        <p:spPr>
          <a:xfrm>
            <a:off x="334811" y="3128705"/>
            <a:ext cx="42199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altLang="ko-KR" sz="900" b="1">
                <a:solidFill>
                  <a:srgbClr val="7F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ko-KR" altLang="en-US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900" b="1">
                <a:solidFill>
                  <a:srgbClr val="7F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enum</a:t>
            </a:r>
            <a:r>
              <a:rPr lang="ko-KR" altLang="en-US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MessageType {</a:t>
            </a: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ENTER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TALK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LEAVE 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JOIN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입장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HANDOFF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 연결 요청 추가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CANCEL_HANDOFF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 연결 요청 취소 추가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INTERVENE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 개입 알림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CUSTOMER_DISCONNECTED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연결 해제 알림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상담원에게 전송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CUSTOMER_LEFT</a:t>
            </a:r>
            <a:r>
              <a:rPr lang="ko-KR" altLang="en-US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퇴장 알림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상담원에게 전송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FCE723-3418-321A-46A5-2A96AC64E0B0}"/>
              </a:ext>
            </a:extLst>
          </p:cNvPr>
          <p:cNvSpPr txBox="1"/>
          <p:nvPr/>
        </p:nvSpPr>
        <p:spPr>
          <a:xfrm>
            <a:off x="331909" y="573724"/>
            <a:ext cx="178264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대기중인 상담사가 존재할 때</a:t>
            </a:r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D3E1CA8-7ED0-4284-ECA1-A1C20AF49B1E}"/>
              </a:ext>
            </a:extLst>
          </p:cNvPr>
          <p:cNvSpPr txBox="1"/>
          <p:nvPr/>
        </p:nvSpPr>
        <p:spPr>
          <a:xfrm>
            <a:off x="657958" y="5112697"/>
            <a:ext cx="713642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</a:t>
            </a:r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58DEDC7-555C-CC1A-D7D2-EEE77D92703C}"/>
              </a:ext>
            </a:extLst>
          </p:cNvPr>
          <p:cNvSpPr txBox="1"/>
          <p:nvPr/>
        </p:nvSpPr>
        <p:spPr>
          <a:xfrm>
            <a:off x="657958" y="5501772"/>
            <a:ext cx="713642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고객</a:t>
            </a:r>
            <a:endParaRPr lang="ko-KR" altLang="en-US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BE4BEBC-4049-2542-F229-AB2274DAECEA}"/>
              </a:ext>
            </a:extLst>
          </p:cNvPr>
          <p:cNvCxnSpPr>
            <a:cxnSpLocks/>
          </p:cNvCxnSpPr>
          <p:nvPr/>
        </p:nvCxnSpPr>
        <p:spPr>
          <a:xfrm>
            <a:off x="2534138" y="5399775"/>
            <a:ext cx="2071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AD06B1D-260F-D9F7-0356-60F99E1847EB}"/>
              </a:ext>
            </a:extLst>
          </p:cNvPr>
          <p:cNvSpPr txBox="1"/>
          <p:nvPr/>
        </p:nvSpPr>
        <p:spPr>
          <a:xfrm>
            <a:off x="1603310" y="5292053"/>
            <a:ext cx="827274" cy="21544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ChatMessage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FDF2C0-1F6C-B460-1311-1CA88A6C1CEB}"/>
              </a:ext>
            </a:extLst>
          </p:cNvPr>
          <p:cNvSpPr txBox="1"/>
          <p:nvPr/>
        </p:nvSpPr>
        <p:spPr>
          <a:xfrm>
            <a:off x="2839623" y="5230498"/>
            <a:ext cx="1205327" cy="33855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@MessageMapping</a:t>
            </a:r>
          </a:p>
          <a:p>
            <a:r>
              <a:rPr lang="en-US" altLang="ko-KR"/>
              <a:t>ChatMessage</a:t>
            </a:r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0696B3A-B462-6C65-2090-2464E6C1DF96}"/>
              </a:ext>
            </a:extLst>
          </p:cNvPr>
          <p:cNvSpPr txBox="1"/>
          <p:nvPr/>
        </p:nvSpPr>
        <p:spPr>
          <a:xfrm>
            <a:off x="1603310" y="5808797"/>
            <a:ext cx="827274" cy="21544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ChatMessage</a:t>
            </a: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4755400F-0A2E-802F-5048-408EB539B62C}"/>
              </a:ext>
            </a:extLst>
          </p:cNvPr>
          <p:cNvCxnSpPr>
            <a:cxnSpLocks/>
          </p:cNvCxnSpPr>
          <p:nvPr/>
        </p:nvCxnSpPr>
        <p:spPr>
          <a:xfrm flipH="1">
            <a:off x="2534138" y="5916519"/>
            <a:ext cx="2359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C065DB-0914-9C63-9017-89A5CA54C621}"/>
              </a:ext>
            </a:extLst>
          </p:cNvPr>
          <p:cNvSpPr txBox="1"/>
          <p:nvPr/>
        </p:nvSpPr>
        <p:spPr>
          <a:xfrm>
            <a:off x="2839623" y="5747242"/>
            <a:ext cx="1205327" cy="33855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anchor="ctr" anchorCtr="0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ChatMessage</a:t>
            </a:r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C6CA74-7C77-F39A-857A-876F6468CE26}"/>
              </a:ext>
            </a:extLst>
          </p:cNvPr>
          <p:cNvSpPr txBox="1"/>
          <p:nvPr/>
        </p:nvSpPr>
        <p:spPr>
          <a:xfrm>
            <a:off x="1716942" y="6284276"/>
            <a:ext cx="827274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메시지</a:t>
            </a:r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4689778-5EA3-B870-B686-3A7A801DBBC9}"/>
              </a:ext>
            </a:extLst>
          </p:cNvPr>
          <p:cNvSpPr txBox="1"/>
          <p:nvPr/>
        </p:nvSpPr>
        <p:spPr>
          <a:xfrm>
            <a:off x="1716942" y="6554331"/>
            <a:ext cx="827274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 연결</a:t>
            </a:r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CE7DA1F-B39A-4EDD-7503-26C112096B3F}"/>
              </a:ext>
            </a:extLst>
          </p:cNvPr>
          <p:cNvSpPr txBox="1"/>
          <p:nvPr/>
        </p:nvSpPr>
        <p:spPr>
          <a:xfrm>
            <a:off x="2839622" y="6554331"/>
            <a:ext cx="1097377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 연결 취소</a:t>
            </a:r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B27DB5E-8FEA-204B-EF6E-5F70423FB91C}"/>
              </a:ext>
            </a:extLst>
          </p:cNvPr>
          <p:cNvSpPr txBox="1"/>
          <p:nvPr/>
        </p:nvSpPr>
        <p:spPr>
          <a:xfrm>
            <a:off x="2839622" y="6284276"/>
            <a:ext cx="1097377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 종료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394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079959-FFA1-FDD1-74D1-9DB5151D55AB}"/>
              </a:ext>
            </a:extLst>
          </p:cNvPr>
          <p:cNvSpPr txBox="1"/>
          <p:nvPr/>
        </p:nvSpPr>
        <p:spPr>
          <a:xfrm>
            <a:off x="1308100" y="44906"/>
            <a:ext cx="4787900" cy="21544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ko-KR" altLang="en-US"/>
              <a:t>상담사가 상담목록에서 고객의 방에 개입하여 고객과 채팅 수행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BF1106-3E91-89F9-F8EF-E13228AE9FED}"/>
              </a:ext>
            </a:extLst>
          </p:cNvPr>
          <p:cNvSpPr txBox="1"/>
          <p:nvPr/>
        </p:nvSpPr>
        <p:spPr>
          <a:xfrm>
            <a:off x="334963" y="476170"/>
            <a:ext cx="936625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ko-KR" altLang="en-US"/>
              <a:t>상담사 개입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DA1188-BD3D-F7F4-D615-FDCBBAFFD1ED}"/>
              </a:ext>
            </a:extLst>
          </p:cNvPr>
          <p:cNvSpPr txBox="1"/>
          <p:nvPr/>
        </p:nvSpPr>
        <p:spPr>
          <a:xfrm>
            <a:off x="334963" y="751478"/>
            <a:ext cx="1940725" cy="46166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pPr algn="l"/>
            <a:r>
              <a:rPr lang="en-US" altLang="ko-KR"/>
              <a:t>P /api/agent/rooms/{roomId}/assign</a:t>
            </a:r>
          </a:p>
          <a:p>
            <a:pPr algn="l"/>
            <a:r>
              <a:rPr lang="en-US" altLang="ko-KR"/>
              <a:t>Header Authorization</a:t>
            </a:r>
          </a:p>
          <a:p>
            <a:pPr algn="l"/>
            <a:r>
              <a:rPr lang="en-US" altLang="ko-KR"/>
              <a:t>Param  force = false | true</a:t>
            </a:r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3A5ED12E-2A03-90D6-9138-ABBF687ED536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 flipV="1">
            <a:off x="2275688" y="614293"/>
            <a:ext cx="2683421" cy="368018"/>
          </a:xfrm>
          <a:prstGeom prst="bentConnector3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057BC8A3-3C90-2888-2B34-DB02CC2C14AD}"/>
              </a:ext>
            </a:extLst>
          </p:cNvPr>
          <p:cNvGrpSpPr/>
          <p:nvPr/>
        </p:nvGrpSpPr>
        <p:grpSpPr>
          <a:xfrm>
            <a:off x="4959108" y="445016"/>
            <a:ext cx="2351945" cy="553998"/>
            <a:chOff x="4895999" y="859431"/>
            <a:chExt cx="2351945" cy="55399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56C56D1-EE75-1E0E-5546-07A17B86D09C}"/>
                </a:ext>
              </a:extLst>
            </p:cNvPr>
            <p:cNvSpPr txBox="1"/>
            <p:nvPr/>
          </p:nvSpPr>
          <p:spPr>
            <a:xfrm>
              <a:off x="4895999" y="1197985"/>
              <a:ext cx="2351943" cy="215444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>
                <a:defRPr sz="800">
                  <a:latin typeface="D2Coding" panose="020B0609020101020101" pitchFamily="49" charset="-127"/>
                  <a:ea typeface="D2Coding" panose="020B0609020101020101" pitchFamily="49" charset="-127"/>
                  <a:cs typeface="Droid Serif" panose="02020600060500020200" pitchFamily="18" charset="0"/>
                </a:defRPr>
              </a:lvl1pPr>
            </a:lstStyle>
            <a:p>
              <a:r>
                <a:rPr lang="en-US" altLang="ko-KR"/>
                <a:t>chatAgentService. assignAgent</a:t>
              </a:r>
              <a:endParaRPr lang="ko-KR" alt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1B1B93F-1DE4-7823-4646-6E13BF73AB99}"/>
                </a:ext>
              </a:extLst>
            </p:cNvPr>
            <p:cNvSpPr txBox="1"/>
            <p:nvPr/>
          </p:nvSpPr>
          <p:spPr>
            <a:xfrm>
              <a:off x="4896000" y="859431"/>
              <a:ext cx="2351944" cy="33855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>
                <a:defRPr sz="800">
                  <a:latin typeface="D2Coding" panose="020B0609020101020101" pitchFamily="49" charset="-127"/>
                  <a:ea typeface="D2Coding" panose="020B0609020101020101" pitchFamily="49" charset="-127"/>
                  <a:cs typeface="Droid Serif" panose="02020600060500020200" pitchFamily="18" charset="0"/>
                </a:defRPr>
              </a:lvl1pPr>
            </a:lstStyle>
            <a:p>
              <a:r>
                <a:rPr lang="en-US" altLang="ko-KR">
                  <a:solidFill>
                    <a:srgbClr val="0070C0"/>
                  </a:solidFill>
                </a:rPr>
                <a:t>@PostMapping("/rooms/{roomId}/assign")</a:t>
              </a:r>
            </a:p>
            <a:p>
              <a:r>
                <a:rPr lang="en-US" altLang="ko-KR" b="1"/>
                <a:t>public</a:t>
              </a:r>
              <a:r>
                <a:rPr lang="en-US" altLang="ko-KR"/>
                <a:t> ResponseEntity&lt;?&gt; assignAgent</a:t>
              </a:r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66A8CA1-FDA2-548B-1AC0-ABF4F7E74404}"/>
              </a:ext>
            </a:extLst>
          </p:cNvPr>
          <p:cNvSpPr txBox="1"/>
          <p:nvPr/>
        </p:nvSpPr>
        <p:spPr>
          <a:xfrm>
            <a:off x="5307050" y="2469190"/>
            <a:ext cx="1577900" cy="46166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assignAgent</a:t>
            </a:r>
            <a:r>
              <a:rPr lang="ko-KR" altLang="en-US"/>
              <a:t>할당</a:t>
            </a:r>
            <a:endParaRPr lang="en-US" altLang="ko-KR"/>
          </a:p>
          <a:p>
            <a:r>
              <a:rPr lang="en-US" altLang="ko-KR"/>
              <a:t>routingMode:AGENT </a:t>
            </a:r>
            <a:r>
              <a:rPr lang="ko-KR" altLang="en-US"/>
              <a:t>설정</a:t>
            </a:r>
            <a:endParaRPr lang="en-US" altLang="ko-KR"/>
          </a:p>
          <a:p>
            <a:r>
              <a:rPr lang="en-US" altLang="ko-KR"/>
              <a:t>lastActivity </a:t>
            </a:r>
            <a:r>
              <a:rPr lang="ko-KR" altLang="en-US"/>
              <a:t>설정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C375B1-0DBC-9C67-4EA7-A9424B9FB40F}"/>
              </a:ext>
            </a:extLst>
          </p:cNvPr>
          <p:cNvSpPr txBox="1"/>
          <p:nvPr/>
        </p:nvSpPr>
        <p:spPr>
          <a:xfrm>
            <a:off x="5307050" y="3080690"/>
            <a:ext cx="1577900" cy="21544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{roomId}</a:t>
            </a:r>
            <a:r>
              <a:rPr lang="ko-KR" altLang="en-US"/>
              <a:t>에 알림 메시지 발송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D32489-9C36-CFCF-1FAB-51A523FD2D12}"/>
              </a:ext>
            </a:extLst>
          </p:cNvPr>
          <p:cNvSpPr txBox="1"/>
          <p:nvPr/>
        </p:nvSpPr>
        <p:spPr>
          <a:xfrm>
            <a:off x="5307050" y="3541621"/>
            <a:ext cx="1577900" cy="33855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room </a:t>
            </a:r>
            <a:r>
              <a:rPr lang="ko-KR" altLang="en-US"/>
              <a:t>상태 변경 </a:t>
            </a:r>
            <a:r>
              <a:rPr lang="en-US" altLang="ko-KR"/>
              <a:t>broadcast</a:t>
            </a:r>
          </a:p>
          <a:p>
            <a:r>
              <a:rPr lang="en-US" altLang="ko-KR"/>
              <a:t>[/topic/rooms] </a:t>
            </a:r>
            <a:r>
              <a:rPr lang="ko-KR" altLang="en-US">
                <a:solidFill>
                  <a:srgbClr val="FF0000"/>
                </a:solidFill>
              </a:rPr>
              <a:t>변경알림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B5952A0B-8042-E194-BBF4-1311E56BC1C6}"/>
              </a:ext>
            </a:extLst>
          </p:cNvPr>
          <p:cNvCxnSpPr>
            <a:cxnSpLocks/>
          </p:cNvCxnSpPr>
          <p:nvPr/>
        </p:nvCxnSpPr>
        <p:spPr>
          <a:xfrm>
            <a:off x="6059355" y="999014"/>
            <a:ext cx="0" cy="1470176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2E8106F-BB43-A6B9-E5E9-4B490C8492EF}"/>
              </a:ext>
            </a:extLst>
          </p:cNvPr>
          <p:cNvSpPr txBox="1"/>
          <p:nvPr/>
        </p:nvSpPr>
        <p:spPr>
          <a:xfrm>
            <a:off x="6063079" y="2178456"/>
            <a:ext cx="301368" cy="215444"/>
          </a:xfrm>
          <a:prstGeom prst="rect">
            <a:avLst/>
          </a:prstGeom>
          <a:noFill/>
          <a:ln w="3175">
            <a:noFill/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No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940CA1B-53A3-C585-7189-8B2C5D963A82}"/>
              </a:ext>
            </a:extLst>
          </p:cNvPr>
          <p:cNvGrpSpPr/>
          <p:nvPr/>
        </p:nvGrpSpPr>
        <p:grpSpPr>
          <a:xfrm>
            <a:off x="5159970" y="1625206"/>
            <a:ext cx="1806218" cy="561713"/>
            <a:chOff x="9604326" y="1305707"/>
            <a:chExt cx="1806218" cy="561713"/>
          </a:xfrm>
        </p:grpSpPr>
        <p:sp>
          <p:nvSpPr>
            <p:cNvPr id="9" name="다이아몬드 8">
              <a:extLst>
                <a:ext uri="{FF2B5EF4-FFF2-40B4-BE49-F238E27FC236}">
                  <a16:creationId xmlns:a16="http://schemas.microsoft.com/office/drawing/2014/main" id="{AA0BC620-91A6-992B-D564-B3BE676D703D}"/>
                </a:ext>
              </a:extLst>
            </p:cNvPr>
            <p:cNvSpPr/>
            <p:nvPr/>
          </p:nvSpPr>
          <p:spPr>
            <a:xfrm>
              <a:off x="9604326" y="1305707"/>
              <a:ext cx="1806218" cy="561713"/>
            </a:xfrm>
            <a:prstGeom prst="diamond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noAutofit/>
            </a:bodyPr>
            <a:lstStyle/>
            <a:p>
              <a:endPara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9B38B5-5910-A30F-5842-0D6C94141B23}"/>
                </a:ext>
              </a:extLst>
            </p:cNvPr>
            <p:cNvSpPr txBox="1"/>
            <p:nvPr/>
          </p:nvSpPr>
          <p:spPr>
            <a:xfrm>
              <a:off x="9837720" y="1413429"/>
              <a:ext cx="1339431" cy="338554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>
                <a:defRPr sz="800">
                  <a:latin typeface="D2Coding" panose="020B0609020101020101" pitchFamily="49" charset="-127"/>
                  <a:ea typeface="D2Coding" panose="020B0609020101020101" pitchFamily="49" charset="-127"/>
                  <a:cs typeface="Droid Serif" panose="02020600060500020200" pitchFamily="18" charset="0"/>
                </a:defRPr>
              </a:lvl1pPr>
            </a:lstStyle>
            <a:p>
              <a:r>
                <a:rPr lang="en-US" altLang="ko-KR"/>
                <a:t>chat:room-info:{roomId}</a:t>
              </a:r>
            </a:p>
            <a:p>
              <a:r>
                <a:rPr lang="en-US" altLang="ko-KR"/>
                <a:t>assignedAgent {agentId}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759DA9C-53D2-AE0A-2AF5-40A8B44397C7}"/>
              </a:ext>
            </a:extLst>
          </p:cNvPr>
          <p:cNvSpPr txBox="1"/>
          <p:nvPr/>
        </p:nvSpPr>
        <p:spPr>
          <a:xfrm>
            <a:off x="3196900" y="3829826"/>
            <a:ext cx="1577900" cy="21544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HttpStatus.OK </a:t>
            </a:r>
            <a:r>
              <a:rPr lang="ko-KR" altLang="en-US"/>
              <a:t>반환</a:t>
            </a:r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2325FA-A9F5-85A4-962F-1DAB67E55788}"/>
              </a:ext>
            </a:extLst>
          </p:cNvPr>
          <p:cNvSpPr txBox="1"/>
          <p:nvPr/>
        </p:nvSpPr>
        <p:spPr>
          <a:xfrm>
            <a:off x="47625" y="44450"/>
            <a:ext cx="1223963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 개입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35CA9D-FDA5-956C-24F1-41C475F0B37C}"/>
              </a:ext>
            </a:extLst>
          </p:cNvPr>
          <p:cNvSpPr txBox="1"/>
          <p:nvPr/>
        </p:nvSpPr>
        <p:spPr>
          <a:xfrm>
            <a:off x="7622124" y="2855664"/>
            <a:ext cx="1334203" cy="46166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>
                <a:solidFill>
                  <a:srgbClr val="00B050"/>
                </a:solidFill>
              </a:rPr>
              <a:t>  NAME &gt; CHAT</a:t>
            </a:r>
          </a:p>
          <a:p>
            <a:r>
              <a:rPr lang="ko-KR" altLang="en-US">
                <a:solidFill>
                  <a:srgbClr val="00B050"/>
                </a:solidFill>
              </a:rPr>
              <a:t> 채널  </a:t>
            </a:r>
            <a:r>
              <a:rPr lang="en-US" altLang="ko-KR">
                <a:solidFill>
                  <a:srgbClr val="00B050"/>
                </a:solidFill>
              </a:rPr>
              <a:t>&gt; chat.topic</a:t>
            </a:r>
          </a:p>
          <a:p>
            <a:r>
              <a:rPr lang="ko-KR" altLang="en-US">
                <a:solidFill>
                  <a:srgbClr val="00B050"/>
                </a:solidFill>
              </a:rPr>
              <a:t>메시지 </a:t>
            </a:r>
            <a:r>
              <a:rPr lang="en-US" altLang="ko-KR">
                <a:solidFill>
                  <a:srgbClr val="00B050"/>
                </a:solidFill>
              </a:rPr>
              <a:t>&gt; chatMessage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581BFB-3BAA-0EDC-9D1B-6B2320FFD713}"/>
              </a:ext>
            </a:extLst>
          </p:cNvPr>
          <p:cNvSpPr txBox="1"/>
          <p:nvPr/>
        </p:nvSpPr>
        <p:spPr>
          <a:xfrm>
            <a:off x="9312979" y="2194165"/>
            <a:ext cx="2492739" cy="33855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>
                <a:solidFill>
                  <a:srgbClr val="00B050"/>
                </a:solidFill>
              </a:rPr>
              <a:t>MessageListenerAdapter</a:t>
            </a:r>
          </a:p>
          <a:p>
            <a:r>
              <a:rPr lang="ko-KR" altLang="en-US">
                <a:solidFill>
                  <a:srgbClr val="00B050"/>
                </a:solidFill>
              </a:rPr>
              <a:t>토픽 </a:t>
            </a:r>
            <a:r>
              <a:rPr lang="en-US" altLang="ko-KR">
                <a:solidFill>
                  <a:srgbClr val="00B050"/>
                </a:solidFill>
              </a:rPr>
              <a:t>&gt; /topic/room/{roomId},chatMessage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D8E7CD-2E2C-AC1E-D099-A5417CFAA41C}"/>
              </a:ext>
            </a:extLst>
          </p:cNvPr>
          <p:cNvSpPr txBox="1"/>
          <p:nvPr/>
        </p:nvSpPr>
        <p:spPr>
          <a:xfrm>
            <a:off x="9285261" y="2887547"/>
            <a:ext cx="809566" cy="492063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pPr algn="ctr"/>
            <a:r>
              <a:rPr lang="en-US" altLang="ko-KR"/>
              <a:t>REDIS Pub/Sub</a:t>
            </a:r>
            <a:endParaRPr lang="ko-KR" altLang="en-US"/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F133E727-32C7-7152-0A8D-EBB00AAF2FA5}"/>
              </a:ext>
            </a:extLst>
          </p:cNvPr>
          <p:cNvCxnSpPr>
            <a:cxnSpLocks/>
            <a:stCxn id="3" idx="3"/>
            <a:endCxn id="16" idx="2"/>
          </p:cNvCxnSpPr>
          <p:nvPr/>
        </p:nvCxnSpPr>
        <p:spPr>
          <a:xfrm>
            <a:off x="8956327" y="3086497"/>
            <a:ext cx="328934" cy="4708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892C35A1-EF22-E234-956A-97B1465669ED}"/>
              </a:ext>
            </a:extLst>
          </p:cNvPr>
          <p:cNvCxnSpPr>
            <a:cxnSpLocks/>
            <a:stCxn id="16" idx="4"/>
            <a:endCxn id="13" idx="2"/>
          </p:cNvCxnSpPr>
          <p:nvPr/>
        </p:nvCxnSpPr>
        <p:spPr>
          <a:xfrm flipV="1">
            <a:off x="10094827" y="2532719"/>
            <a:ext cx="464522" cy="600860"/>
          </a:xfrm>
          <a:prstGeom prst="bentConnector2">
            <a:avLst/>
          </a:prstGeom>
          <a:ln>
            <a:solidFill>
              <a:schemeClr val="bg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CD76636-73E7-6D6E-B1F3-7020E5A68206}"/>
              </a:ext>
            </a:extLst>
          </p:cNvPr>
          <p:cNvSpPr txBox="1"/>
          <p:nvPr/>
        </p:nvSpPr>
        <p:spPr>
          <a:xfrm>
            <a:off x="384059" y="4753886"/>
            <a:ext cx="52959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>
                <a:solidFill>
                  <a:srgbClr val="2A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PubMessage(String msgCode, String destination, List&lt;ChatRoom&gt; rooms)</a:t>
            </a:r>
          </a:p>
          <a:p>
            <a:r>
              <a:rPr lang="en-US" altLang="ko-KR" sz="800">
                <a:solidFill>
                  <a:srgbClr val="2A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PubMessage(String msgCode, ChatMessage chatMessage)</a:t>
            </a:r>
            <a:endParaRPr lang="ko-KR" altLang="en-US" sz="800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F7373DE2-BEE6-C576-E994-AF0AD1E84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5920269"/>
              </p:ext>
            </p:extLst>
          </p:nvPr>
        </p:nvGraphicFramePr>
        <p:xfrm>
          <a:off x="450803" y="5079092"/>
          <a:ext cx="5492195" cy="53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54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3852890078"/>
                    </a:ext>
                  </a:extLst>
                </a:gridCol>
                <a:gridCol w="1005450">
                  <a:extLst>
                    <a:ext uri="{9D8B030D-6E8A-4147-A177-3AD203B41FA5}">
                      <a16:colId xmlns:a16="http://schemas.microsoft.com/office/drawing/2014/main" val="962050941"/>
                    </a:ext>
                  </a:extLst>
                </a:gridCol>
                <a:gridCol w="738750">
                  <a:extLst>
                    <a:ext uri="{9D8B030D-6E8A-4147-A177-3AD203B41FA5}">
                      <a16:colId xmlns:a16="http://schemas.microsoft.com/office/drawing/2014/main" val="84351603"/>
                    </a:ext>
                  </a:extLst>
                </a:gridCol>
                <a:gridCol w="1737095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msgCode</a:t>
                      </a:r>
                      <a:endParaRPr lang="ko-KR" altLang="en-US" sz="700" b="1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ChannelName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destination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message class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ChannelName.CHAT (chat.topic)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ChatMessage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여기서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dest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실제 채팅 수행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1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TOPIC_ROOMS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ChannelName.CHAT (chat.topic)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List&lt;ChatRoom&gt;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방변동 사항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알림 기능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68999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1D273ED4-8B5A-9DA0-6300-4A8D59E70DCA}"/>
              </a:ext>
            </a:extLst>
          </p:cNvPr>
          <p:cNvSpPr txBox="1"/>
          <p:nvPr/>
        </p:nvSpPr>
        <p:spPr>
          <a:xfrm>
            <a:off x="3820333" y="1794483"/>
            <a:ext cx="1310699" cy="215444"/>
          </a:xfrm>
          <a:prstGeom prst="rect">
            <a:avLst/>
          </a:prstGeom>
          <a:noFill/>
          <a:ln w="3175">
            <a:noFill/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>
                <a:solidFill>
                  <a:srgbClr val="00B050"/>
                </a:solidFill>
              </a:rPr>
              <a:t>assignAgent </a:t>
            </a:r>
            <a:r>
              <a:rPr lang="ko-KR" altLang="en-US">
                <a:solidFill>
                  <a:srgbClr val="00B050"/>
                </a:solidFill>
              </a:rPr>
              <a:t>키 값 확인</a:t>
            </a: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32673DA5-EA36-8C5D-FA98-5E47246EAA78}"/>
              </a:ext>
            </a:extLst>
          </p:cNvPr>
          <p:cNvCxnSpPr>
            <a:cxnSpLocks/>
          </p:cNvCxnSpPr>
          <p:nvPr/>
        </p:nvCxnSpPr>
        <p:spPr>
          <a:xfrm>
            <a:off x="6044224" y="2930855"/>
            <a:ext cx="0" cy="152742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64A9DE4B-4B80-F841-0BE4-108E73D6AE91}"/>
              </a:ext>
            </a:extLst>
          </p:cNvPr>
          <p:cNvCxnSpPr>
            <a:cxnSpLocks/>
          </p:cNvCxnSpPr>
          <p:nvPr/>
        </p:nvCxnSpPr>
        <p:spPr>
          <a:xfrm>
            <a:off x="6044224" y="3296134"/>
            <a:ext cx="0" cy="24800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A31720D4-632C-889D-FDAC-8BD9CF4EA4AF}"/>
              </a:ext>
            </a:extLst>
          </p:cNvPr>
          <p:cNvCxnSpPr>
            <a:cxnSpLocks/>
            <a:stCxn id="6" idx="3"/>
            <a:endCxn id="3" idx="1"/>
          </p:cNvCxnSpPr>
          <p:nvPr/>
        </p:nvCxnSpPr>
        <p:spPr>
          <a:xfrm flipV="1">
            <a:off x="6884950" y="3086497"/>
            <a:ext cx="737174" cy="101915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B137A23-7782-B8F4-F15B-A6DB7405B059}"/>
              </a:ext>
            </a:extLst>
          </p:cNvPr>
          <p:cNvGrpSpPr/>
          <p:nvPr/>
        </p:nvGrpSpPr>
        <p:grpSpPr>
          <a:xfrm>
            <a:off x="7355880" y="3326629"/>
            <a:ext cx="1600447" cy="795585"/>
            <a:chOff x="7520347" y="5266942"/>
            <a:chExt cx="1600447" cy="795585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60FD3C5-BB7D-C3E2-DCB0-1D27A011FF13}"/>
                </a:ext>
              </a:extLst>
            </p:cNvPr>
            <p:cNvSpPr txBox="1"/>
            <p:nvPr/>
          </p:nvSpPr>
          <p:spPr>
            <a:xfrm>
              <a:off x="7520347" y="5477752"/>
              <a:ext cx="1368000" cy="58477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>
                <a:defRPr sz="800">
                  <a:latin typeface="D2Coding" panose="020B0609020101020101" pitchFamily="49" charset="-127"/>
                  <a:ea typeface="D2Coding" panose="020B0609020101020101" pitchFamily="49" charset="-127"/>
                  <a:cs typeface="Droid Serif" panose="02020600060500020200" pitchFamily="18" charset="0"/>
                </a:defRPr>
              </a:lvl1pPr>
            </a:lstStyle>
            <a:p>
              <a:r>
                <a:rPr lang="en-US" altLang="ko-KR">
                  <a:solidFill>
                    <a:srgbClr val="00B050"/>
                  </a:solidFill>
                </a:rPr>
                <a:t>  NAME &gt; TOPIC_ROOMS</a:t>
              </a:r>
            </a:p>
            <a:p>
              <a:r>
                <a:rPr lang="ko-KR" altLang="en-US">
                  <a:solidFill>
                    <a:srgbClr val="00B050"/>
                  </a:solidFill>
                </a:rPr>
                <a:t> 채널  </a:t>
              </a:r>
              <a:r>
                <a:rPr lang="en-US" altLang="ko-KR">
                  <a:solidFill>
                    <a:srgbClr val="00B050"/>
                  </a:solidFill>
                </a:rPr>
                <a:t>&gt; chat.topic</a:t>
              </a:r>
            </a:p>
            <a:p>
              <a:r>
                <a:rPr lang="ko-KR" altLang="en-US">
                  <a:solidFill>
                    <a:srgbClr val="00B050"/>
                  </a:solidFill>
                </a:rPr>
                <a:t>메시지 </a:t>
              </a:r>
              <a:r>
                <a:rPr lang="en-US" altLang="ko-KR">
                  <a:solidFill>
                    <a:srgbClr val="00B050"/>
                  </a:solidFill>
                </a:rPr>
                <a:t>&gt; List&lt;ChatRoom&gt;</a:t>
              </a:r>
            </a:p>
            <a:p>
              <a:r>
                <a:rPr lang="ko-KR" altLang="en-US">
                  <a:solidFill>
                    <a:srgbClr val="00B050"/>
                  </a:solidFill>
                </a:rPr>
                <a:t>  토픽 </a:t>
              </a:r>
              <a:r>
                <a:rPr lang="en-US" altLang="ko-KR">
                  <a:solidFill>
                    <a:srgbClr val="00B050"/>
                  </a:solidFill>
                </a:rPr>
                <a:t>&gt; /topic/rooms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9A83F56-BA7D-F6D9-4E93-A75F44B7C598}"/>
                </a:ext>
              </a:extLst>
            </p:cNvPr>
            <p:cNvSpPr txBox="1"/>
            <p:nvPr/>
          </p:nvSpPr>
          <p:spPr>
            <a:xfrm>
              <a:off x="7520347" y="5266942"/>
              <a:ext cx="1600447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800">
                  <a:solidFill>
                    <a:srgbClr val="2A00FF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rPr>
                <a:t>Redis Pub/Sub</a:t>
              </a:r>
              <a:endParaRPr lang="ko-KR" altLang="en-US" sz="800"/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5C6AB21F-E19E-E7DA-77EF-01F8F8A778F2}"/>
              </a:ext>
            </a:extLst>
          </p:cNvPr>
          <p:cNvGrpSpPr/>
          <p:nvPr/>
        </p:nvGrpSpPr>
        <p:grpSpPr>
          <a:xfrm>
            <a:off x="8828310" y="4428530"/>
            <a:ext cx="3067949" cy="679825"/>
            <a:chOff x="9629473" y="4622175"/>
            <a:chExt cx="3067949" cy="679825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2162136-0B34-2CDB-809F-566011C64882}"/>
                </a:ext>
              </a:extLst>
            </p:cNvPr>
            <p:cNvSpPr txBox="1"/>
            <p:nvPr/>
          </p:nvSpPr>
          <p:spPr>
            <a:xfrm>
              <a:off x="9629473" y="4840335"/>
              <a:ext cx="3067949" cy="46166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>
                <a:defRPr sz="800">
                  <a:latin typeface="D2Coding" panose="020B0609020101020101" pitchFamily="49" charset="-127"/>
                  <a:ea typeface="D2Coding" panose="020B0609020101020101" pitchFamily="49" charset="-127"/>
                  <a:cs typeface="Droid Serif" panose="02020600060500020200" pitchFamily="18" charset="0"/>
                </a:defRPr>
              </a:lvl1pPr>
            </a:lstStyle>
            <a:p>
              <a:r>
                <a:rPr lang="en-US" altLang="ko-KR">
                  <a:solidFill>
                    <a:srgbClr val="00B050"/>
                  </a:solidFill>
                </a:rPr>
                <a:t>MessageListenerAdapter</a:t>
              </a:r>
            </a:p>
            <a:p>
              <a:r>
                <a:rPr lang="ko-KR" altLang="en-US">
                  <a:solidFill>
                    <a:srgbClr val="00B050"/>
                  </a:solidFill>
                </a:rPr>
                <a:t>토픽 </a:t>
              </a:r>
              <a:r>
                <a:rPr lang="en-US" altLang="ko-KR">
                  <a:solidFill>
                    <a:srgbClr val="00B050"/>
                  </a:solidFill>
                </a:rPr>
                <a:t>&gt; /topic/rooms,List&lt;ChatRoom&gt;</a:t>
              </a:r>
            </a:p>
            <a:p>
              <a:r>
                <a:rPr lang="en-US" altLang="ko-KR"/>
                <a:t>messagingTemplate.convertAndSend("/topic/rooms", rooms);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BF08161-1630-4BFA-0368-B54C882F03F4}"/>
                </a:ext>
              </a:extLst>
            </p:cNvPr>
            <p:cNvSpPr txBox="1"/>
            <p:nvPr/>
          </p:nvSpPr>
          <p:spPr>
            <a:xfrm>
              <a:off x="9629474" y="4622175"/>
              <a:ext cx="1600447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800">
                  <a:solidFill>
                    <a:srgbClr val="2A00FF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rPr>
                <a:t>STOMP Topic</a:t>
              </a:r>
              <a:endParaRPr lang="ko-KR" altLang="en-US" sz="80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7C597F2B-87BB-B475-A4C9-D235D4BC2081}"/>
              </a:ext>
            </a:extLst>
          </p:cNvPr>
          <p:cNvSpPr txBox="1"/>
          <p:nvPr/>
        </p:nvSpPr>
        <p:spPr>
          <a:xfrm>
            <a:off x="7627137" y="2638792"/>
            <a:ext cx="16004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>
                <a:solidFill>
                  <a:srgbClr val="2A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Redis Pub/Sub</a:t>
            </a:r>
            <a:endParaRPr lang="ko-KR" altLang="en-US" sz="80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CD1769-08AE-DDE0-C7CE-97C86B9DC50F}"/>
              </a:ext>
            </a:extLst>
          </p:cNvPr>
          <p:cNvSpPr txBox="1"/>
          <p:nvPr/>
        </p:nvSpPr>
        <p:spPr>
          <a:xfrm>
            <a:off x="9308697" y="1981038"/>
            <a:ext cx="191628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>
                <a:solidFill>
                  <a:srgbClr val="2A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STOMP Topic</a:t>
            </a:r>
            <a:endParaRPr lang="ko-KR" altLang="en-US" sz="800"/>
          </a:p>
        </p:txBody>
      </p:sp>
      <p:cxnSp>
        <p:nvCxnSpPr>
          <p:cNvPr id="57" name="연결선: 꺾임 56">
            <a:extLst>
              <a:ext uri="{FF2B5EF4-FFF2-40B4-BE49-F238E27FC236}">
                <a16:creationId xmlns:a16="http://schemas.microsoft.com/office/drawing/2014/main" id="{91DB2105-6DF9-04E0-EC74-A7118D44DEC2}"/>
              </a:ext>
            </a:extLst>
          </p:cNvPr>
          <p:cNvCxnSpPr>
            <a:cxnSpLocks/>
            <a:stCxn id="7" idx="3"/>
            <a:endCxn id="46" idx="1"/>
          </p:cNvCxnSpPr>
          <p:nvPr/>
        </p:nvCxnSpPr>
        <p:spPr>
          <a:xfrm>
            <a:off x="6884950" y="3710898"/>
            <a:ext cx="470930" cy="118929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연결선: 꺾임 59">
            <a:extLst>
              <a:ext uri="{FF2B5EF4-FFF2-40B4-BE49-F238E27FC236}">
                <a16:creationId xmlns:a16="http://schemas.microsoft.com/office/drawing/2014/main" id="{2BAF9838-147F-115A-D7BB-01C19FC55955}"/>
              </a:ext>
            </a:extLst>
          </p:cNvPr>
          <p:cNvCxnSpPr>
            <a:cxnSpLocks/>
            <a:endCxn id="66" idx="2"/>
          </p:cNvCxnSpPr>
          <p:nvPr/>
        </p:nvCxnSpPr>
        <p:spPr>
          <a:xfrm>
            <a:off x="8747513" y="3856634"/>
            <a:ext cx="537748" cy="35235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B228346-ED8A-8649-9738-38B95678C9E6}"/>
              </a:ext>
            </a:extLst>
          </p:cNvPr>
          <p:cNvSpPr txBox="1"/>
          <p:nvPr/>
        </p:nvSpPr>
        <p:spPr>
          <a:xfrm>
            <a:off x="9285261" y="3645837"/>
            <a:ext cx="809566" cy="492063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pPr algn="ctr"/>
            <a:r>
              <a:rPr lang="en-US" altLang="ko-KR"/>
              <a:t>REDIS Pub/Sub</a:t>
            </a:r>
            <a:endParaRPr lang="ko-KR" altLang="en-US"/>
          </a:p>
        </p:txBody>
      </p:sp>
      <p:cxnSp>
        <p:nvCxnSpPr>
          <p:cNvPr id="68" name="연결선: 꺾임 67">
            <a:extLst>
              <a:ext uri="{FF2B5EF4-FFF2-40B4-BE49-F238E27FC236}">
                <a16:creationId xmlns:a16="http://schemas.microsoft.com/office/drawing/2014/main" id="{ECF3454C-710E-D491-9769-D013EC75576D}"/>
              </a:ext>
            </a:extLst>
          </p:cNvPr>
          <p:cNvCxnSpPr>
            <a:cxnSpLocks/>
            <a:stCxn id="66" idx="4"/>
            <a:endCxn id="48" idx="0"/>
          </p:cNvCxnSpPr>
          <p:nvPr/>
        </p:nvCxnSpPr>
        <p:spPr>
          <a:xfrm>
            <a:off x="10094827" y="3891869"/>
            <a:ext cx="267458" cy="754821"/>
          </a:xfrm>
          <a:prstGeom prst="bentConnector2">
            <a:avLst/>
          </a:prstGeom>
          <a:ln>
            <a:solidFill>
              <a:schemeClr val="bg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3D5FF392-982A-DA19-42C8-6BE0C9141D37}"/>
              </a:ext>
            </a:extLst>
          </p:cNvPr>
          <p:cNvCxnSpPr>
            <a:cxnSpLocks/>
            <a:stCxn id="7" idx="2"/>
            <a:endCxn id="20" idx="3"/>
          </p:cNvCxnSpPr>
          <p:nvPr/>
        </p:nvCxnSpPr>
        <p:spPr>
          <a:xfrm rot="5400000">
            <a:off x="5406714" y="3248261"/>
            <a:ext cx="57373" cy="1321200"/>
          </a:xfrm>
          <a:prstGeom prst="bentConnector2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40B7AF3-6228-6D68-D0E8-B4623D125E53}"/>
              </a:ext>
            </a:extLst>
          </p:cNvPr>
          <p:cNvSpPr txBox="1"/>
          <p:nvPr/>
        </p:nvSpPr>
        <p:spPr>
          <a:xfrm>
            <a:off x="8347294" y="491524"/>
            <a:ext cx="3458424" cy="14465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80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( null != targetTopic )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messagingTemplate.convertAndSend(targetTopic, chatMessage);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} else if ("SYSTEM_BROADCAST".equals(chatMessage.getRoomId())) {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messagingTemplate.convertAndSend(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    "/topic/agent-availability",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    map);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} else { // </a:t>
            </a:r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</a:rPr>
              <a:t>일반 채팅 메시지</a:t>
            </a:r>
          </a:p>
          <a:p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messagingTemplate.convertAndSend(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    "/topic/room/"+chatMessage.getRoomId(),</a:t>
            </a:r>
            <a:b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    chatMessage);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endParaRPr lang="ko-KR" altLang="en-US" sz="8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E4FC7340-DF46-9A30-E517-12AF26A4428F}"/>
              </a:ext>
            </a:extLst>
          </p:cNvPr>
          <p:cNvCxnSpPr>
            <a:cxnSpLocks/>
            <a:stCxn id="13" idx="0"/>
            <a:endCxn id="78" idx="2"/>
          </p:cNvCxnSpPr>
          <p:nvPr/>
        </p:nvCxnSpPr>
        <p:spPr>
          <a:xfrm rot="16200000" flipV="1">
            <a:off x="10189883" y="1824698"/>
            <a:ext cx="256091" cy="482843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다이아몬드 81">
            <a:extLst>
              <a:ext uri="{FF2B5EF4-FFF2-40B4-BE49-F238E27FC236}">
                <a16:creationId xmlns:a16="http://schemas.microsoft.com/office/drawing/2014/main" id="{42002E9B-2C52-BAEE-ECB4-6D5AD4DA5BCD}"/>
              </a:ext>
            </a:extLst>
          </p:cNvPr>
          <p:cNvSpPr/>
          <p:nvPr/>
        </p:nvSpPr>
        <p:spPr>
          <a:xfrm>
            <a:off x="5347549" y="1084170"/>
            <a:ext cx="1423611" cy="338554"/>
          </a:xfrm>
          <a:prstGeom prst="diamond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anchor="ctr" anchorCtr="0">
            <a:noAutofit/>
          </a:bodyPr>
          <a:lstStyle/>
          <a:p>
            <a:r>
              <a:rPr lang="en-US" altLang="ko-KR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force = false</a:t>
            </a:r>
            <a:endParaRPr lang="ko-KR" altLang="en-US" sz="8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4D4748C-2E67-F7FD-7131-7D8C977D514A}"/>
              </a:ext>
            </a:extLst>
          </p:cNvPr>
          <p:cNvSpPr txBox="1"/>
          <p:nvPr/>
        </p:nvSpPr>
        <p:spPr>
          <a:xfrm>
            <a:off x="6044224" y="1399963"/>
            <a:ext cx="301368" cy="215444"/>
          </a:xfrm>
          <a:prstGeom prst="rect">
            <a:avLst/>
          </a:prstGeom>
          <a:noFill/>
          <a:ln w="3175">
            <a:noFill/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Y</a:t>
            </a:r>
            <a:endParaRPr lang="ko-KR" altLang="en-US"/>
          </a:p>
        </p:txBody>
      </p:sp>
      <p:cxnSp>
        <p:nvCxnSpPr>
          <p:cNvPr id="86" name="연결선: 꺾임 85">
            <a:extLst>
              <a:ext uri="{FF2B5EF4-FFF2-40B4-BE49-F238E27FC236}">
                <a16:creationId xmlns:a16="http://schemas.microsoft.com/office/drawing/2014/main" id="{4EA4EE28-D36B-A5AF-95F8-8619C1E4E1CB}"/>
              </a:ext>
            </a:extLst>
          </p:cNvPr>
          <p:cNvCxnSpPr>
            <a:cxnSpLocks/>
            <a:stCxn id="82" idx="3"/>
            <a:endCxn id="4" idx="3"/>
          </p:cNvCxnSpPr>
          <p:nvPr/>
        </p:nvCxnSpPr>
        <p:spPr>
          <a:xfrm>
            <a:off x="6771160" y="1253447"/>
            <a:ext cx="113790" cy="1446576"/>
          </a:xfrm>
          <a:prstGeom prst="bentConnector3">
            <a:avLst>
              <a:gd name="adj1" fmla="val 300896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D4ED0347-2EB0-75EB-82A5-67A4B4FC6719}"/>
              </a:ext>
            </a:extLst>
          </p:cNvPr>
          <p:cNvSpPr txBox="1"/>
          <p:nvPr/>
        </p:nvSpPr>
        <p:spPr>
          <a:xfrm>
            <a:off x="6779326" y="1245477"/>
            <a:ext cx="301368" cy="215444"/>
          </a:xfrm>
          <a:prstGeom prst="rect">
            <a:avLst/>
          </a:prstGeom>
          <a:noFill/>
          <a:ln w="3175">
            <a:noFill/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N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1782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/>
        </p:nvGraphicFramePr>
        <p:xfrm>
          <a:off x="45296" y="34080"/>
          <a:ext cx="10102988" cy="410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60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423089">
                  <a:extLst>
                    <a:ext uri="{9D8B030D-6E8A-4147-A177-3AD203B41FA5}">
                      <a16:colId xmlns:a16="http://schemas.microsoft.com/office/drawing/2014/main" val="1221839679"/>
                    </a:ext>
                  </a:extLst>
                </a:gridCol>
                <a:gridCol w="27390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30515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493099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3826042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api &gt; http://{HOST}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Input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/{companyId}/login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특정회사 고객의 로그인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회사 지정 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). token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등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89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ChatCustomerController.java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strike="sngStrike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기본회사 고객의 로그인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제거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524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로그아웃 처리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AUTH_TOKEN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은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UI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제거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3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챗봇 상담방을 생성하고 세션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/chat-end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챗본 상담방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3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/chat-lastinfo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마지막 채팅 정보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이전 연결 끊김 대응용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815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상담원 연결 가능하게 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ChatAgentController.java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헤더의 토큰을 검증해 현재 상담원 정보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(UserInfo)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30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고객대기 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모두 대기 끝나면 상담원연결 불가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874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(ChatRoom)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목록을 반환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고객들의 방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8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DELETE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상담 종료 또는 종료 방 삭제 처리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3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/rooms/{roomId}/assign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상담원을 방에 배정하고 상태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이력을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상담사연결 가능상태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브로드캐스로 먼저 알림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{ "onlineAgentCount":2 }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8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-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596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/status/{status}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062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/heartbeat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HeartBeat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전송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875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/ws-chat/info?token=&amp;t=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WebSocket over 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Socket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ws://{HOST}/ws-chat/424/ksjqtp0s/websocket?token=&amp;roomId=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311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schedular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관리시스템용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 정리 스케쥴러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/api/cleanup/scheduler/stop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현재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83370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150058-CDC8-F4FC-F0AD-8B4393CCDF35}"/>
              </a:ext>
            </a:extLst>
          </p:cNvPr>
          <p:cNvSpPr txBox="1"/>
          <p:nvPr/>
        </p:nvSpPr>
        <p:spPr>
          <a:xfrm>
            <a:off x="8517657" y="4953000"/>
            <a:ext cx="31650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# 동적 값 설정하여 시작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http://localhost:28070/api/cleanup/scheduler/start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-H "Content-Type: application/json"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-d ‘{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"idleTimeout": 300000,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"checkInterval": 30000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}’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GET http://localhost:28070/api/cleanup/scheduler/status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5B467E-C705-D7FF-7CD4-61CA62A54B68}"/>
              </a:ext>
            </a:extLst>
          </p:cNvPr>
          <p:cNvSpPr txBox="1"/>
          <p:nvPr/>
        </p:nvSpPr>
        <p:spPr>
          <a:xfrm>
            <a:off x="10886704" y="1978171"/>
            <a:ext cx="1260000" cy="9360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/api/customer/chat-start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{ "roomId": "room-5f941d8e",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"roomName": "cust01",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"members": [],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"status": "BOT",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"assignedAgent": null,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"createdAt":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"lastActivityAt":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"custId": null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D8843-FAB7-CC0E-850D-F83625DFE0C9}"/>
              </a:ext>
            </a:extLst>
          </p:cNvPr>
          <p:cNvSpPr txBox="1"/>
          <p:nvPr/>
        </p:nvSpPr>
        <p:spPr>
          <a:xfrm>
            <a:off x="10886704" y="1061239"/>
            <a:ext cx="1260000" cy="86177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/api/agent/me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 "userId": "agent01",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"userName":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상담원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-01",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"role": "AGENT",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"email": "agent01@aicc.com",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"token": "eyJ1c2 . . fQ==",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"companyId": "apt001"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  <a:endParaRPr lang="ko-KR" altLang="en-US" sz="5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69EC0-5262-BF29-0174-E9608490D91B}"/>
              </a:ext>
            </a:extLst>
          </p:cNvPr>
          <p:cNvSpPr txBox="1"/>
          <p:nvPr/>
        </p:nvSpPr>
        <p:spPr>
          <a:xfrm>
            <a:off x="45296" y="4269921"/>
            <a:ext cx="4151147" cy="80826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/api/customer              &gt;&gt;&gt; ChatCustomerController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/{companyId}/login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회사별 고객 로그인 처리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nn-NO" altLang="ko-KR" sz="700">
                <a:highlight>
                  <a:srgbClr val="00FFFF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P /logout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로그아웃 처리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/app/customer/chat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 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/chatbot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고객의 챗봇 상담방을 생성하고 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목록을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/customer/chat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5DFE7-A7BF-E99C-5983-C3DFF8E13916}"/>
              </a:ext>
            </a:extLst>
          </p:cNvPr>
          <p:cNvSpPr txBox="1"/>
          <p:nvPr/>
        </p:nvSpPr>
        <p:spPr>
          <a:xfrm>
            <a:off x="10886704" y="34080"/>
            <a:ext cx="1260000" cy="97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"room-8b6d2569",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배송문의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"members": [],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"status": "BOT",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"assignedAgent":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"createdAt":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"lastActivityAt":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"custId": null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A1657A-13DB-63CF-F853-16E27966BDA8}"/>
              </a:ext>
            </a:extLst>
          </p:cNvPr>
          <p:cNvSpPr txBox="1"/>
          <p:nvPr/>
        </p:nvSpPr>
        <p:spPr>
          <a:xfrm>
            <a:off x="5474546" y="4269920"/>
            <a:ext cx="4824000" cy="330311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/api/agent                 &gt;&gt;&gt; ChatAgentController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상담원 로그인 요청을 인증 서비스로 전달하고 토큰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프로필 반환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/me           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Authorization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헤더의 토큰을 검증해 현재 상담원 정보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/logout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로그아웃 처리 및 고객에게 알림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/rooms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상담사에게 전체 상담방 목록을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G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상담방 상세 정보를 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D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 종료 또는 종료 방 삭제 처리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/rooms/{roomId}/assign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상담사를 방에 배정하고 상태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이력을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/availability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가용성 확인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로그인한 상담사가 있고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미만의 상담을 하고 있는지 확인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/agent/chat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채팅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/api/session               &gt;&gt;&gt; WebSocketSessionController.java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/all 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/{sessionId}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사용자 정보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/user/{userId}/online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 온라인 상태확인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P /{sessionId}/refresh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TTL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갱신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하트비트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/stats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세션통계조회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/api/cleanup/schedular     &gt;&gt;&gt; RoomCleanupController.java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/start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시작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/stop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중지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/status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현재 상태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5193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65D302F-9A38-BA77-D315-26DBF5ED209F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3450518"/>
          <a:ext cx="1707225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1457907264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2">
                  <a:extLst>
                    <a:ext uri="{9D8B030D-6E8A-4147-A177-3AD203B41FA5}">
                      <a16:colId xmlns:a16="http://schemas.microsoft.com/office/drawing/2014/main" val="931614083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 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users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2DD2E4-1CA0-5F1C-8ACE-64AF9E9FF59D}"/>
              </a:ext>
            </a:extLst>
          </p:cNvPr>
          <p:cNvSpPr txBox="1"/>
          <p:nvPr/>
        </p:nvSpPr>
        <p:spPr>
          <a:xfrm>
            <a:off x="306054" y="3013117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참가자 관리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•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 참가자 목록을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으로 관리합니다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464E2E2-0EB8-9121-A852-4632F1D5DC98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2178609"/>
          <a:ext cx="834563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513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6344DC1-22A6-126D-8634-1C7DF01DC2DC}"/>
              </a:ext>
            </a:extLst>
          </p:cNvPr>
          <p:cNvSpPr txBox="1"/>
          <p:nvPr/>
        </p:nvSpPr>
        <p:spPr>
          <a:xfrm>
            <a:off x="306054" y="1749451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목록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또는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Sorted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모든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ID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관리하는 집합을 둡니다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4E6F2C8-7668-D1D6-47B5-ED8B7EFD6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2391235"/>
            <a:ext cx="146317" cy="115834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10BDB213-00B1-FC7A-3A75-21530741EEE3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696486"/>
          <a:ext cx="2279087" cy="89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491100">
                  <a:extLst>
                    <a:ext uri="{9D8B030D-6E8A-4147-A177-3AD203B41FA5}">
                      <a16:colId xmlns:a16="http://schemas.microsoft.com/office/drawing/2014/main" val="3271069289"/>
                    </a:ext>
                  </a:extLst>
                </a:gridCol>
                <a:gridCol w="978824">
                  <a:extLst>
                    <a:ext uri="{9D8B030D-6E8A-4147-A177-3AD203B41FA5}">
                      <a16:colId xmlns:a16="http://schemas.microsoft.com/office/drawing/2014/main" val="21261728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HashKey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Value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createAt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status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47778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4ACE3C-A396-04CE-E872-F4FE20F97076}"/>
              </a:ext>
            </a:extLst>
          </p:cNvPr>
          <p:cNvSpPr txBox="1"/>
          <p:nvPr/>
        </p:nvSpPr>
        <p:spPr>
          <a:xfrm>
            <a:off x="306054" y="264767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메타데이터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각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을 하나의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로 관리하면 좋습니다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5008288-DF7A-FA7E-695D-F34F6D81E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3644566"/>
            <a:ext cx="146317" cy="1158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72FB345-6CA3-03A7-B470-E6E1AE256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10" y="866367"/>
            <a:ext cx="143120" cy="148421"/>
          </a:xfrm>
          <a:prstGeom prst="rect">
            <a:avLst/>
          </a:prstGeom>
        </p:spPr>
      </p:pic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147D4766-5CB3-2157-CDF4-46908B1EA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1946065"/>
              </p:ext>
            </p:extLst>
          </p:nvPr>
        </p:nvGraphicFramePr>
        <p:xfrm>
          <a:off x="4213860" y="689629"/>
          <a:ext cx="7028964" cy="441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04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3">
                  <a:extLst>
                    <a:ext uri="{9D8B030D-6E8A-4147-A177-3AD203B41FA5}">
                      <a16:colId xmlns:a16="http://schemas.microsoft.com/office/drawing/2014/main" val="962050941"/>
                    </a:ext>
                  </a:extLst>
                </a:gridCol>
                <a:gridCol w="270438">
                  <a:extLst>
                    <a:ext uri="{9D8B030D-6E8A-4147-A177-3AD203B41FA5}">
                      <a16:colId xmlns:a16="http://schemas.microsoft.com/office/drawing/2014/main" val="84351603"/>
                    </a:ext>
                  </a:extLst>
                </a:gridCol>
                <a:gridCol w="91178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2474787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Type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TTL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상세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 ▤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ᆢ</a:t>
                      </a:r>
                      <a:r>
                        <a:rPr lang="el-GR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Ξ…�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chat:user-agent:{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상담사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lastHeartbeat 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1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chat:user-customer:{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30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고객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companyId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회사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email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고객이메일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웹소켓세션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UserCustomer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68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chat:room-member:{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 strike="sngStrike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방에 참가자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chat:room-info:{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KEYS chat:room-info:*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SCAN 0 MATCH user:* COUNT 100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상세정보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creatorId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방생성자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 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방이름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상태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createAt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생성일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마지막활동시간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할당상담사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RoomInfo</a:t>
                      </a:r>
                    </a:p>
                    <a:p>
                      <a:pPr latinLnBrk="1"/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routingMode&gt;</a:t>
                      </a:r>
                      <a:b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</a:b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en-US" altLang="ko-KR" sz="7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BOT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챗봇상담중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 </a:t>
                      </a:r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WAITING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연결대기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(assignedAgent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 상담원이름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CLOSED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178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chat:rooms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불필요한가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?)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 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room-7e2af38b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room-616684d7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1.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 로그인하면 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UUID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 생성</a:t>
                      </a:r>
                      <a:endParaRPr lang="en-US" altLang="ko-KR" sz="700">
                        <a:solidFill>
                          <a:srgbClr val="FF000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online:session:{sessionId}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세션 사용자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loginDt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online:sesssions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웹소켓  세션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44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online:customers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고객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ROOM_KEY_PREFIX + roomId + ":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"chat:room:"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createdAt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chat:room:{roomId}: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String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770299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6D07D298-FC52-2A64-2930-9AE87B1F94DB}"/>
              </a:ext>
            </a:extLst>
          </p:cNvPr>
          <p:cNvSpPr txBox="1"/>
          <p:nvPr/>
        </p:nvSpPr>
        <p:spPr>
          <a:xfrm>
            <a:off x="5514480" y="71784"/>
            <a:ext cx="2798939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고객  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customer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상담사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agent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userId   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로그인계정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sessionId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웹세션연결시 생성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AB0AA9-0990-AAA9-D38B-41D6710FF958}"/>
              </a:ext>
            </a:extLst>
          </p:cNvPr>
          <p:cNvSpPr txBox="1"/>
          <p:nvPr/>
        </p:nvSpPr>
        <p:spPr>
          <a:xfrm>
            <a:off x="5135880" y="148990"/>
            <a:ext cx="378600" cy="195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85863CD1-8081-CB89-43A4-9221ECB5F5B6}"/>
              </a:ext>
            </a:extLst>
          </p:cNvPr>
          <p:cNvGrpSpPr/>
          <p:nvPr/>
        </p:nvGrpSpPr>
        <p:grpSpPr>
          <a:xfrm>
            <a:off x="8526852" y="5783216"/>
            <a:ext cx="3551588" cy="1042495"/>
            <a:chOff x="4317930" y="5782552"/>
            <a:chExt cx="3551588" cy="104249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962C2F9-0BFE-D3FC-7749-B4D98B5C0D7C}"/>
                </a:ext>
              </a:extLst>
            </p:cNvPr>
            <p:cNvSpPr txBox="1"/>
            <p:nvPr/>
          </p:nvSpPr>
          <p:spPr>
            <a:xfrm>
              <a:off x="4317930" y="5782552"/>
              <a:ext cx="1188633" cy="442035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HSET key name value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HDEL key field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DEL key</a:t>
              </a:r>
              <a:endPara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0B697AA-858F-7579-C90D-87302A39C6E9}"/>
                </a:ext>
              </a:extLst>
            </p:cNvPr>
            <p:cNvSpPr txBox="1"/>
            <p:nvPr/>
          </p:nvSpPr>
          <p:spPr>
            <a:xfrm>
              <a:off x="4317931" y="6259901"/>
              <a:ext cx="1574268" cy="5651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SADD myset “value1” “value2”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SREM myset “value1”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SREM key member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DEL myset</a:t>
              </a:r>
              <a:endPara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A3A3892-7A39-3ADD-9616-B4360ED40E65}"/>
                </a:ext>
              </a:extLst>
            </p:cNvPr>
            <p:cNvSpPr txBox="1"/>
            <p:nvPr/>
          </p:nvSpPr>
          <p:spPr>
            <a:xfrm>
              <a:off x="5892198" y="6259901"/>
              <a:ext cx="1977320" cy="442035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solidFill>
                    <a:prstClr val="black"/>
                  </a:solidFill>
                  <a:latin typeface="맑은 고딕" panose="020B0503020000020004" pitchFamily="50" charset="-127"/>
                </a:rPr>
                <a:t>SADD chat:room:room-7e2af38b "CCC“</a:t>
              </a:r>
            </a:p>
            <a:p>
              <a:pPr lvl="0"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SMEMBERS user_ids</a:t>
              </a:r>
            </a:p>
            <a:p>
              <a:pPr lvl="0">
                <a:defRPr/>
              </a:pPr>
              <a:r>
                <a:rPr lang="en-US" altLang="ko-KR" sz="8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SMEMBERS </a:t>
              </a:r>
              <a:r>
                <a:rPr lang="en-US" altLang="ko-KR" sz="800">
                  <a:solidFill>
                    <a:prstClr val="black"/>
                  </a:solidFill>
                  <a:latin typeface="맑은 고딕" panose="020B0503020000020004" pitchFamily="50" charset="-127"/>
                </a:rPr>
                <a:t>chat:room:room-7e2af38b</a:t>
              </a:r>
              <a:endPara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</p:grpSp>
      <p:pic>
        <p:nvPicPr>
          <p:cNvPr id="10" name="그림 9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85A7D9-3A5E-10CF-ADB9-59F8163C75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595" b="13084"/>
          <a:stretch>
            <a:fillRect/>
          </a:stretch>
        </p:blipFill>
        <p:spPr>
          <a:xfrm>
            <a:off x="1222077" y="4647349"/>
            <a:ext cx="2885051" cy="214086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1BE5E8F5-A4F7-CFB9-7BF0-8A4DEA928ECB}"/>
              </a:ext>
            </a:extLst>
          </p:cNvPr>
          <p:cNvGrpSpPr/>
          <p:nvPr/>
        </p:nvGrpSpPr>
        <p:grpSpPr>
          <a:xfrm>
            <a:off x="26596" y="6161514"/>
            <a:ext cx="922448" cy="663533"/>
            <a:chOff x="0" y="6161514"/>
            <a:chExt cx="922448" cy="663533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DB8E505-7C88-C1D8-A49D-90784D17C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7827" y="6632606"/>
              <a:ext cx="143119" cy="113508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7D116C2E-AB6C-B128-F884-BCE0F8E7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3063" y="6460243"/>
              <a:ext cx="143120" cy="14842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82F14ED-E258-83E7-495A-D5B87A5FA67E}"/>
                </a:ext>
              </a:extLst>
            </p:cNvPr>
            <p:cNvSpPr txBox="1"/>
            <p:nvPr/>
          </p:nvSpPr>
          <p:spPr>
            <a:xfrm>
              <a:off x="267857" y="6161514"/>
              <a:ext cx="654591" cy="626701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String</a:t>
              </a:r>
              <a:endPara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HashKey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Set</a:t>
              </a: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DAC89A8-B73A-7117-F131-E90B9A6E8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3537" y="6357241"/>
              <a:ext cx="173019" cy="79300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38AEDC0-E39F-B20F-4108-D4C34A346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8810" y="6224587"/>
              <a:ext cx="127373" cy="103111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0490522-028E-18B3-B1EE-EA360975AE7F}"/>
                </a:ext>
              </a:extLst>
            </p:cNvPr>
            <p:cNvSpPr/>
            <p:nvPr/>
          </p:nvSpPr>
          <p:spPr>
            <a:xfrm>
              <a:off x="0" y="6161514"/>
              <a:ext cx="922448" cy="66353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45232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5500800-D74F-46EA-3B9A-5D30BF76585C}"/>
              </a:ext>
            </a:extLst>
          </p:cNvPr>
          <p:cNvSpPr/>
          <p:nvPr/>
        </p:nvSpPr>
        <p:spPr>
          <a:xfrm>
            <a:off x="985931" y="696040"/>
            <a:ext cx="4726100" cy="41125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로그인한 상담사 수</a:t>
            </a:r>
            <a:endParaRPr lang="en-US" altLang="ko-KR" sz="110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   - </a:t>
            </a:r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웹소켓에 연결한 상담사로 체크할까</a:t>
            </a:r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11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A417C3-F47C-9D3B-56EE-3C720DF337EC}"/>
              </a:ext>
            </a:extLst>
          </p:cNvPr>
          <p:cNvSpPr txBox="1"/>
          <p:nvPr/>
        </p:nvSpPr>
        <p:spPr>
          <a:xfrm>
            <a:off x="280554" y="1418064"/>
            <a:ext cx="275058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messagingTemplate</a:t>
            </a:r>
          </a:p>
          <a:p>
            <a:r>
              <a:rPr lang="en-US" altLang="ko-KR" sz="1100"/>
              <a:t>SimpMessagingTemplate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8AE9D-C591-8BF0-07FD-7805C06F6960}"/>
              </a:ext>
            </a:extLst>
          </p:cNvPr>
          <p:cNvSpPr txBox="1"/>
          <p:nvPr/>
        </p:nvSpPr>
        <p:spPr>
          <a:xfrm>
            <a:off x="2519901" y="1418064"/>
            <a:ext cx="23023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redisTemplate</a:t>
            </a:r>
          </a:p>
          <a:p>
            <a:r>
              <a:rPr lang="en-US" altLang="ko-KR" sz="1100"/>
              <a:t>StringRedisTemplate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250D2FC-5DC0-8684-ECB9-658343EEF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747163"/>
              </p:ext>
            </p:extLst>
          </p:nvPr>
        </p:nvGraphicFramePr>
        <p:xfrm>
          <a:off x="899335" y="308210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F36CCF9-A0B8-E19F-AEE4-16A64991F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087442"/>
              </p:ext>
            </p:extLst>
          </p:nvPr>
        </p:nvGraphicFramePr>
        <p:xfrm>
          <a:off x="2456750" y="554957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disconnectedAt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0A11C31-0851-3699-E133-90D36CDD9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457940"/>
              </p:ext>
            </p:extLst>
          </p:nvPr>
        </p:nvGraphicFramePr>
        <p:xfrm>
          <a:off x="2456761" y="3476079"/>
          <a:ext cx="94866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6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createdAt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status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79895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FD8639E-496F-2E75-77A3-2E50ED255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34536"/>
              </p:ext>
            </p:extLst>
          </p:nvPr>
        </p:nvGraphicFramePr>
        <p:xfrm>
          <a:off x="4017013" y="4092402"/>
          <a:ext cx="944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AgentAssignment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joinedAt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leftAt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퇴장시간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547903C-FABD-07A3-0168-4969611E3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68045"/>
              </p:ext>
            </p:extLst>
          </p:nvPr>
        </p:nvGraphicFramePr>
        <p:xfrm>
          <a:off x="899335" y="400096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Message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senderType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timestamp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EB03029-F272-B8CE-4412-72CB93685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683633"/>
              </p:ext>
            </p:extLst>
          </p:nvPr>
        </p:nvGraphicFramePr>
        <p:xfrm>
          <a:off x="2458652" y="457071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8AB9DDD6-70BB-A17A-B2D1-0F7804F17FE8}"/>
              </a:ext>
            </a:extLst>
          </p:cNvPr>
          <p:cNvSpPr txBox="1"/>
          <p:nvPr/>
        </p:nvSpPr>
        <p:spPr>
          <a:xfrm>
            <a:off x="-101381" y="3476079"/>
            <a:ext cx="100071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ko-KR" altLang="en-US" sz="500"/>
              <a:t>여러 </a:t>
            </a:r>
            <a:r>
              <a:rPr lang="en-US" altLang="ko-KR" sz="500"/>
              <a:t>ChatRoom</a:t>
            </a:r>
            <a:r>
              <a:rPr lang="ko-KR" altLang="en-US" sz="500"/>
              <a:t>을 생성 가능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C4D6BA5-D243-42C2-CE67-DB6CD4FFB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067212"/>
              </p:ext>
            </p:extLst>
          </p:nvPr>
        </p:nvGraphicFramePr>
        <p:xfrm>
          <a:off x="4126550" y="2765598"/>
          <a:ext cx="83534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534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ChatBot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</a:tbl>
          </a:graphicData>
        </a:graphic>
      </p:graphicFrame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D08EC7E-C1E9-A1B5-5C90-DE10F856B2C8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1371775" y="3630747"/>
            <a:ext cx="0" cy="37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A893B0-6A39-56A0-5E8E-C874EA867C7C}"/>
              </a:ext>
            </a:extLst>
          </p:cNvPr>
          <p:cNvSpPr txBox="1"/>
          <p:nvPr/>
        </p:nvSpPr>
        <p:spPr>
          <a:xfrm>
            <a:off x="1313224" y="3741891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AE7958-F635-7666-14F2-B5FDB9DE1E4F}"/>
              </a:ext>
            </a:extLst>
          </p:cNvPr>
          <p:cNvSpPr txBox="1"/>
          <p:nvPr/>
        </p:nvSpPr>
        <p:spPr>
          <a:xfrm>
            <a:off x="2039878" y="3916323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C05DFC2-46C1-72D5-D651-EAE0CC3A2577}"/>
              </a:ext>
            </a:extLst>
          </p:cNvPr>
          <p:cNvCxnSpPr>
            <a:cxnSpLocks/>
          </p:cNvCxnSpPr>
          <p:nvPr/>
        </p:nvCxnSpPr>
        <p:spPr>
          <a:xfrm flipH="1">
            <a:off x="1844215" y="4092709"/>
            <a:ext cx="612535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F5F768CB-2170-FB7B-6F72-2D924A5CB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82831"/>
              </p:ext>
            </p:extLst>
          </p:nvPr>
        </p:nvGraphicFramePr>
        <p:xfrm>
          <a:off x="4852817" y="387024"/>
          <a:ext cx="6779346" cy="130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00">
                  <a:extLst>
                    <a:ext uri="{9D8B030D-6E8A-4147-A177-3AD203B41FA5}">
                      <a16:colId xmlns:a16="http://schemas.microsoft.com/office/drawing/2014/main" val="73597837"/>
                    </a:ext>
                  </a:extLst>
                </a:gridCol>
                <a:gridCol w="12129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632000">
                  <a:extLst>
                    <a:ext uri="{9D8B030D-6E8A-4147-A177-3AD203B41FA5}">
                      <a16:colId xmlns:a16="http://schemas.microsoft.com/office/drawing/2014/main" val="3191257845"/>
                    </a:ext>
                  </a:extLst>
                </a:gridCol>
                <a:gridCol w="3801046">
                  <a:extLst>
                    <a:ext uri="{9D8B030D-6E8A-4147-A177-3AD203B41FA5}">
                      <a16:colId xmlns:a16="http://schemas.microsoft.com/office/drawing/2014/main" val="3397160578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테이블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생성할 수 있음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고객과 챗봇으로 시작 → 상담사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대화의 컨테이너 역할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처음에는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 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상담사 추가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챗봇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초기 자동응답 담당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상담사참여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상담사의 입장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퇴장 시간 기록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상담사가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참여한 기록 관리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상담사가 동시에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Message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메시지는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속함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속한 대화 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senderType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Customer/Agent/ChatBot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80103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7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Session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세션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또는 상담사의 연결 상태 추적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777507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137F59A7-D574-9A96-C6C8-D83A3C7E7524}"/>
              </a:ext>
            </a:extLst>
          </p:cNvPr>
          <p:cNvCxnSpPr>
            <a:cxnSpLocks/>
          </p:cNvCxnSpPr>
          <p:nvPr/>
        </p:nvCxnSpPr>
        <p:spPr>
          <a:xfrm>
            <a:off x="2930136" y="4207599"/>
            <a:ext cx="0" cy="3631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80E084C-2032-449B-31CA-C6E2C603C8FC}"/>
              </a:ext>
            </a:extLst>
          </p:cNvPr>
          <p:cNvSpPr txBox="1"/>
          <p:nvPr/>
        </p:nvSpPr>
        <p:spPr>
          <a:xfrm>
            <a:off x="2930136" y="4336456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41C82D0-ED6D-09FF-6A64-0CDE116863E5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2929190" y="5119357"/>
            <a:ext cx="1902" cy="43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6AEF3A8-DD32-8BAF-01F2-BB9978C09ECE}"/>
              </a:ext>
            </a:extLst>
          </p:cNvPr>
          <p:cNvSpPr txBox="1"/>
          <p:nvPr/>
        </p:nvSpPr>
        <p:spPr>
          <a:xfrm>
            <a:off x="2930136" y="5276674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A374EBC-4AE2-9761-C02D-9F9492D2A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235" y="4757548"/>
            <a:ext cx="1947869" cy="1947869"/>
          </a:xfrm>
          <a:prstGeom prst="rect">
            <a:avLst/>
          </a:prstGeom>
        </p:spPr>
      </p:pic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9E908A7C-B109-E63C-29E1-64CCB3015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196176"/>
              </p:ext>
            </p:extLst>
          </p:nvPr>
        </p:nvGraphicFramePr>
        <p:xfrm>
          <a:off x="7495592" y="5276674"/>
          <a:ext cx="9448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last_connected_at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0B2B74E-DA34-43DE-E31A-E9678475C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4300348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175403D-39D3-7C6E-EE95-3E7507B98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2442027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2572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전자제품, 스크린샷, 소프트웨어이(가) 표시된 사진">
            <a:extLst>
              <a:ext uri="{FF2B5EF4-FFF2-40B4-BE49-F238E27FC236}">
                <a16:creationId xmlns:a16="http://schemas.microsoft.com/office/drawing/2014/main" id="{0AF11847-6120-485A-4FA4-5E271273EB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91" b="77267"/>
          <a:stretch>
            <a:fillRect/>
          </a:stretch>
        </p:blipFill>
        <p:spPr>
          <a:xfrm>
            <a:off x="327874" y="160019"/>
            <a:ext cx="3576638" cy="414870"/>
          </a:xfrm>
          <a:prstGeom prst="rect">
            <a:avLst/>
          </a:prstGeom>
        </p:spPr>
      </p:pic>
      <p:pic>
        <p:nvPicPr>
          <p:cNvPr id="11" name="그림 10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288910-6C40-59BF-5C1F-B7EAA58F3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883" y="3836547"/>
            <a:ext cx="3576638" cy="2476500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C4CE40-2460-10F1-99F3-03FDC71B0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884" y="2709813"/>
            <a:ext cx="3495675" cy="1028700"/>
          </a:xfrm>
          <a:prstGeom prst="rect">
            <a:avLst/>
          </a:prstGeom>
        </p:spPr>
      </p:pic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532B16-3B32-F5B2-12D5-C79AE9375D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2885" y="1383054"/>
            <a:ext cx="3471863" cy="1228725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3B8772-FCCB-C13D-07B0-339CDD4365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883" y="75345"/>
            <a:ext cx="3490913" cy="1209675"/>
          </a:xfrm>
          <a:prstGeom prst="rect">
            <a:avLst/>
          </a:prstGeom>
        </p:spPr>
      </p:pic>
      <p:pic>
        <p:nvPicPr>
          <p:cNvPr id="21" name="그림 2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297444-8AED-B863-366A-43B50BD17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246" y="683550"/>
            <a:ext cx="3471863" cy="1509713"/>
          </a:xfrm>
          <a:prstGeom prst="rect">
            <a:avLst/>
          </a:prstGeom>
        </p:spPr>
      </p:pic>
      <p:pic>
        <p:nvPicPr>
          <p:cNvPr id="23" name="그림 2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4AE7-B28F-EAD0-B56E-C4195823AD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493" y="2293608"/>
            <a:ext cx="3476625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5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16550</TotalTime>
  <Words>4517</Words>
  <Application>Microsoft Office PowerPoint</Application>
  <PresentationFormat>와이드스크린</PresentationFormat>
  <Paragraphs>1045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D2Coding</vt:lpstr>
      <vt:lpstr>Droid Serif</vt:lpstr>
      <vt:lpstr>fkGroteskNeue</vt:lpstr>
      <vt:lpstr>JetBrains Mono</vt:lpstr>
      <vt:lpstr>맑은 고딕</vt:lpstr>
      <vt:lpstr>Arial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168</cp:revision>
  <dcterms:created xsi:type="dcterms:W3CDTF">2026-01-15T04:46:25Z</dcterms:created>
  <dcterms:modified xsi:type="dcterms:W3CDTF">2026-02-07T16:46:23Z</dcterms:modified>
</cp:coreProperties>
</file>