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57" r:id="rId4"/>
    <p:sldId id="258" r:id="rId5"/>
    <p:sldId id="260" r:id="rId6"/>
    <p:sldId id="265" r:id="rId7"/>
    <p:sldId id="261" r:id="rId8"/>
    <p:sldId id="262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64"/>
            <p14:sldId id="257"/>
            <p14:sldId id="258"/>
            <p14:sldId id="260"/>
            <p14:sldId id="265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79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67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014850" y="3984237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5. 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33455E-0F0B-B104-8DD5-CA0B56CFBCB3}"/>
              </a:ext>
            </a:extLst>
          </p:cNvPr>
          <p:cNvSpPr/>
          <p:nvPr/>
        </p:nvSpPr>
        <p:spPr>
          <a:xfrm>
            <a:off x="1977242" y="1425038"/>
            <a:ext cx="1745672" cy="2161309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25ADE1-18E6-B0C4-AE54-C5C3B7503A3D}"/>
              </a:ext>
            </a:extLst>
          </p:cNvPr>
          <p:cNvSpPr/>
          <p:nvPr/>
        </p:nvSpPr>
        <p:spPr>
          <a:xfrm>
            <a:off x="1972788" y="635650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/frontend/chat-customer.html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BB5645-A029-FCE0-C1AA-295D02C84E94}"/>
              </a:ext>
            </a:extLst>
          </p:cNvPr>
          <p:cNvSpPr/>
          <p:nvPr/>
        </p:nvSpPr>
        <p:spPr>
          <a:xfrm>
            <a:off x="2012155" y="804852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/frontend/chat-agent.html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57BA3F-D9AC-FC9F-1736-1CB8D4AF8C7E}"/>
              </a:ext>
            </a:extLst>
          </p:cNvPr>
          <p:cNvSpPr/>
          <p:nvPr/>
        </p:nvSpPr>
        <p:spPr>
          <a:xfrm>
            <a:off x="4964000" y="809958"/>
            <a:ext cx="53958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94BB61B-0F2B-DD6B-6530-9473725AFEE0}"/>
              </a:ext>
            </a:extLst>
          </p:cNvPr>
          <p:cNvSpPr/>
          <p:nvPr/>
        </p:nvSpPr>
        <p:spPr>
          <a:xfrm>
            <a:off x="4964000" y="911510"/>
            <a:ext cx="889113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STOMP over 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8B1F347-6DCB-4C0D-D189-62C114C7ABDD}"/>
              </a:ext>
            </a:extLst>
          </p:cNvPr>
          <p:cNvSpPr/>
          <p:nvPr/>
        </p:nvSpPr>
        <p:spPr>
          <a:xfrm>
            <a:off x="6199835" y="628983"/>
            <a:ext cx="53958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 ws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4601715-87DA-AC31-C8F5-0CBCF9CF11B6}"/>
              </a:ext>
            </a:extLst>
          </p:cNvPr>
          <p:cNvSpPr/>
          <p:nvPr/>
        </p:nvSpPr>
        <p:spPr>
          <a:xfrm>
            <a:off x="6199835" y="702803"/>
            <a:ext cx="53958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2F8E8A6-FB02-EA4D-3E4A-4134090C2DF4}"/>
              </a:ext>
            </a:extLst>
          </p:cNvPr>
          <p:cNvSpPr/>
          <p:nvPr/>
        </p:nvSpPr>
        <p:spPr>
          <a:xfrm>
            <a:off x="9406684" y="5779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1.AICC (FRONTEND)-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0133F07-A277-D58F-B41A-7E06C7E1A7D0}"/>
              </a:ext>
            </a:extLst>
          </p:cNvPr>
          <p:cNvSpPr/>
          <p:nvPr/>
        </p:nvSpPr>
        <p:spPr>
          <a:xfrm>
            <a:off x="9406684" y="107629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3.AICC (BACKEND) - 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89D89F-4C50-630E-B95F-F3EA1D38B599}"/>
              </a:ext>
            </a:extLst>
          </p:cNvPr>
          <p:cNvSpPr/>
          <p:nvPr/>
        </p:nvSpPr>
        <p:spPr>
          <a:xfrm>
            <a:off x="10563540" y="5779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Next.js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345F31-01F5-7F5E-4E09-2F23B73B9517}"/>
              </a:ext>
            </a:extLst>
          </p:cNvPr>
          <p:cNvSpPr/>
          <p:nvPr/>
        </p:nvSpPr>
        <p:spPr>
          <a:xfrm>
            <a:off x="10563540" y="10654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SpringBoot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30AFF8-C6F9-13AF-F4B8-32995466A308}"/>
              </a:ext>
            </a:extLst>
          </p:cNvPr>
          <p:cNvSpPr/>
          <p:nvPr/>
        </p:nvSpPr>
        <p:spPr>
          <a:xfrm>
            <a:off x="11258865" y="577977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A8B6501-3113-B6AB-9B01-BF122E4BB16A}"/>
              </a:ext>
            </a:extLst>
          </p:cNvPr>
          <p:cNvSpPr/>
          <p:nvPr/>
        </p:nvSpPr>
        <p:spPr>
          <a:xfrm>
            <a:off x="9397585" y="325565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0.NGINX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AD176A5-234B-2647-525C-79A31D85C83B}"/>
              </a:ext>
            </a:extLst>
          </p:cNvPr>
          <p:cNvCxnSpPr>
            <a:cxnSpLocks/>
          </p:cNvCxnSpPr>
          <p:nvPr/>
        </p:nvCxnSpPr>
        <p:spPr>
          <a:xfrm>
            <a:off x="11393932" y="728755"/>
            <a:ext cx="0" cy="33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5DC51B8-A059-1BF9-61D7-E6FB3500F024}"/>
              </a:ext>
            </a:extLst>
          </p:cNvPr>
          <p:cNvSpPr/>
          <p:nvPr/>
        </p:nvSpPr>
        <p:spPr>
          <a:xfrm>
            <a:off x="11258865" y="1070239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8080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AE3B7D8-C2DC-D6EC-7923-42172FF6449A}"/>
              </a:ext>
            </a:extLst>
          </p:cNvPr>
          <p:cNvSpPr/>
          <p:nvPr/>
        </p:nvSpPr>
        <p:spPr>
          <a:xfrm>
            <a:off x="8982672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82A19F2-C145-2B4B-2042-591B1C21A566}"/>
              </a:ext>
            </a:extLst>
          </p:cNvPr>
          <p:cNvSpPr/>
          <p:nvPr/>
        </p:nvSpPr>
        <p:spPr>
          <a:xfrm>
            <a:off x="7787997" y="436288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455647B-B05D-06ED-0C7A-0F09759703F6}"/>
              </a:ext>
            </a:extLst>
          </p:cNvPr>
          <p:cNvSpPr/>
          <p:nvPr/>
        </p:nvSpPr>
        <p:spPr>
          <a:xfrm>
            <a:off x="9406684" y="7363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2.AICC (FRONTEND)-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F374B6-11BF-8540-D3F7-A5692AFA9FFD}"/>
              </a:ext>
            </a:extLst>
          </p:cNvPr>
          <p:cNvSpPr/>
          <p:nvPr/>
        </p:nvSpPr>
        <p:spPr>
          <a:xfrm>
            <a:off x="9406684" y="1244002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4.AICC (BACKEND) - 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3BE02E9-AFD7-1FE6-E3B2-3520E9827EFE}"/>
              </a:ext>
            </a:extLst>
          </p:cNvPr>
          <p:cNvSpPr/>
          <p:nvPr/>
        </p:nvSpPr>
        <p:spPr>
          <a:xfrm>
            <a:off x="7998280" y="1173261"/>
            <a:ext cx="629253" cy="15388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2" name="연결선: 구부러짐 61">
            <a:extLst>
              <a:ext uri="{FF2B5EF4-FFF2-40B4-BE49-F238E27FC236}">
                <a16:creationId xmlns:a16="http://schemas.microsoft.com/office/drawing/2014/main" id="{CFFA365F-CB69-86C2-832F-0887D0C16059}"/>
              </a:ext>
            </a:extLst>
          </p:cNvPr>
          <p:cNvCxnSpPr>
            <a:cxnSpLocks/>
            <a:stCxn id="41" idx="2"/>
            <a:endCxn id="35" idx="1"/>
          </p:cNvCxnSpPr>
          <p:nvPr/>
        </p:nvCxnSpPr>
        <p:spPr>
          <a:xfrm rot="5400000" flipH="1" flipV="1">
            <a:off x="8473586" y="-16542"/>
            <a:ext cx="502691" cy="1345305"/>
          </a:xfrm>
          <a:prstGeom prst="curvedConnector4">
            <a:avLst>
              <a:gd name="adj1" fmla="val -45475"/>
              <a:gd name="adj2" fmla="val 596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A74F53-0FC0-23C1-3C67-9F6BED6F596D}"/>
              </a:ext>
            </a:extLst>
          </p:cNvPr>
          <p:cNvSpPr/>
          <p:nvPr/>
        </p:nvSpPr>
        <p:spPr>
          <a:xfrm>
            <a:off x="9352907" y="1022858"/>
            <a:ext cx="2334712" cy="42344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EEC5E6-4675-DBB4-1CF6-5DF102B050D9}"/>
              </a:ext>
            </a:extLst>
          </p:cNvPr>
          <p:cNvSpPr/>
          <p:nvPr/>
        </p:nvSpPr>
        <p:spPr>
          <a:xfrm>
            <a:off x="7792405" y="510896"/>
            <a:ext cx="519749" cy="3965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6932FF8-2484-1927-CEAB-200D3D91C383}"/>
              </a:ext>
            </a:extLst>
          </p:cNvPr>
          <p:cNvSpPr/>
          <p:nvPr/>
        </p:nvSpPr>
        <p:spPr>
          <a:xfrm>
            <a:off x="7814997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이벤트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4A3700F-1295-4BB8-E331-8A34CC681E4E}"/>
              </a:ext>
            </a:extLst>
          </p:cNvPr>
          <p:cNvSpPr txBox="1"/>
          <p:nvPr/>
        </p:nvSpPr>
        <p:spPr>
          <a:xfrm>
            <a:off x="3150286" y="-19214"/>
            <a:ext cx="46324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http://localhost:28070/frontend/chat-customer.html 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(ui)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http://localhost:28070/api/me (api)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http://localhost:28070/ws-chat/info?token=eyJn0=&amp;roomId=roomid&amp;t=17690 (stomp)     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ws://localhost:28070/ws-chat/641/fwznlidm/websocket?token=e&amp;roomId=rfa1 (websocke)</a:t>
            </a:r>
            <a:endParaRPr lang="ko-KR" altLang="en-US" sz="7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D1CB403-7876-FD98-E8D6-573D4DF1B5EC}"/>
              </a:ext>
            </a:extLst>
          </p:cNvPr>
          <p:cNvSpPr txBox="1"/>
          <p:nvPr/>
        </p:nvSpPr>
        <p:spPr>
          <a:xfrm>
            <a:off x="6961060" y="-19214"/>
            <a:ext cx="22747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[ 0-&gt;1 ]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[ 0-&gt;5 ? ]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[ 0-&gt;5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[ 0 -&gt; 5 </a:t>
            </a:r>
            <a:endParaRPr lang="ko-KR" altLang="en-US" sz="7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80" name="연결선: 구부러짐 79">
            <a:extLst>
              <a:ext uri="{FF2B5EF4-FFF2-40B4-BE49-F238E27FC236}">
                <a16:creationId xmlns:a16="http://schemas.microsoft.com/office/drawing/2014/main" id="{1633DF1E-A6DA-1C1A-EFA7-4ADE034C25AF}"/>
              </a:ext>
            </a:extLst>
          </p:cNvPr>
          <p:cNvCxnSpPr>
            <a:stCxn id="70" idx="1"/>
          </p:cNvCxnSpPr>
          <p:nvPr/>
        </p:nvCxnSpPr>
        <p:spPr>
          <a:xfrm rot="10800000" flipV="1">
            <a:off x="8281989" y="1234582"/>
            <a:ext cx="1070919" cy="81591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순서도: 자기 디스크 86">
            <a:extLst>
              <a:ext uri="{FF2B5EF4-FFF2-40B4-BE49-F238E27FC236}">
                <a16:creationId xmlns:a16="http://schemas.microsoft.com/office/drawing/2014/main" id="{7A56F87E-0619-F265-39FA-8183ED13B9F6}"/>
              </a:ext>
            </a:extLst>
          </p:cNvPr>
          <p:cNvSpPr/>
          <p:nvPr/>
        </p:nvSpPr>
        <p:spPr>
          <a:xfrm>
            <a:off x="5909001" y="3984237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PostgreSQL</a:t>
            </a:r>
          </a:p>
          <a:p>
            <a:pPr algn="ctr"/>
            <a:r>
              <a:rPr lang="ko-KR" altLang="en-US" sz="700">
                <a:solidFill>
                  <a:schemeClr val="tx1"/>
                </a:solidFill>
              </a:rPr>
              <a:t>이력</a:t>
            </a:r>
          </a:p>
        </p:txBody>
      </p:sp>
    </p:spTree>
    <p:extLst>
      <p:ext uri="{BB962C8B-B14F-4D97-AF65-F5344CB8AC3E}">
        <p14:creationId xmlns:p14="http://schemas.microsoft.com/office/powerpoint/2010/main" val="173696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CE798-5239-978C-4F26-B39DD1E49F76}"/>
              </a:ext>
            </a:extLst>
          </p:cNvPr>
          <p:cNvSpPr txBox="1"/>
          <p:nvPr/>
        </p:nvSpPr>
        <p:spPr>
          <a:xfrm>
            <a:off x="3203510" y="1050085"/>
            <a:ext cx="1573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>
                <a:effectLst/>
                <a:latin typeface="fkGroteskNeue"/>
              </a:rPr>
              <a:t>Access Token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7D4D1-381B-D057-3768-827DD9E20B50}"/>
              </a:ext>
            </a:extLst>
          </p:cNvPr>
          <p:cNvSpPr txBox="1"/>
          <p:nvPr/>
        </p:nvSpPr>
        <p:spPr>
          <a:xfrm>
            <a:off x="3203510" y="1703228"/>
            <a:ext cx="1922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Refresh Token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6724262" y="1788367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5766320" y="4122967"/>
            <a:ext cx="6096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1100">
                <a:effectLst/>
                <a:latin typeface="fkGroteskNeue"/>
              </a:rPr>
              <a:t>웹소켓 연결 시 </a:t>
            </a:r>
            <a:r>
              <a:rPr lang="en-US" altLang="ko-KR" sz="1100">
                <a:effectLst/>
                <a:latin typeface="fkGroteskNeue"/>
              </a:rPr>
              <a:t>Access Token</a:t>
            </a:r>
            <a:r>
              <a:rPr lang="ko-KR" altLang="en-US" sz="1100">
                <a:effectLst/>
                <a:latin typeface="fkGroteskNeue"/>
              </a:rPr>
              <a:t>을 쿼리 파라미터나 헤더로 전달하고</a:t>
            </a:r>
            <a:r>
              <a:rPr lang="en-US" altLang="ko-KR" sz="1100">
                <a:effectLst/>
                <a:latin typeface="fkGroteskNeue"/>
              </a:rPr>
              <a:t>, </a:t>
            </a:r>
            <a:r>
              <a:rPr lang="ko-KR" altLang="en-US" sz="1100">
                <a:effectLst/>
                <a:latin typeface="fkGroteskNeue"/>
              </a:rPr>
              <a:t>만료 시 클라이언트가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으로 재발급 요청을 보냅니다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ko-KR" altLang="en-US" sz="11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1100">
                <a:effectLst/>
                <a:latin typeface="fkGroteskNeue"/>
              </a:rPr>
              <a:t>, Refresh API(/refresh)</a:t>
            </a:r>
            <a:r>
              <a:rPr lang="ko-KR" altLang="en-US" sz="11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en-US" altLang="ko-KR" sz="1100">
                <a:effectLst/>
                <a:latin typeface="fkGroteskNeue"/>
              </a:rPr>
              <a:t>Redis</a:t>
            </a:r>
            <a:r>
              <a:rPr lang="ko-KR" altLang="en-US" sz="1100">
                <a:effectLst/>
                <a:latin typeface="fkGroteskNeue"/>
              </a:rPr>
              <a:t>에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11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1100" b="0" i="0">
                <a:effectLst/>
                <a:latin typeface="fkGroteskNeue"/>
              </a:rPr>
              <a:t>Refresh Token </a:t>
            </a:r>
            <a:r>
              <a:rPr lang="ko-KR" altLang="en-US" sz="1100" b="0" i="0">
                <a:effectLst/>
                <a:latin typeface="fkGroteskNeue"/>
              </a:rPr>
              <a:t>블랙리스트</a:t>
            </a:r>
            <a:r>
              <a:rPr lang="en-US" altLang="ko-KR" sz="1100" b="0" i="0">
                <a:effectLst/>
                <a:latin typeface="fkGroteskNeue"/>
              </a:rPr>
              <a:t>(Redis SETEX </a:t>
            </a:r>
            <a:r>
              <a:rPr lang="ko-KR" altLang="en-US" sz="1100" b="0" i="0">
                <a:effectLst/>
                <a:latin typeface="fkGroteskNeue"/>
              </a:rPr>
              <a:t>사용</a:t>
            </a:r>
            <a:r>
              <a:rPr lang="en-US" altLang="ko-KR" sz="1100" b="0" i="0">
                <a:effectLst/>
                <a:latin typeface="fkGroteskNeue"/>
              </a:rPr>
              <a:t>)</a:t>
            </a:r>
            <a:r>
              <a:rPr lang="ko-KR" altLang="en-US" sz="1100" b="0" i="0">
                <a:effectLst/>
                <a:latin typeface="fkGroteskNeue"/>
              </a:rPr>
              <a:t>로 로그아웃 시 무효화하세요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고객 정보는 </a:t>
            </a:r>
            <a:r>
              <a:rPr lang="en-US" altLang="ko-KR" sz="1100" b="0" i="0">
                <a:effectLst/>
                <a:latin typeface="fkGroteskNeue"/>
              </a:rPr>
              <a:t>Access Token</a:t>
            </a:r>
            <a:r>
              <a:rPr lang="ko-KR" altLang="en-US" sz="1100" b="0" i="0">
                <a:effectLst/>
                <a:latin typeface="fkGroteskNeue"/>
              </a:rPr>
              <a:t>에 최소화하고</a:t>
            </a:r>
            <a:r>
              <a:rPr lang="en-US" altLang="ko-KR" sz="1100" b="0" i="0">
                <a:effectLst/>
                <a:latin typeface="fkGroteskNeue"/>
              </a:rPr>
              <a:t>, </a:t>
            </a:r>
            <a:r>
              <a:rPr lang="ko-KR" altLang="en-US" sz="1100" b="0" i="0">
                <a:effectLst/>
                <a:latin typeface="fkGroteskNeue"/>
              </a:rPr>
              <a:t>필요 시 서버 </a:t>
            </a:r>
            <a:r>
              <a:rPr lang="en-US" altLang="ko-KR" sz="1100" b="0" i="0">
                <a:effectLst/>
                <a:latin typeface="fkGroteskNeue"/>
              </a:rPr>
              <a:t>DB </a:t>
            </a:r>
            <a:r>
              <a:rPr lang="ko-KR" altLang="en-US" sz="1100" b="0" i="0">
                <a:effectLst/>
                <a:latin typeface="fkGroteskNeue"/>
              </a:rPr>
              <a:t>조회로 보완합니다</a:t>
            </a:r>
            <a:r>
              <a:rPr lang="en-US" altLang="ko-KR" sz="1100" b="0" i="0">
                <a:effectLst/>
                <a:latin typeface="fkGroteskNeue"/>
              </a:rPr>
              <a:t>.​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클라이언트에서는 </a:t>
            </a:r>
            <a:r>
              <a:rPr lang="en-US" altLang="ko-KR" sz="1100" b="0" i="0">
                <a:effectLst/>
                <a:latin typeface="fkGroteskNeue"/>
              </a:rPr>
              <a:t>localStorage </a:t>
            </a:r>
            <a:r>
              <a:rPr lang="ko-KR" altLang="en-US" sz="1100" b="0" i="0">
                <a:effectLst/>
                <a:latin typeface="fkGroteskNeue"/>
              </a:rPr>
              <a:t>대신 </a:t>
            </a:r>
            <a:r>
              <a:rPr lang="en-US" altLang="ko-KR" sz="1100" b="0" i="0">
                <a:effectLst/>
                <a:latin typeface="fkGroteskNeue"/>
              </a:rPr>
              <a:t>httpOnly </a:t>
            </a:r>
            <a:r>
              <a:rPr lang="ko-KR" altLang="en-US" sz="1100" b="0" i="0">
                <a:effectLst/>
                <a:latin typeface="fkGroteskNeue"/>
              </a:rPr>
              <a:t>쿠키를 활용해 </a:t>
            </a:r>
            <a:r>
              <a:rPr lang="en-US" altLang="ko-KR" sz="1100" b="0" i="0">
                <a:effectLst/>
                <a:latin typeface="fkGroteskNeue"/>
              </a:rPr>
              <a:t>XSS </a:t>
            </a:r>
            <a:r>
              <a:rPr lang="ko-KR" altLang="en-US" sz="1100" b="0" i="0">
                <a:effectLst/>
                <a:latin typeface="fkGroteskNeue"/>
              </a:rPr>
              <a:t>공격을 방지하세요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en-US" altLang="ko-KR" sz="1100" b="0" i="0">
                <a:effectLst/>
                <a:latin typeface="fkGroteskNeue"/>
              </a:rPr>
            </a:b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5500800-D74F-46EA-3B9A-5D30BF76585C}"/>
              </a:ext>
            </a:extLst>
          </p:cNvPr>
          <p:cNvSpPr/>
          <p:nvPr/>
        </p:nvSpPr>
        <p:spPr>
          <a:xfrm>
            <a:off x="985931" y="696040"/>
            <a:ext cx="4726100" cy="41125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로그인한 상담사 수</a:t>
            </a:r>
            <a:endParaRPr lang="en-US" altLang="ko-KR" sz="110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   - </a:t>
            </a:r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웹소켓에 연결한 상담사로 체크할까</a:t>
            </a:r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1100">
              <a:solidFill>
                <a:schemeClr val="tx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0725725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10508</TotalTime>
  <Words>1037</Words>
  <Application>Microsoft Office PowerPoint</Application>
  <PresentationFormat>와이드스크린</PresentationFormat>
  <Paragraphs>321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D2Coding</vt:lpstr>
      <vt:lpstr>fkGroteskNeue</vt:lpstr>
      <vt:lpstr>JetBrains Mono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68</cp:revision>
  <dcterms:created xsi:type="dcterms:W3CDTF">2026-01-15T04:46:25Z</dcterms:created>
  <dcterms:modified xsi:type="dcterms:W3CDTF">2026-01-27T04:35:08Z</dcterms:modified>
</cp:coreProperties>
</file>