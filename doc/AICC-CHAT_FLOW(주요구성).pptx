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57" r:id="rId4"/>
    <p:sldId id="258" r:id="rId5"/>
    <p:sldId id="260" r:id="rId6"/>
    <p:sldId id="269" r:id="rId7"/>
    <p:sldId id="267" r:id="rId8"/>
    <p:sldId id="268" r:id="rId9"/>
    <p:sldId id="265" r:id="rId10"/>
    <p:sldId id="261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1DC4481-1774-47CC-9CF2-D4F00A46F26E}">
          <p14:sldIdLst>
            <p14:sldId id="259"/>
            <p14:sldId id="264"/>
            <p14:sldId id="257"/>
            <p14:sldId id="258"/>
            <p14:sldId id="260"/>
          </p14:sldIdLst>
        </p14:section>
        <p14:section name="API" id="{E5130F8B-ECE6-44E2-8F6D-83F7DE5DA0C3}">
          <p14:sldIdLst>
            <p14:sldId id="269"/>
          </p14:sldIdLst>
        </p14:section>
        <p14:section name="Redis KEY 구조" id="{B2F46301-2BB3-4A52-8683-06848834DE10}">
          <p14:sldIdLst>
            <p14:sldId id="267"/>
            <p14:sldId id="268"/>
            <p14:sldId id="265"/>
          </p14:sldIdLst>
        </p14:section>
        <p14:section name="고객화면" id="{484CB7F6-3EBA-48FC-9CC3-BEF38C2BABD7}">
          <p14:sldIdLst>
            <p14:sldId id="261"/>
          </p14:sldIdLst>
        </p14:section>
        <p14:section name="상담사 화면" id="{E1FFBA3C-270B-4127-8038-AE5410F3B4B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9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3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BADE0-6E87-D0D8-2EC6-A4868A535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FC3CC7-DCA4-2377-E6EB-1EB51E42C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C81F5D-76D7-B94F-CA7E-7367E919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18713-09C4-7ADE-8FA8-7101AAED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64C4E-8741-2549-8E23-BE23B6F4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5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29BFB-B2E7-EED9-28C4-66F829EB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74DAE-F15D-4F88-CBC7-3FBF8E243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E85CF3-6C05-84FC-23C7-8C36F709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E3BFDF-2031-6CA9-3B14-D7EC2F7C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209E8-C4E5-8DB6-1EBB-B3F037AB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34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BEC12-1BCE-F426-6B4B-781CECA0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F1146-3FCF-A3D3-D564-75A30321C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BDF94E-BCE3-3B8B-D169-53385A9C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8CB379-C63E-7868-8468-2D6E6034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C6682-CFB4-92C9-82B8-0C794C08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735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A41C6-71B6-1B35-11DB-8C4B9966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934443-AC1E-2304-60C6-54739C8E2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3EAE78-2C4F-B16E-845E-97453F800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58C661-0C4D-5ECE-122C-D7935061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FD5289-5227-0188-C034-3489DCFDA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AF9366-6E7C-8ECD-6F7C-9447EE06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39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835A8-F847-8D8F-976F-DBCD9755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E38336-2FEF-686A-5E3B-7BD937E30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053CD1-45B1-0F98-C8EA-93E283D4B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A46BFD-8434-10F5-6CF1-165200892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31AD57-69B0-9E22-65FF-7E0E6A992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F49792-0402-9817-7E40-A79E178C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3EB336-056C-9C29-5361-96430C8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D9A62D-1107-121B-E5A0-B34B91D5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3D5A9-083B-D610-0156-B97A6856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C26963-F590-870D-FB44-37DD4A4C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DDEB24-9116-85D9-F093-13C0F982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C8FF41-AEFC-DF22-1277-95AB486C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77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E48ACA-7E7C-D239-CF79-94C61D1D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2AEAC-5CF0-3DB2-11A6-20016553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BDEF32-E05D-C200-EAF1-02AC95B9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0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44C9A-918A-55C0-526C-E40D2EA6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B7F7F7-C642-C562-B761-A8E7EDF22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8B061F-6D51-23E3-B9BD-E90183063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05B9-4BD4-F36A-4C0D-B4B29AFA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9A382D-6A3C-7CF8-40B9-43FBD73D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DDBE9-4C37-2872-63F9-4E30A83C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3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DC895-6BAB-FC9F-7506-26C5BF1D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D183FA-202B-BA95-FFA0-41D526DFE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E35149-674B-D79F-3144-D48D74A50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1A7230-02C1-8975-B7D0-9ED83A2C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3E0FE4-F4A3-9497-5760-557D1B00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33765A-4BFE-222D-0F2A-F805CF67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29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552D3-70C7-BBD8-6EF9-7788BC22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8E82AE-8E19-E083-26C6-166FEB376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8F4D95-551D-73DB-D5A6-78FC93AB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9288B-0165-FB5E-CC59-C810CB59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BBEDE1-5D3A-7FFD-4D16-2926585B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8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9BF3D8-4CBF-945E-D961-84DA5F612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360446-323E-5096-12BD-65364B39E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41F777-3CC6-8C49-475E-61C060E6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8C438-96C6-E349-FF68-9B517680C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FDB44-5826-EB26-CFB2-5DB5DDD4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9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348692-EE1F-2A74-99A4-686FAF191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48F27E-BE22-9BBA-7386-51F54206B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08014B-05AF-88F9-BCD7-B0DCB2193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A63DD-D2EB-4C3F-966A-60A2BDD38F7F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FA50D-21CA-A409-878E-40E76E14F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4AF15-D425-D9F6-E79C-E1C6554AA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D7985-3E80-41E6-A03F-BCF3D0761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99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42B6E7-A6DB-FE67-440F-F1BA875F0438}"/>
              </a:ext>
            </a:extLst>
          </p:cNvPr>
          <p:cNvSpPr/>
          <p:nvPr/>
        </p:nvSpPr>
        <p:spPr>
          <a:xfrm>
            <a:off x="-1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개발 언어 고려 점</a:t>
            </a: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19EE4E97-0CBA-7981-1C22-E4B1A9AACB6B}"/>
              </a:ext>
            </a:extLst>
          </p:cNvPr>
          <p:cNvSpPr/>
          <p:nvPr/>
        </p:nvSpPr>
        <p:spPr>
          <a:xfrm>
            <a:off x="443846" y="526175"/>
            <a:ext cx="2413653" cy="159400"/>
          </a:xfrm>
          <a:prstGeom prst="flowChartAlternateProcess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r>
              <a:rPr lang="en-US" altLang="ko-KR" sz="700" b="1">
                <a:solidFill>
                  <a:schemeClr val="tx1"/>
                </a:solidFill>
              </a:rPr>
              <a:t>BACKEND </a:t>
            </a:r>
            <a:r>
              <a:rPr lang="ko-KR" altLang="en-US" sz="700" b="1">
                <a:solidFill>
                  <a:schemeClr val="tx1"/>
                </a:solidFill>
              </a:rPr>
              <a:t>개발 시 </a:t>
            </a:r>
            <a:r>
              <a:rPr lang="en-US" altLang="ko-KR" sz="700" b="1">
                <a:solidFill>
                  <a:schemeClr val="tx1"/>
                </a:solidFill>
              </a:rPr>
              <a:t>LANGUAGE </a:t>
            </a:r>
            <a:r>
              <a:rPr lang="ko-KR" altLang="en-US" sz="700" b="1">
                <a:solidFill>
                  <a:schemeClr val="tx1"/>
                </a:solidFill>
              </a:rPr>
              <a:t>고려점</a:t>
            </a:r>
            <a:endParaRPr lang="en-US" altLang="ko-KR" sz="700" b="1">
              <a:solidFill>
                <a:schemeClr val="tx1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7A4095-FC67-AF3D-1363-75CB4B512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40495"/>
              </p:ext>
            </p:extLst>
          </p:nvPr>
        </p:nvGraphicFramePr>
        <p:xfrm>
          <a:off x="481848" y="702649"/>
          <a:ext cx="2661402" cy="89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25">
                  <a:extLst>
                    <a:ext uri="{9D8B030D-6E8A-4147-A177-3AD203B41FA5}">
                      <a16:colId xmlns:a16="http://schemas.microsoft.com/office/drawing/2014/main" val="1648166769"/>
                    </a:ext>
                  </a:extLst>
                </a:gridCol>
                <a:gridCol w="1163827">
                  <a:extLst>
                    <a:ext uri="{9D8B030D-6E8A-4147-A177-3AD203B41FA5}">
                      <a16:colId xmlns:a16="http://schemas.microsoft.com/office/drawing/2014/main" val="1942804140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3796449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BACK-END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71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NODE.JS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적용 용이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학습 비용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0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JAVA(SPRING BOOT)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BIS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주요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BACKEND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언어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성능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041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59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1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96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90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571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30ADDAA9-73C1-9863-4BFE-14516EF5816C}"/>
              </a:ext>
            </a:extLst>
          </p:cNvPr>
          <p:cNvSpPr/>
          <p:nvPr/>
        </p:nvSpPr>
        <p:spPr>
          <a:xfrm>
            <a:off x="7161612" y="3984237"/>
            <a:ext cx="734614" cy="466928"/>
          </a:xfrm>
          <a:prstGeom prst="flowChartMagneticDisk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54000" rIns="36000" bIns="0" rtlCol="0" anchor="ctr" anchorCtr="0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Pub/Sub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0D2E9F-9E2D-ABA4-9BDD-13436B5B8B02}"/>
              </a:ext>
            </a:extLst>
          </p:cNvPr>
          <p:cNvSpPr/>
          <p:nvPr/>
        </p:nvSpPr>
        <p:spPr>
          <a:xfrm>
            <a:off x="4802851" y="1738007"/>
            <a:ext cx="1264349" cy="12909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B12613-CACD-D244-1592-04DAF5A11CCF}"/>
              </a:ext>
            </a:extLst>
          </p:cNvPr>
          <p:cNvSpPr/>
          <p:nvPr/>
        </p:nvSpPr>
        <p:spPr>
          <a:xfrm>
            <a:off x="4801388" y="1523294"/>
            <a:ext cx="1264772" cy="21471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aicc-chat-frontend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EA7A50-3F87-FEE4-4DCF-2052B5FF72C3}"/>
              </a:ext>
            </a:extLst>
          </p:cNvPr>
          <p:cNvSpPr/>
          <p:nvPr/>
        </p:nvSpPr>
        <p:spPr>
          <a:xfrm>
            <a:off x="6893098" y="1738007"/>
            <a:ext cx="1263600" cy="187821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AA5A23-C3CC-E1E0-6AB6-BC93C3B2D1B1}"/>
              </a:ext>
            </a:extLst>
          </p:cNvPr>
          <p:cNvSpPr/>
          <p:nvPr/>
        </p:nvSpPr>
        <p:spPr>
          <a:xfrm>
            <a:off x="6891635" y="1522660"/>
            <a:ext cx="1263600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5. aicc-chat-backend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3EA3DA-D0F4-23C0-BC00-1770ECBB8F0F}"/>
              </a:ext>
            </a:extLst>
          </p:cNvPr>
          <p:cNvSpPr/>
          <p:nvPr/>
        </p:nvSpPr>
        <p:spPr>
          <a:xfrm>
            <a:off x="2197100" y="1740589"/>
            <a:ext cx="1264350" cy="181101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07A0AA-1DF0-C957-B687-1C586EC468AC}"/>
              </a:ext>
            </a:extLst>
          </p:cNvPr>
          <p:cNvSpPr/>
          <p:nvPr/>
        </p:nvSpPr>
        <p:spPr>
          <a:xfrm>
            <a:off x="2428250" y="1530638"/>
            <a:ext cx="914400" cy="21471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aicc-chat-frontend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00EF03-83A1-A81C-1DEA-6EEEA20F2CE9}"/>
              </a:ext>
            </a:extLst>
          </p:cNvPr>
          <p:cNvSpPr/>
          <p:nvPr/>
        </p:nvSpPr>
        <p:spPr>
          <a:xfrm>
            <a:off x="4801811" y="1739366"/>
            <a:ext cx="1264343" cy="21399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ctr">
            <a:spAutoFit/>
          </a:bodyPr>
          <a:lstStyle/>
          <a:p>
            <a:r>
              <a:rPr lang="en-US" altLang="ko-KR" sz="800">
                <a:solidFill>
                  <a:schemeClr val="tx1"/>
                </a:solidFill>
              </a:rPr>
              <a:t>nginx (aicc-chat.com)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0B22CB-3CF5-111E-B083-757CE5DCF374}"/>
              </a:ext>
            </a:extLst>
          </p:cNvPr>
          <p:cNvSpPr/>
          <p:nvPr/>
        </p:nvSpPr>
        <p:spPr>
          <a:xfrm>
            <a:off x="4870449" y="2244804"/>
            <a:ext cx="1135539" cy="71501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Nextjs(node)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C8BC28-E97D-0AB6-9560-348C71705635}"/>
              </a:ext>
            </a:extLst>
          </p:cNvPr>
          <p:cNvSpPr/>
          <p:nvPr/>
        </p:nvSpPr>
        <p:spPr>
          <a:xfrm>
            <a:off x="6961060" y="1851895"/>
            <a:ext cx="1136938" cy="71501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Spring boot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0E10199-DD2E-E697-B86D-DBC3F110C38A}"/>
              </a:ext>
            </a:extLst>
          </p:cNvPr>
          <p:cNvCxnSpPr>
            <a:cxnSpLocks/>
            <a:stCxn id="28" idx="4"/>
            <a:endCxn id="29" idx="0"/>
          </p:cNvCxnSpPr>
          <p:nvPr/>
        </p:nvCxnSpPr>
        <p:spPr>
          <a:xfrm>
            <a:off x="4991000" y="1984193"/>
            <a:ext cx="0" cy="232618"/>
          </a:xfrm>
          <a:prstGeom prst="straightConnector1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206C34-F4FF-7780-DA6D-2BE31F7E5501}"/>
              </a:ext>
            </a:extLst>
          </p:cNvPr>
          <p:cNvSpPr/>
          <p:nvPr/>
        </p:nvSpPr>
        <p:spPr>
          <a:xfrm>
            <a:off x="4934396" y="2037808"/>
            <a:ext cx="247972" cy="11862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108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http(s)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6B45D91-28C2-65A0-5DA5-B9C809A06AF6}"/>
              </a:ext>
            </a:extLst>
          </p:cNvPr>
          <p:cNvSpPr/>
          <p:nvPr/>
        </p:nvSpPr>
        <p:spPr>
          <a:xfrm>
            <a:off x="4964000" y="1930193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F9F1722-8D82-5858-4D89-B56B1A0147CE}"/>
              </a:ext>
            </a:extLst>
          </p:cNvPr>
          <p:cNvSpPr/>
          <p:nvPr/>
        </p:nvSpPr>
        <p:spPr>
          <a:xfrm>
            <a:off x="4964000" y="221681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03E8E82-2B9C-4CF7-8B6C-C702490F7D01}"/>
              </a:ext>
            </a:extLst>
          </p:cNvPr>
          <p:cNvSpPr/>
          <p:nvPr/>
        </p:nvSpPr>
        <p:spPr>
          <a:xfrm>
            <a:off x="6859943" y="1936905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B0ACBFC-B2BA-D4D7-99A8-8DA08450147A}"/>
              </a:ext>
            </a:extLst>
          </p:cNvPr>
          <p:cNvSpPr/>
          <p:nvPr/>
        </p:nvSpPr>
        <p:spPr>
          <a:xfrm>
            <a:off x="5476586" y="1930193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99D9CA4-5AE1-3B8C-AE08-4CD3D8230178}"/>
              </a:ext>
            </a:extLst>
          </p:cNvPr>
          <p:cNvCxnSpPr>
            <a:cxnSpLocks/>
            <a:stCxn id="36" idx="4"/>
            <a:endCxn id="34" idx="2"/>
          </p:cNvCxnSpPr>
          <p:nvPr/>
        </p:nvCxnSpPr>
        <p:spPr>
          <a:xfrm rot="5400000" flipH="1" flipV="1">
            <a:off x="6171620" y="1295870"/>
            <a:ext cx="20288" cy="1356357"/>
          </a:xfrm>
          <a:prstGeom prst="bentConnector4">
            <a:avLst>
              <a:gd name="adj1" fmla="val -1126774"/>
              <a:gd name="adj2" fmla="val 50995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A09020A-D415-21FA-322F-A3D52418B243}"/>
              </a:ext>
            </a:extLst>
          </p:cNvPr>
          <p:cNvSpPr/>
          <p:nvPr/>
        </p:nvSpPr>
        <p:spPr>
          <a:xfrm>
            <a:off x="5385370" y="2037808"/>
            <a:ext cx="622896" cy="11862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108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ws(s) + STOMP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0DCD0539-C517-A50B-4393-3592A2FAEE93}"/>
              </a:ext>
            </a:extLst>
          </p:cNvPr>
          <p:cNvSpPr/>
          <p:nvPr/>
        </p:nvSpPr>
        <p:spPr>
          <a:xfrm>
            <a:off x="5114880" y="2418310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BF40FF1-4F6A-F0DD-0572-72E6A8CA55FC}"/>
              </a:ext>
            </a:extLst>
          </p:cNvPr>
          <p:cNvSpPr/>
          <p:nvPr/>
        </p:nvSpPr>
        <p:spPr>
          <a:xfrm>
            <a:off x="5114880" y="2556757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순서도: 문서 46">
            <a:extLst>
              <a:ext uri="{FF2B5EF4-FFF2-40B4-BE49-F238E27FC236}">
                <a16:creationId xmlns:a16="http://schemas.microsoft.com/office/drawing/2014/main" id="{A0F5C3EE-215A-F9CD-5693-B732954F0AD3}"/>
              </a:ext>
            </a:extLst>
          </p:cNvPr>
          <p:cNvSpPr/>
          <p:nvPr/>
        </p:nvSpPr>
        <p:spPr>
          <a:xfrm>
            <a:off x="4928243" y="2583229"/>
            <a:ext cx="481957" cy="308948"/>
          </a:xfrm>
          <a:prstGeom prst="flowChartDocument">
            <a:avLst/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54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aicc-chat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49" name="순서도: 대체 처리 48">
            <a:extLst>
              <a:ext uri="{FF2B5EF4-FFF2-40B4-BE49-F238E27FC236}">
                <a16:creationId xmlns:a16="http://schemas.microsoft.com/office/drawing/2014/main" id="{A84D9E19-A4DE-462A-69CB-BC8893D64921}"/>
              </a:ext>
            </a:extLst>
          </p:cNvPr>
          <p:cNvSpPr/>
          <p:nvPr/>
        </p:nvSpPr>
        <p:spPr>
          <a:xfrm>
            <a:off x="5457843" y="2583228"/>
            <a:ext cx="481957" cy="308948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54000" rtlCol="0" anchor="ctr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aicc-chat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B1288C8-3200-E20B-266B-18BB7429F961}"/>
              </a:ext>
            </a:extLst>
          </p:cNvPr>
          <p:cNvSpPr/>
          <p:nvPr/>
        </p:nvSpPr>
        <p:spPr>
          <a:xfrm>
            <a:off x="5607741" y="255712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8E2DE0E1-3627-DB10-E0A7-4A144AFD2D80}"/>
              </a:ext>
            </a:extLst>
          </p:cNvPr>
          <p:cNvSpPr/>
          <p:nvPr/>
        </p:nvSpPr>
        <p:spPr>
          <a:xfrm>
            <a:off x="5607741" y="2418310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522DCF4-F27B-684D-AB1F-3EE26A1E39F2}"/>
              </a:ext>
            </a:extLst>
          </p:cNvPr>
          <p:cNvCxnSpPr>
            <a:cxnSpLocks/>
            <a:stCxn id="45" idx="4"/>
            <a:endCxn id="44" idx="0"/>
          </p:cNvCxnSpPr>
          <p:nvPr/>
        </p:nvCxnSpPr>
        <p:spPr>
          <a:xfrm>
            <a:off x="5141880" y="2472310"/>
            <a:ext cx="0" cy="84447"/>
          </a:xfrm>
          <a:prstGeom prst="straightConnector1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1D1999B-2BF4-0E06-77B9-51A25EBA7666}"/>
              </a:ext>
            </a:extLst>
          </p:cNvPr>
          <p:cNvCxnSpPr>
            <a:cxnSpLocks/>
            <a:stCxn id="54" idx="4"/>
            <a:endCxn id="50" idx="0"/>
          </p:cNvCxnSpPr>
          <p:nvPr/>
        </p:nvCxnSpPr>
        <p:spPr>
          <a:xfrm>
            <a:off x="5634741" y="2472310"/>
            <a:ext cx="0" cy="84811"/>
          </a:xfrm>
          <a:prstGeom prst="straightConnector1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순서도: 대체 처리 62">
            <a:extLst>
              <a:ext uri="{FF2B5EF4-FFF2-40B4-BE49-F238E27FC236}">
                <a16:creationId xmlns:a16="http://schemas.microsoft.com/office/drawing/2014/main" id="{6FD3DAEA-1D6D-0A74-5D14-5C438362AC88}"/>
              </a:ext>
            </a:extLst>
          </p:cNvPr>
          <p:cNvSpPr/>
          <p:nvPr/>
        </p:nvSpPr>
        <p:spPr>
          <a:xfrm>
            <a:off x="6961060" y="5213496"/>
            <a:ext cx="594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connect</a:t>
            </a:r>
          </a:p>
        </p:txBody>
      </p:sp>
      <p:sp>
        <p:nvSpPr>
          <p:cNvPr id="64" name="순서도: 대체 처리 63">
            <a:extLst>
              <a:ext uri="{FF2B5EF4-FFF2-40B4-BE49-F238E27FC236}">
                <a16:creationId xmlns:a16="http://schemas.microsoft.com/office/drawing/2014/main" id="{17CD9109-1ED1-4DA2-5347-59329D41132A}"/>
              </a:ext>
            </a:extLst>
          </p:cNvPr>
          <p:cNvSpPr/>
          <p:nvPr/>
        </p:nvSpPr>
        <p:spPr>
          <a:xfrm>
            <a:off x="7594472" y="5213496"/>
            <a:ext cx="594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65" name="순서도: 대체 처리 64">
            <a:extLst>
              <a:ext uri="{FF2B5EF4-FFF2-40B4-BE49-F238E27FC236}">
                <a16:creationId xmlns:a16="http://schemas.microsoft.com/office/drawing/2014/main" id="{128B0A50-B5C3-A496-4817-3A60EA5A1CE4}"/>
              </a:ext>
            </a:extLst>
          </p:cNvPr>
          <p:cNvSpPr/>
          <p:nvPr/>
        </p:nvSpPr>
        <p:spPr>
          <a:xfrm>
            <a:off x="8227884" y="5213496"/>
            <a:ext cx="594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send</a:t>
            </a:r>
          </a:p>
        </p:txBody>
      </p:sp>
      <p:sp>
        <p:nvSpPr>
          <p:cNvPr id="66" name="순서도: 대체 처리 65">
            <a:extLst>
              <a:ext uri="{FF2B5EF4-FFF2-40B4-BE49-F238E27FC236}">
                <a16:creationId xmlns:a16="http://schemas.microsoft.com/office/drawing/2014/main" id="{985D4D23-B38A-6ABD-67C1-E0DE3794AE33}"/>
              </a:ext>
            </a:extLst>
          </p:cNvPr>
          <p:cNvSpPr/>
          <p:nvPr/>
        </p:nvSpPr>
        <p:spPr>
          <a:xfrm>
            <a:off x="8861296" y="5213496"/>
            <a:ext cx="594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recv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4C3A186-AC95-3393-B1D9-EF62E30FE690}"/>
              </a:ext>
            </a:extLst>
          </p:cNvPr>
          <p:cNvCxnSpPr>
            <a:cxnSpLocks/>
          </p:cNvCxnSpPr>
          <p:nvPr/>
        </p:nvCxnSpPr>
        <p:spPr>
          <a:xfrm>
            <a:off x="4869566" y="2443405"/>
            <a:ext cx="113118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2C3143A-9488-88BC-BC58-E67F1D5495BB}"/>
              </a:ext>
            </a:extLst>
          </p:cNvPr>
          <p:cNvCxnSpPr>
            <a:cxnSpLocks/>
          </p:cNvCxnSpPr>
          <p:nvPr/>
        </p:nvCxnSpPr>
        <p:spPr>
          <a:xfrm>
            <a:off x="6961060" y="2050496"/>
            <a:ext cx="111807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3ED4770-52BF-5ADC-10D9-6A7E91E32D6C}"/>
              </a:ext>
            </a:extLst>
          </p:cNvPr>
          <p:cNvSpPr/>
          <p:nvPr/>
        </p:nvSpPr>
        <p:spPr>
          <a:xfrm>
            <a:off x="7047175" y="2190318"/>
            <a:ext cx="601587" cy="281055"/>
          </a:xfrm>
          <a:prstGeom prst="roundRect">
            <a:avLst>
              <a:gd name="adj" fmla="val 4901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Websocket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event process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7C335F90-3465-FAC9-1455-31470E605492}"/>
              </a:ext>
            </a:extLst>
          </p:cNvPr>
          <p:cNvSpPr/>
          <p:nvPr/>
        </p:nvSpPr>
        <p:spPr>
          <a:xfrm>
            <a:off x="7476714" y="2160024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2C25EBA5-3A90-D1E4-616F-47956488B617}"/>
              </a:ext>
            </a:extLst>
          </p:cNvPr>
          <p:cNvSpPr/>
          <p:nvPr/>
        </p:nvSpPr>
        <p:spPr>
          <a:xfrm>
            <a:off x="7476714" y="2019308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6B171D6E-7359-1D4D-F6AF-DE4F7901E4FC}"/>
              </a:ext>
            </a:extLst>
          </p:cNvPr>
          <p:cNvCxnSpPr>
            <a:cxnSpLocks/>
            <a:stCxn id="85" idx="4"/>
            <a:endCxn id="84" idx="0"/>
          </p:cNvCxnSpPr>
          <p:nvPr/>
        </p:nvCxnSpPr>
        <p:spPr>
          <a:xfrm>
            <a:off x="7503714" y="2073308"/>
            <a:ext cx="0" cy="86716"/>
          </a:xfrm>
          <a:prstGeom prst="straightConnector1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타원 94">
            <a:extLst>
              <a:ext uri="{FF2B5EF4-FFF2-40B4-BE49-F238E27FC236}">
                <a16:creationId xmlns:a16="http://schemas.microsoft.com/office/drawing/2014/main" id="{5FBCAC61-C495-F849-9A99-1493B2E9BB54}"/>
              </a:ext>
            </a:extLst>
          </p:cNvPr>
          <p:cNvSpPr/>
          <p:nvPr/>
        </p:nvSpPr>
        <p:spPr>
          <a:xfrm>
            <a:off x="4774269" y="1754096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D1D99D58-CB37-17BB-6313-68A45FC6A8B2}"/>
              </a:ext>
            </a:extLst>
          </p:cNvPr>
          <p:cNvSpPr/>
          <p:nvPr/>
        </p:nvSpPr>
        <p:spPr>
          <a:xfrm>
            <a:off x="3373894" y="2068803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B9FF1F55-AE27-58BB-66B4-ECA269BC3BEA}"/>
              </a:ext>
            </a:extLst>
          </p:cNvPr>
          <p:cNvCxnSpPr>
            <a:cxnSpLocks/>
            <a:stCxn id="96" idx="6"/>
            <a:endCxn id="95" idx="2"/>
          </p:cNvCxnSpPr>
          <p:nvPr/>
        </p:nvCxnSpPr>
        <p:spPr>
          <a:xfrm flipV="1">
            <a:off x="3427894" y="1781096"/>
            <a:ext cx="1346375" cy="31470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FF5F9F47-AA36-4E55-AE27-6D4AA1411D56}"/>
              </a:ext>
            </a:extLst>
          </p:cNvPr>
          <p:cNvSpPr/>
          <p:nvPr/>
        </p:nvSpPr>
        <p:spPr>
          <a:xfrm>
            <a:off x="4774269" y="1868535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0A45E02-0184-0445-14AA-248A4291D6AE}"/>
              </a:ext>
            </a:extLst>
          </p:cNvPr>
          <p:cNvSpPr/>
          <p:nvPr/>
        </p:nvSpPr>
        <p:spPr>
          <a:xfrm>
            <a:off x="2266950" y="2454107"/>
            <a:ext cx="1133401" cy="10320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86F6E5B-F338-4812-7992-1C62529F65CA}"/>
              </a:ext>
            </a:extLst>
          </p:cNvPr>
          <p:cNvSpPr/>
          <p:nvPr/>
        </p:nvSpPr>
        <p:spPr>
          <a:xfrm>
            <a:off x="2816942" y="2388650"/>
            <a:ext cx="247972" cy="11862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108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ws(s)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94E3A1A-97B6-D4EA-F389-2CE06D9AEF26}"/>
              </a:ext>
            </a:extLst>
          </p:cNvPr>
          <p:cNvSpPr/>
          <p:nvPr/>
        </p:nvSpPr>
        <p:spPr>
          <a:xfrm>
            <a:off x="2324100" y="2507277"/>
            <a:ext cx="1018550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1. </a:t>
            </a:r>
            <a:r>
              <a:rPr lang="ko-KR" altLang="en-US" sz="700">
                <a:solidFill>
                  <a:schemeClr val="tx1"/>
                </a:solidFill>
              </a:rPr>
              <a:t>연결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5D63B61-E722-4F88-DDDF-8C857EC6B81F}"/>
              </a:ext>
            </a:extLst>
          </p:cNvPr>
          <p:cNvSpPr/>
          <p:nvPr/>
        </p:nvSpPr>
        <p:spPr>
          <a:xfrm>
            <a:off x="2324100" y="2664954"/>
            <a:ext cx="1018550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bg1">
                    <a:lumMod val="85000"/>
                  </a:schemeClr>
                </a:solidFill>
              </a:rPr>
              <a:t>   (</a:t>
            </a:r>
            <a:r>
              <a:rPr lang="ko-KR" altLang="en-US" sz="700">
                <a:solidFill>
                  <a:schemeClr val="bg1">
                    <a:lumMod val="85000"/>
                  </a:schemeClr>
                </a:solidFill>
              </a:rPr>
              <a:t>송신</a:t>
            </a:r>
            <a:r>
              <a:rPr lang="en-US" altLang="ko-KR" sz="700">
                <a:solidFill>
                  <a:schemeClr val="bg1">
                    <a:lumMod val="85000"/>
                  </a:schemeClr>
                </a:solidFill>
              </a:rPr>
              <a:t>:</a:t>
            </a:r>
            <a:r>
              <a:rPr lang="ko-KR" altLang="en-US" sz="700">
                <a:solidFill>
                  <a:schemeClr val="bg1">
                    <a:lumMod val="85000"/>
                  </a:schemeClr>
                </a:solidFill>
              </a:rPr>
              <a:t>로그인</a:t>
            </a:r>
            <a:r>
              <a:rPr lang="en-US" altLang="ko-KR" sz="700">
                <a:solidFill>
                  <a:schemeClr val="bg1">
                    <a:lumMod val="85000"/>
                  </a:schemeClr>
                </a:solidFill>
              </a:rPr>
              <a:t>)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D2E4351-FF38-B71D-2840-8B29D13113F6}"/>
              </a:ext>
            </a:extLst>
          </p:cNvPr>
          <p:cNvSpPr/>
          <p:nvPr/>
        </p:nvSpPr>
        <p:spPr>
          <a:xfrm>
            <a:off x="2324100" y="2890724"/>
            <a:ext cx="1018550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2. </a:t>
            </a:r>
            <a:r>
              <a:rPr lang="ko-KR" altLang="en-US" sz="700">
                <a:solidFill>
                  <a:schemeClr val="tx1"/>
                </a:solidFill>
              </a:rPr>
              <a:t>송신</a:t>
            </a:r>
            <a:r>
              <a:rPr lang="en-US" altLang="ko-KR" sz="700">
                <a:solidFill>
                  <a:schemeClr val="tx1"/>
                </a:solidFill>
              </a:rPr>
              <a:t>:</a:t>
            </a:r>
            <a:r>
              <a:rPr lang="ko-KR" altLang="en-US" sz="700">
                <a:solidFill>
                  <a:schemeClr val="tx1"/>
                </a:solidFill>
              </a:rPr>
              <a:t>메시지</a:t>
            </a:r>
            <a:r>
              <a:rPr lang="en-US" altLang="ko-KR" sz="700">
                <a:solidFill>
                  <a:schemeClr val="tx1"/>
                </a:solidFill>
              </a:rPr>
              <a:t>(TEXT)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218F9E0-0486-F60E-4FF9-7B2BCAE4C508}"/>
              </a:ext>
            </a:extLst>
          </p:cNvPr>
          <p:cNvSpPr/>
          <p:nvPr/>
        </p:nvSpPr>
        <p:spPr>
          <a:xfrm>
            <a:off x="2324100" y="3083951"/>
            <a:ext cx="1018550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3. </a:t>
            </a:r>
            <a:r>
              <a:rPr lang="ko-KR" altLang="en-US" sz="700">
                <a:solidFill>
                  <a:schemeClr val="tx1"/>
                </a:solidFill>
              </a:rPr>
              <a:t>수신</a:t>
            </a:r>
            <a:r>
              <a:rPr lang="en-US" altLang="ko-KR" sz="700">
                <a:solidFill>
                  <a:schemeClr val="tx1"/>
                </a:solidFill>
              </a:rPr>
              <a:t>:</a:t>
            </a:r>
            <a:r>
              <a:rPr lang="ko-KR" altLang="en-US" sz="700">
                <a:solidFill>
                  <a:schemeClr val="tx1"/>
                </a:solidFill>
              </a:rPr>
              <a:t>메시지</a:t>
            </a:r>
            <a:r>
              <a:rPr lang="en-US" altLang="ko-KR" sz="700">
                <a:solidFill>
                  <a:schemeClr val="tx1"/>
                </a:solidFill>
              </a:rPr>
              <a:t>(TEXT)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AC98CBE7-A437-F140-BA00-04A8B20F9DFC}"/>
              </a:ext>
            </a:extLst>
          </p:cNvPr>
          <p:cNvSpPr/>
          <p:nvPr/>
        </p:nvSpPr>
        <p:spPr>
          <a:xfrm>
            <a:off x="3374819" y="284858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1684BB2F-E1C4-8238-45E8-4AC06B960885}"/>
              </a:ext>
            </a:extLst>
          </p:cNvPr>
          <p:cNvCxnSpPr>
            <a:cxnSpLocks/>
            <a:stCxn id="116" idx="6"/>
            <a:endCxn id="102" idx="2"/>
          </p:cNvCxnSpPr>
          <p:nvPr/>
        </p:nvCxnSpPr>
        <p:spPr>
          <a:xfrm flipV="1">
            <a:off x="3428819" y="1895535"/>
            <a:ext cx="1345450" cy="980054"/>
          </a:xfrm>
          <a:prstGeom prst="bentConnector3">
            <a:avLst>
              <a:gd name="adj1" fmla="val 54956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4273A170-9934-DBBA-DC38-10886E91E9CD}"/>
              </a:ext>
            </a:extLst>
          </p:cNvPr>
          <p:cNvSpPr/>
          <p:nvPr/>
        </p:nvSpPr>
        <p:spPr>
          <a:xfrm>
            <a:off x="3486105" y="2004741"/>
            <a:ext cx="648000" cy="615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4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http(s)://aicc-chat.com</a:t>
            </a:r>
            <a:endParaRPr lang="ko-KR" altLang="en-US" sz="4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E7A6AB78-5D0D-CADE-345C-1763E97E0AD7}"/>
              </a:ext>
            </a:extLst>
          </p:cNvPr>
          <p:cNvSpPr/>
          <p:nvPr/>
        </p:nvSpPr>
        <p:spPr>
          <a:xfrm>
            <a:off x="3486105" y="2902234"/>
            <a:ext cx="648000" cy="615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4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ws(s)://aicc-chat.com</a:t>
            </a:r>
            <a:endParaRPr lang="ko-KR" altLang="en-US" sz="4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E5CD847-275B-84D1-8E0F-0A94AA1C24AD}"/>
              </a:ext>
            </a:extLst>
          </p:cNvPr>
          <p:cNvSpPr/>
          <p:nvPr/>
        </p:nvSpPr>
        <p:spPr>
          <a:xfrm>
            <a:off x="2318144" y="1914908"/>
            <a:ext cx="1024506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1. CHAT UI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4DA1DA9-CF21-C7E5-C939-99D3DD558347}"/>
              </a:ext>
            </a:extLst>
          </p:cNvPr>
          <p:cNvSpPr/>
          <p:nvPr/>
        </p:nvSpPr>
        <p:spPr>
          <a:xfrm>
            <a:off x="2318984" y="2103774"/>
            <a:ext cx="1024506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2. CHAT API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BD1CF01-6A4D-EDEB-F627-26A80C3B5869}"/>
              </a:ext>
            </a:extLst>
          </p:cNvPr>
          <p:cNvSpPr/>
          <p:nvPr/>
        </p:nvSpPr>
        <p:spPr>
          <a:xfrm>
            <a:off x="2266950" y="1830762"/>
            <a:ext cx="1133401" cy="50605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81A5E75-57EE-B19C-CB5A-7D6856FCCD63}"/>
              </a:ext>
            </a:extLst>
          </p:cNvPr>
          <p:cNvSpPr/>
          <p:nvPr/>
        </p:nvSpPr>
        <p:spPr>
          <a:xfrm>
            <a:off x="2790017" y="1773335"/>
            <a:ext cx="306268" cy="11862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108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http(s)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16D72209-E685-8A51-F0CB-6FFFAAD9BD5B}"/>
              </a:ext>
            </a:extLst>
          </p:cNvPr>
          <p:cNvSpPr/>
          <p:nvPr/>
        </p:nvSpPr>
        <p:spPr>
          <a:xfrm>
            <a:off x="7086010" y="3004572"/>
            <a:ext cx="434088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Publish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7E3A3AD-87CA-E729-012D-D70B337148DD}"/>
              </a:ext>
            </a:extLst>
          </p:cNvPr>
          <p:cNvSpPr/>
          <p:nvPr/>
        </p:nvSpPr>
        <p:spPr>
          <a:xfrm>
            <a:off x="6961061" y="5418078"/>
            <a:ext cx="683198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>
                <a:solidFill>
                  <a:schemeClr val="tx1"/>
                </a:solidFill>
              </a:rPr>
              <a:t>onLogin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592E2F2-4380-AB3D-7699-D4EEEA3ED874}"/>
              </a:ext>
            </a:extLst>
          </p:cNvPr>
          <p:cNvSpPr/>
          <p:nvPr/>
        </p:nvSpPr>
        <p:spPr>
          <a:xfrm>
            <a:off x="6961061" y="5577025"/>
            <a:ext cx="683198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>
                <a:solidFill>
                  <a:schemeClr val="tx1"/>
                </a:solidFill>
              </a:rPr>
              <a:t>onRecv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B77E2B81-7397-D897-04DA-F4D45F3A3C8C}"/>
              </a:ext>
            </a:extLst>
          </p:cNvPr>
          <p:cNvSpPr/>
          <p:nvPr/>
        </p:nvSpPr>
        <p:spPr>
          <a:xfrm>
            <a:off x="6961060" y="5760981"/>
            <a:ext cx="821663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 sz="700">
                <a:solidFill>
                  <a:schemeClr val="tx1"/>
                </a:solidFill>
              </a:rPr>
              <a:t>onDisconnected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39" name="순서도: 대체 처리 138">
            <a:extLst>
              <a:ext uri="{FF2B5EF4-FFF2-40B4-BE49-F238E27FC236}">
                <a16:creationId xmlns:a16="http://schemas.microsoft.com/office/drawing/2014/main" id="{7028F48D-21E6-1725-6E1D-551B4A122ACE}"/>
              </a:ext>
            </a:extLst>
          </p:cNvPr>
          <p:cNvSpPr/>
          <p:nvPr/>
        </p:nvSpPr>
        <p:spPr>
          <a:xfrm>
            <a:off x="9494709" y="5213496"/>
            <a:ext cx="594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disconnect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6849E9C-CAB3-6976-6A68-A6EC13DFC730}"/>
              </a:ext>
            </a:extLst>
          </p:cNvPr>
          <p:cNvSpPr/>
          <p:nvPr/>
        </p:nvSpPr>
        <p:spPr>
          <a:xfrm>
            <a:off x="2324100" y="3278908"/>
            <a:ext cx="1018550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. </a:t>
            </a:r>
            <a:r>
              <a:rPr lang="ko-KR" altLang="en-US" sz="700">
                <a:solidFill>
                  <a:schemeClr val="tx1"/>
                </a:solidFill>
              </a:rPr>
              <a:t>종료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99DD3F1-DC9D-41B5-97EC-7E5C4F3DB8AD}"/>
              </a:ext>
            </a:extLst>
          </p:cNvPr>
          <p:cNvSpPr/>
          <p:nvPr/>
        </p:nvSpPr>
        <p:spPr>
          <a:xfrm>
            <a:off x="7422579" y="402201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D25B6B70-D4A1-58F2-5B12-27F8E9E99F1A}"/>
              </a:ext>
            </a:extLst>
          </p:cNvPr>
          <p:cNvSpPr/>
          <p:nvPr/>
        </p:nvSpPr>
        <p:spPr>
          <a:xfrm>
            <a:off x="7577960" y="3004572"/>
            <a:ext cx="434088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Subcribe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0C122BBE-C7F9-7BF7-BE45-84741278BAE1}"/>
              </a:ext>
            </a:extLst>
          </p:cNvPr>
          <p:cNvSpPr/>
          <p:nvPr/>
        </p:nvSpPr>
        <p:spPr>
          <a:xfrm>
            <a:off x="7410296" y="244684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67A4B3B9-2CBD-6747-5C08-CB5CE411EFD7}"/>
              </a:ext>
            </a:extLst>
          </p:cNvPr>
          <p:cNvSpPr/>
          <p:nvPr/>
        </p:nvSpPr>
        <p:spPr>
          <a:xfrm>
            <a:off x="7594762" y="244684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8" name="연결선: 꺾임 167">
            <a:extLst>
              <a:ext uri="{FF2B5EF4-FFF2-40B4-BE49-F238E27FC236}">
                <a16:creationId xmlns:a16="http://schemas.microsoft.com/office/drawing/2014/main" id="{447C9DB3-3824-CF1E-3478-44EC3D13139B}"/>
              </a:ext>
            </a:extLst>
          </p:cNvPr>
          <p:cNvCxnSpPr>
            <a:cxnSpLocks/>
            <a:stCxn id="135" idx="0"/>
            <a:endCxn id="157" idx="4"/>
          </p:cNvCxnSpPr>
          <p:nvPr/>
        </p:nvCxnSpPr>
        <p:spPr>
          <a:xfrm rot="5400000" flipH="1" flipV="1">
            <a:off x="7118310" y="2685586"/>
            <a:ext cx="503731" cy="1342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D472DF4F-DE90-7D3B-A35E-6E50353B8386}"/>
              </a:ext>
            </a:extLst>
          </p:cNvPr>
          <p:cNvCxnSpPr>
            <a:cxnSpLocks/>
            <a:stCxn id="163" idx="0"/>
            <a:endCxn id="167" idx="4"/>
          </p:cNvCxnSpPr>
          <p:nvPr/>
        </p:nvCxnSpPr>
        <p:spPr>
          <a:xfrm rot="16200000" flipV="1">
            <a:off x="7456518" y="2666086"/>
            <a:ext cx="503731" cy="1732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연결선: 꺾임 173">
            <a:extLst>
              <a:ext uri="{FF2B5EF4-FFF2-40B4-BE49-F238E27FC236}">
                <a16:creationId xmlns:a16="http://schemas.microsoft.com/office/drawing/2014/main" id="{CC49C1C7-E067-5F2A-122B-52D8F445FADE}"/>
              </a:ext>
            </a:extLst>
          </p:cNvPr>
          <p:cNvCxnSpPr>
            <a:cxnSpLocks/>
            <a:stCxn id="135" idx="2"/>
            <a:endCxn id="153" idx="0"/>
          </p:cNvCxnSpPr>
          <p:nvPr/>
        </p:nvCxnSpPr>
        <p:spPr>
          <a:xfrm rot="16200000" flipH="1">
            <a:off x="6939629" y="3512069"/>
            <a:ext cx="873374" cy="146525"/>
          </a:xfrm>
          <a:prstGeom prst="bentConnector3">
            <a:avLst>
              <a:gd name="adj1" fmla="val 27724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7" name="연결선: 꺾임 176">
            <a:extLst>
              <a:ext uri="{FF2B5EF4-FFF2-40B4-BE49-F238E27FC236}">
                <a16:creationId xmlns:a16="http://schemas.microsoft.com/office/drawing/2014/main" id="{3337AAA1-C9D8-97E4-AD84-63427624797C}"/>
              </a:ext>
            </a:extLst>
          </p:cNvPr>
          <p:cNvCxnSpPr>
            <a:cxnSpLocks/>
            <a:stCxn id="184" idx="0"/>
            <a:endCxn id="163" idx="2"/>
          </p:cNvCxnSpPr>
          <p:nvPr/>
        </p:nvCxnSpPr>
        <p:spPr>
          <a:xfrm rot="5400000" flipH="1" flipV="1">
            <a:off x="7267753" y="3494768"/>
            <a:ext cx="873374" cy="181128"/>
          </a:xfrm>
          <a:prstGeom prst="bentConnector3">
            <a:avLst>
              <a:gd name="adj1" fmla="val 72276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4" name="타원 183">
            <a:extLst>
              <a:ext uri="{FF2B5EF4-FFF2-40B4-BE49-F238E27FC236}">
                <a16:creationId xmlns:a16="http://schemas.microsoft.com/office/drawing/2014/main" id="{CB54DD5B-CAB9-4C72-3A00-8A68F9ECDA4B}"/>
              </a:ext>
            </a:extLst>
          </p:cNvPr>
          <p:cNvSpPr/>
          <p:nvPr/>
        </p:nvSpPr>
        <p:spPr>
          <a:xfrm>
            <a:off x="7586876" y="402201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52BA19A2-5587-80CA-6F29-08DA7CC0A0FE}"/>
              </a:ext>
            </a:extLst>
          </p:cNvPr>
          <p:cNvSpPr/>
          <p:nvPr/>
        </p:nvSpPr>
        <p:spPr>
          <a:xfrm>
            <a:off x="278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en-US" altLang="ko-KR" sz="1600">
                <a:solidFill>
                  <a:schemeClr val="tx1"/>
                </a:solidFill>
                <a:latin typeface="+mj-ea"/>
                <a:ea typeface="+mj-ea"/>
              </a:rPr>
              <a:t>aicc-chat</a:t>
            </a:r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+mj-ea"/>
                <a:ea typeface="+mj-ea"/>
              </a:rPr>
              <a:t>Flow(</a:t>
            </a:r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구성도</a:t>
            </a:r>
            <a:r>
              <a:rPr lang="en-US" altLang="ko-KR" sz="16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16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51AB9585-0DF8-75B6-4703-6C53A4843B82}"/>
              </a:ext>
            </a:extLst>
          </p:cNvPr>
          <p:cNvSpPr/>
          <p:nvPr/>
        </p:nvSpPr>
        <p:spPr>
          <a:xfrm>
            <a:off x="7110927" y="3293957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C73FF19-9803-B432-7991-064975F4AD15}"/>
              </a:ext>
            </a:extLst>
          </p:cNvPr>
          <p:cNvSpPr/>
          <p:nvPr/>
        </p:nvSpPr>
        <p:spPr>
          <a:xfrm>
            <a:off x="7813526" y="3293957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AE35A4EA-5FAD-2242-E7EF-EDB92481CEED}"/>
              </a:ext>
            </a:extLst>
          </p:cNvPr>
          <p:cNvGrpSpPr/>
          <p:nvPr/>
        </p:nvGrpSpPr>
        <p:grpSpPr>
          <a:xfrm>
            <a:off x="2197099" y="3630066"/>
            <a:ext cx="2140694" cy="1816139"/>
            <a:chOff x="2197099" y="3630066"/>
            <a:chExt cx="2140694" cy="1816139"/>
          </a:xfrm>
        </p:grpSpPr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78B0308F-4E88-9803-4374-08183575F8BF}"/>
                </a:ext>
              </a:extLst>
            </p:cNvPr>
            <p:cNvGrpSpPr/>
            <p:nvPr/>
          </p:nvGrpSpPr>
          <p:grpSpPr>
            <a:xfrm>
              <a:off x="2318144" y="3704755"/>
              <a:ext cx="2019649" cy="1741450"/>
              <a:chOff x="2318144" y="3704755"/>
              <a:chExt cx="2019649" cy="1741450"/>
            </a:xfrm>
          </p:grpSpPr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55864558-EC43-88B6-BA6A-56D8F0AC5B11}"/>
                  </a:ext>
                </a:extLst>
              </p:cNvPr>
              <p:cNvSpPr/>
              <p:nvPr/>
            </p:nvSpPr>
            <p:spPr>
              <a:xfrm>
                <a:off x="2318145" y="3704755"/>
                <a:ext cx="1021746" cy="1584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54000" rtlCol="0" anchor="t" anchorCtr="0">
                <a:noAutofit/>
              </a:bodyPr>
              <a:lstStyle/>
              <a:p>
                <a:r>
                  <a:rPr lang="en-US" altLang="ko-KR" sz="700">
                    <a:solidFill>
                      <a:schemeClr val="tx1"/>
                    </a:solidFill>
                  </a:rPr>
                  <a:t>. </a:t>
                </a:r>
                <a:r>
                  <a:rPr lang="ko-KR" altLang="en-US" sz="700">
                    <a:solidFill>
                      <a:schemeClr val="tx1"/>
                    </a:solidFill>
                  </a:rPr>
                  <a:t>연결</a:t>
                </a:r>
                <a:endParaRPr lang="en-US" altLang="ko-KR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7C3D0058-993B-3D33-42E2-DD81C07D6E45}"/>
                  </a:ext>
                </a:extLst>
              </p:cNvPr>
              <p:cNvSpPr txBox="1"/>
              <p:nvPr/>
            </p:nvSpPr>
            <p:spPr>
              <a:xfrm>
                <a:off x="2469259" y="4031263"/>
                <a:ext cx="1868534" cy="200055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>
                <a:defPPr>
                  <a:defRPr lang="ko-KR"/>
                </a:defPPr>
                <a:lvl1pPr>
                  <a:defRPr sz="7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ko-KR" altLang="en-US">
                    <a:solidFill>
                      <a:schemeClr val="bg1">
                        <a:lumMod val="50000"/>
                      </a:schemeClr>
                    </a:solidFill>
                  </a:rPr>
                  <a:t>ws</a:t>
                </a:r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(s)</a:t>
                </a:r>
                <a:r>
                  <a:rPr lang="ko-KR" altLang="en-US">
                    <a:solidFill>
                      <a:schemeClr val="bg1">
                        <a:lumMod val="50000"/>
                      </a:schemeClr>
                    </a:solidFill>
                  </a:rPr>
                  <a:t>://</a:t>
                </a:r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aicc-chat.com</a:t>
                </a:r>
                <a:r>
                  <a:rPr lang="ko-KR" altLang="en-US">
                    <a:solidFill>
                      <a:schemeClr val="bg1">
                        <a:lumMod val="50000"/>
                      </a:schemeClr>
                    </a:solidFill>
                  </a:rPr>
                  <a:t>/chat?token=${token}</a:t>
                </a:r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11441E84-C609-02BE-F765-2EAC301F665D}"/>
                  </a:ext>
                </a:extLst>
              </p:cNvPr>
              <p:cNvSpPr/>
              <p:nvPr/>
            </p:nvSpPr>
            <p:spPr>
              <a:xfrm>
                <a:off x="2318144" y="3863554"/>
                <a:ext cx="1021747" cy="1584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54000" rtlCol="0" anchor="t" anchorCtr="0">
                <a:noAutofit/>
              </a:bodyPr>
              <a:lstStyle/>
              <a:p>
                <a:r>
                  <a:rPr lang="en-US" altLang="ko-KR" sz="700">
                    <a:solidFill>
                      <a:schemeClr val="bg1">
                        <a:lumMod val="85000"/>
                      </a:schemeClr>
                    </a:solidFill>
                  </a:rPr>
                  <a:t>   (</a:t>
                </a:r>
                <a:r>
                  <a:rPr lang="ko-KR" altLang="en-US" sz="700">
                    <a:solidFill>
                      <a:schemeClr val="bg1">
                        <a:lumMod val="85000"/>
                      </a:schemeClr>
                    </a:solidFill>
                  </a:rPr>
                  <a:t>송신</a:t>
                </a:r>
                <a:r>
                  <a:rPr lang="en-US" altLang="ko-KR" sz="700">
                    <a:solidFill>
                      <a:schemeClr val="bg1">
                        <a:lumMod val="85000"/>
                      </a:schemeClr>
                    </a:solidFill>
                  </a:rPr>
                  <a:t>:</a:t>
                </a:r>
                <a:r>
                  <a:rPr lang="ko-KR" altLang="en-US" sz="700">
                    <a:solidFill>
                      <a:schemeClr val="bg1">
                        <a:lumMod val="85000"/>
                      </a:schemeClr>
                    </a:solidFill>
                  </a:rPr>
                  <a:t>로그인</a:t>
                </a:r>
                <a:r>
                  <a:rPr lang="en-US" altLang="ko-KR" sz="700">
                    <a:solidFill>
                      <a:schemeClr val="bg1">
                        <a:lumMod val="8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F596A2A4-CE9C-6B74-3C2C-A3E93E576EBF}"/>
                  </a:ext>
                </a:extLst>
              </p:cNvPr>
              <p:cNvSpPr/>
              <p:nvPr/>
            </p:nvSpPr>
            <p:spPr>
              <a:xfrm>
                <a:off x="2324100" y="4265644"/>
                <a:ext cx="1018550" cy="1584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54000" rtlCol="0" anchor="t" anchorCtr="0">
                <a:noAutofit/>
              </a:bodyPr>
              <a:lstStyle/>
              <a:p>
                <a:r>
                  <a:rPr lang="en-US" altLang="ko-KR" sz="700">
                    <a:solidFill>
                      <a:schemeClr val="tx1"/>
                    </a:solidFill>
                  </a:rPr>
                  <a:t>2. </a:t>
                </a:r>
                <a:r>
                  <a:rPr lang="ko-KR" altLang="en-US" sz="700">
                    <a:solidFill>
                      <a:schemeClr val="tx1"/>
                    </a:solidFill>
                  </a:rPr>
                  <a:t>송신</a:t>
                </a:r>
                <a:r>
                  <a:rPr lang="en-US" altLang="ko-KR" sz="700">
                    <a:solidFill>
                      <a:schemeClr val="tx1"/>
                    </a:solidFill>
                  </a:rPr>
                  <a:t>:</a:t>
                </a:r>
                <a:r>
                  <a:rPr lang="ko-KR" altLang="en-US" sz="700">
                    <a:solidFill>
                      <a:schemeClr val="tx1"/>
                    </a:solidFill>
                  </a:rPr>
                  <a:t>메시지</a:t>
                </a:r>
                <a:endParaRPr lang="en-US" altLang="ko-KR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C031AAAD-CF0F-2A4A-0329-3813A6B53767}"/>
                  </a:ext>
                </a:extLst>
              </p:cNvPr>
              <p:cNvSpPr txBox="1"/>
              <p:nvPr/>
            </p:nvSpPr>
            <p:spPr>
              <a:xfrm>
                <a:off x="2469259" y="4429271"/>
                <a:ext cx="1868534" cy="200055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>
                <a:defPPr>
                  <a:defRPr lang="ko-KR"/>
                </a:defPPr>
                <a:lvl1pPr>
                  <a:defRPr sz="7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socket.emit(...</a:t>
                </a:r>
                <a:r>
                  <a:rPr lang="ko-KR" altLang="en-US">
                    <a:solidFill>
                      <a:schemeClr val="bg1">
                        <a:lumMod val="50000"/>
                      </a:schemeClr>
                    </a:solidFill>
                  </a:rPr>
                  <a:t>송신메시지</a:t>
                </a:r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ko-KR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2F40691F-8504-6725-9D88-4BE2A4E0B64D}"/>
                  </a:ext>
                </a:extLst>
              </p:cNvPr>
              <p:cNvSpPr/>
              <p:nvPr/>
            </p:nvSpPr>
            <p:spPr>
              <a:xfrm>
                <a:off x="2324100" y="4681303"/>
                <a:ext cx="1018550" cy="1584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54000" rtlCol="0" anchor="t" anchorCtr="0">
                <a:noAutofit/>
              </a:bodyPr>
              <a:lstStyle/>
              <a:p>
                <a:r>
                  <a:rPr lang="en-US" altLang="ko-KR" sz="700">
                    <a:solidFill>
                      <a:schemeClr val="tx1"/>
                    </a:solidFill>
                  </a:rPr>
                  <a:t>3. </a:t>
                </a:r>
                <a:r>
                  <a:rPr lang="ko-KR" altLang="en-US" sz="700">
                    <a:solidFill>
                      <a:schemeClr val="tx1"/>
                    </a:solidFill>
                  </a:rPr>
                  <a:t>수신</a:t>
                </a:r>
                <a:r>
                  <a:rPr lang="en-US" altLang="ko-KR" sz="700">
                    <a:solidFill>
                      <a:schemeClr val="tx1"/>
                    </a:solidFill>
                  </a:rPr>
                  <a:t>:</a:t>
                </a:r>
                <a:r>
                  <a:rPr lang="ko-KR" altLang="en-US" sz="700">
                    <a:solidFill>
                      <a:schemeClr val="tx1"/>
                    </a:solidFill>
                  </a:rPr>
                  <a:t>메시지</a:t>
                </a:r>
                <a:endParaRPr lang="en-US" altLang="ko-KR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AAC7FC76-35EC-40AD-A31A-FC39EE016097}"/>
                  </a:ext>
                </a:extLst>
              </p:cNvPr>
              <p:cNvSpPr txBox="1"/>
              <p:nvPr/>
            </p:nvSpPr>
            <p:spPr>
              <a:xfrm>
                <a:off x="2469259" y="4844930"/>
                <a:ext cx="1868534" cy="200055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>
                <a:defPPr>
                  <a:defRPr lang="ko-KR"/>
                </a:defPPr>
                <a:lvl1pPr>
                  <a:defRPr sz="7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socket.on(‘receive’, {</a:t>
                </a:r>
                <a:r>
                  <a:rPr lang="ko-KR" altLang="en-US">
                    <a:solidFill>
                      <a:schemeClr val="bg1">
                        <a:lumMod val="50000"/>
                      </a:schemeClr>
                    </a:solidFill>
                  </a:rPr>
                  <a:t>수신메시지</a:t>
                </a:r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...} )</a:t>
                </a:r>
                <a:endParaRPr lang="ko-KR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18310629-FDDA-9F3D-1F0A-E797E2DB8B13}"/>
                  </a:ext>
                </a:extLst>
              </p:cNvPr>
              <p:cNvSpPr/>
              <p:nvPr/>
            </p:nvSpPr>
            <p:spPr>
              <a:xfrm>
                <a:off x="2324100" y="5086666"/>
                <a:ext cx="1018550" cy="1584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54000" rtlCol="0" anchor="t" anchorCtr="0">
                <a:noAutofit/>
              </a:bodyPr>
              <a:lstStyle/>
              <a:p>
                <a:r>
                  <a:rPr lang="en-US" altLang="ko-KR" sz="700">
                    <a:solidFill>
                      <a:schemeClr val="tx1"/>
                    </a:solidFill>
                  </a:rPr>
                  <a:t>. </a:t>
                </a:r>
                <a:r>
                  <a:rPr lang="ko-KR" altLang="en-US" sz="700">
                    <a:solidFill>
                      <a:schemeClr val="tx1"/>
                    </a:solidFill>
                  </a:rPr>
                  <a:t>종료</a:t>
                </a:r>
                <a:endParaRPr lang="en-US" altLang="ko-KR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58FF3C62-3376-6D6E-A3BE-85AE8879D603}"/>
                  </a:ext>
                </a:extLst>
              </p:cNvPr>
              <p:cNvSpPr txBox="1"/>
              <p:nvPr/>
            </p:nvSpPr>
            <p:spPr>
              <a:xfrm>
                <a:off x="2469259" y="5246150"/>
                <a:ext cx="1868534" cy="200055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>
                <a:defPPr>
                  <a:defRPr lang="ko-KR"/>
                </a:defPPr>
                <a:lvl1pPr>
                  <a:defRPr sz="7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ko-KR">
                    <a:solidFill>
                      <a:schemeClr val="bg1">
                        <a:lumMod val="50000"/>
                      </a:schemeClr>
                    </a:solidFill>
                  </a:rPr>
                  <a:t>socket.on(‘disconnect’, reason )</a:t>
                </a:r>
                <a:endParaRPr lang="ko-KR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B45CFE52-7F42-F9BD-1DA2-A95B36661C32}"/>
                </a:ext>
              </a:extLst>
            </p:cNvPr>
            <p:cNvSpPr/>
            <p:nvPr/>
          </p:nvSpPr>
          <p:spPr>
            <a:xfrm>
              <a:off x="2197099" y="3630066"/>
              <a:ext cx="2119863" cy="181101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</a:endParaRPr>
            </a:p>
          </p:txBody>
        </p:sp>
      </p:grp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DE6851AD-17A3-6152-2ECB-D3821DBF7357}"/>
              </a:ext>
            </a:extLst>
          </p:cNvPr>
          <p:cNvSpPr/>
          <p:nvPr/>
        </p:nvSpPr>
        <p:spPr>
          <a:xfrm>
            <a:off x="10753914" y="4894697"/>
            <a:ext cx="1263600" cy="187821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D09A4791-BC1C-5BBC-352A-17BF410945CF}"/>
              </a:ext>
            </a:extLst>
          </p:cNvPr>
          <p:cNvSpPr/>
          <p:nvPr/>
        </p:nvSpPr>
        <p:spPr>
          <a:xfrm>
            <a:off x="10752451" y="4679350"/>
            <a:ext cx="1263600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aicc-chat-backend</a:t>
            </a:r>
          </a:p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server</a:t>
            </a:r>
            <a:endParaRPr lang="ko-KR" altLang="en-US" sz="7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EC6B0045-15E3-6A98-E7A5-20110932353F}"/>
              </a:ext>
            </a:extLst>
          </p:cNvPr>
          <p:cNvSpPr/>
          <p:nvPr/>
        </p:nvSpPr>
        <p:spPr>
          <a:xfrm>
            <a:off x="10821876" y="5008585"/>
            <a:ext cx="1136938" cy="71501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Nextjs(node)</a:t>
            </a: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B3DB4344-D990-5B01-9657-F3D592DEF947}"/>
              </a:ext>
            </a:extLst>
          </p:cNvPr>
          <p:cNvSpPr/>
          <p:nvPr/>
        </p:nvSpPr>
        <p:spPr>
          <a:xfrm>
            <a:off x="10720759" y="5093595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3B8BFF8C-97A6-7753-E5A8-B301445C4B02}"/>
              </a:ext>
            </a:extLst>
          </p:cNvPr>
          <p:cNvCxnSpPr>
            <a:cxnSpLocks/>
          </p:cNvCxnSpPr>
          <p:nvPr/>
        </p:nvCxnSpPr>
        <p:spPr>
          <a:xfrm>
            <a:off x="10821876" y="5207186"/>
            <a:ext cx="111807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47688A64-0D3C-627A-3241-E6ECA7088FE4}"/>
              </a:ext>
            </a:extLst>
          </p:cNvPr>
          <p:cNvSpPr/>
          <p:nvPr/>
        </p:nvSpPr>
        <p:spPr>
          <a:xfrm>
            <a:off x="11038617" y="5347008"/>
            <a:ext cx="687970" cy="281055"/>
          </a:xfrm>
          <a:prstGeom prst="roundRect">
            <a:avLst>
              <a:gd name="adj" fmla="val 4901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Websocket</a:t>
            </a:r>
          </a:p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event process</a:t>
            </a:r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6D7F34AF-D7BD-35D6-34DA-0D46616F33FB}"/>
              </a:ext>
            </a:extLst>
          </p:cNvPr>
          <p:cNvSpPr/>
          <p:nvPr/>
        </p:nvSpPr>
        <p:spPr>
          <a:xfrm>
            <a:off x="11337530" y="5316714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3848BBC0-DF52-E788-3637-A5E5940609AE}"/>
              </a:ext>
            </a:extLst>
          </p:cNvPr>
          <p:cNvSpPr/>
          <p:nvPr/>
        </p:nvSpPr>
        <p:spPr>
          <a:xfrm>
            <a:off x="11337530" y="5175998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85FB290E-51B0-2A66-C3A7-B228EEA4DCA2}"/>
              </a:ext>
            </a:extLst>
          </p:cNvPr>
          <p:cNvCxnSpPr>
            <a:cxnSpLocks/>
            <a:stCxn id="223" idx="4"/>
            <a:endCxn id="222" idx="0"/>
          </p:cNvCxnSpPr>
          <p:nvPr/>
        </p:nvCxnSpPr>
        <p:spPr>
          <a:xfrm>
            <a:off x="11364530" y="5229998"/>
            <a:ext cx="0" cy="86716"/>
          </a:xfrm>
          <a:prstGeom prst="straightConnector1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79BD9964-844E-3C9B-D3F6-350C11D74B72}"/>
              </a:ext>
            </a:extLst>
          </p:cNvPr>
          <p:cNvSpPr/>
          <p:nvPr/>
        </p:nvSpPr>
        <p:spPr>
          <a:xfrm>
            <a:off x="10946826" y="6161262"/>
            <a:ext cx="434088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Publish</a:t>
            </a:r>
            <a:endParaRPr lang="ko-KR" altLang="en-US" sz="7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1583AE7C-1835-259B-D3F8-55365FC8829A}"/>
              </a:ext>
            </a:extLst>
          </p:cNvPr>
          <p:cNvSpPr/>
          <p:nvPr/>
        </p:nvSpPr>
        <p:spPr>
          <a:xfrm>
            <a:off x="11438776" y="6161262"/>
            <a:ext cx="434088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bg1">
                    <a:lumMod val="75000"/>
                  </a:schemeClr>
                </a:solidFill>
              </a:rPr>
              <a:t>Subcribe</a:t>
            </a:r>
            <a:endParaRPr lang="ko-KR" altLang="en-US" sz="7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985134DF-CA99-986A-8D8C-E3E185085C32}"/>
              </a:ext>
            </a:extLst>
          </p:cNvPr>
          <p:cNvSpPr/>
          <p:nvPr/>
        </p:nvSpPr>
        <p:spPr>
          <a:xfrm>
            <a:off x="11271112" y="560353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A4AB5841-4AE8-F346-D263-DDEC6D5C8792}"/>
              </a:ext>
            </a:extLst>
          </p:cNvPr>
          <p:cNvSpPr/>
          <p:nvPr/>
        </p:nvSpPr>
        <p:spPr>
          <a:xfrm>
            <a:off x="11455578" y="560353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29" name="연결선: 꺾임 228">
            <a:extLst>
              <a:ext uri="{FF2B5EF4-FFF2-40B4-BE49-F238E27FC236}">
                <a16:creationId xmlns:a16="http://schemas.microsoft.com/office/drawing/2014/main" id="{24BB9D0A-280B-C6D8-2C61-5155946DA72E}"/>
              </a:ext>
            </a:extLst>
          </p:cNvPr>
          <p:cNvCxnSpPr>
            <a:cxnSpLocks/>
            <a:stCxn id="225" idx="0"/>
            <a:endCxn id="227" idx="4"/>
          </p:cNvCxnSpPr>
          <p:nvPr/>
        </p:nvCxnSpPr>
        <p:spPr>
          <a:xfrm rot="5400000" flipH="1" flipV="1">
            <a:off x="10979126" y="5842276"/>
            <a:ext cx="503731" cy="1342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연결선: 꺾임 229">
            <a:extLst>
              <a:ext uri="{FF2B5EF4-FFF2-40B4-BE49-F238E27FC236}">
                <a16:creationId xmlns:a16="http://schemas.microsoft.com/office/drawing/2014/main" id="{85E6770A-CB3D-E3DC-9A0E-756AB5BA212A}"/>
              </a:ext>
            </a:extLst>
          </p:cNvPr>
          <p:cNvCxnSpPr>
            <a:cxnSpLocks/>
            <a:stCxn id="226" idx="0"/>
            <a:endCxn id="228" idx="4"/>
          </p:cNvCxnSpPr>
          <p:nvPr/>
        </p:nvCxnSpPr>
        <p:spPr>
          <a:xfrm rot="16200000" flipV="1">
            <a:off x="11317334" y="5822776"/>
            <a:ext cx="503731" cy="1732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661B85BD-2FA5-4B35-BC09-A142BDA182F2}"/>
              </a:ext>
            </a:extLst>
          </p:cNvPr>
          <p:cNvSpPr/>
          <p:nvPr/>
        </p:nvSpPr>
        <p:spPr>
          <a:xfrm>
            <a:off x="10971743" y="6450647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</a:t>
            </a:r>
            <a:endParaRPr lang="ko-KR" altLang="en-US" sz="60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7C87A756-4A72-C761-D691-1445BA342102}"/>
              </a:ext>
            </a:extLst>
          </p:cNvPr>
          <p:cNvSpPr/>
          <p:nvPr/>
        </p:nvSpPr>
        <p:spPr>
          <a:xfrm>
            <a:off x="11674342" y="6450647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</a:t>
            </a:r>
            <a:endParaRPr lang="ko-KR" altLang="en-US" sz="60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358DE770-D119-1E8A-C6AC-217220B4EC26}"/>
              </a:ext>
            </a:extLst>
          </p:cNvPr>
          <p:cNvSpPr/>
          <p:nvPr/>
        </p:nvSpPr>
        <p:spPr>
          <a:xfrm>
            <a:off x="7626405" y="2192561"/>
            <a:ext cx="411648" cy="159401"/>
          </a:xfrm>
          <a:prstGeom prst="roundRect">
            <a:avLst>
              <a:gd name="adj" fmla="val 490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STOMP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51A68A3-07EC-2C5E-1EF2-D06AF6137831}"/>
              </a:ext>
            </a:extLst>
          </p:cNvPr>
          <p:cNvSpPr/>
          <p:nvPr/>
        </p:nvSpPr>
        <p:spPr>
          <a:xfrm>
            <a:off x="9083060" y="2159650"/>
            <a:ext cx="784839" cy="505304"/>
          </a:xfrm>
          <a:prstGeom prst="roundRect">
            <a:avLst>
              <a:gd name="adj" fmla="val 490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BOT-AGENT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448C011-F4EC-53C3-EC01-284CA446BB0E}"/>
              </a:ext>
            </a:extLst>
          </p:cNvPr>
          <p:cNvSpPr/>
          <p:nvPr/>
        </p:nvSpPr>
        <p:spPr>
          <a:xfrm>
            <a:off x="9602480" y="3219710"/>
            <a:ext cx="784839" cy="505304"/>
          </a:xfrm>
          <a:prstGeom prst="roundRect">
            <a:avLst>
              <a:gd name="adj" fmla="val 490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BOT-SERVER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E6CD97-9BC0-D9FE-57B3-0B30FAA3C5E8}"/>
              </a:ext>
            </a:extLst>
          </p:cNvPr>
          <p:cNvSpPr/>
          <p:nvPr/>
        </p:nvSpPr>
        <p:spPr>
          <a:xfrm>
            <a:off x="9697899" y="3448952"/>
            <a:ext cx="594000" cy="12868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r>
              <a:rPr lang="ko-KR" altLang="en-US" sz="600">
                <a:solidFill>
                  <a:schemeClr val="tx1"/>
                </a:solidFill>
              </a:rPr>
              <a:t>에뮬레이터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7AFA01-352C-AC86-ADF6-1059B60A1398}"/>
              </a:ext>
            </a:extLst>
          </p:cNvPr>
          <p:cNvSpPr/>
          <p:nvPr/>
        </p:nvSpPr>
        <p:spPr>
          <a:xfrm>
            <a:off x="9168783" y="2398278"/>
            <a:ext cx="613392" cy="12868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r>
              <a:rPr lang="en-US" altLang="ko-KR" sz="600">
                <a:solidFill>
                  <a:schemeClr val="tx1"/>
                </a:solidFill>
              </a:rPr>
              <a:t>Node.js</a:t>
            </a:r>
            <a:r>
              <a:rPr lang="ko-KR" altLang="en-US" sz="600">
                <a:solidFill>
                  <a:schemeClr val="tx1"/>
                </a:solidFill>
              </a:rPr>
              <a:t>로 만듦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8619B724-26D1-1426-D9FE-FDAD1492A5FE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 flipV="1">
            <a:off x="8156698" y="2412302"/>
            <a:ext cx="926362" cy="2648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C94F962-3952-1E2C-7571-CBFCA4FA19C6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16200000" flipH="1">
            <a:off x="9457812" y="2682622"/>
            <a:ext cx="554756" cy="51942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33455E-0F0B-B104-8DD5-CA0B56CFBCB3}"/>
              </a:ext>
            </a:extLst>
          </p:cNvPr>
          <p:cNvSpPr/>
          <p:nvPr/>
        </p:nvSpPr>
        <p:spPr>
          <a:xfrm>
            <a:off x="1977242" y="1425038"/>
            <a:ext cx="1745672" cy="216130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25ADE1-18E6-B0C4-AE54-C5C3B7503A3D}"/>
              </a:ext>
            </a:extLst>
          </p:cNvPr>
          <p:cNvSpPr/>
          <p:nvPr/>
        </p:nvSpPr>
        <p:spPr>
          <a:xfrm>
            <a:off x="1972788" y="635650"/>
            <a:ext cx="1688307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/frontend/chat-customer.html [</a:t>
            </a:r>
            <a:r>
              <a:rPr lang="ko-KR" altLang="en-US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고객</a:t>
            </a:r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BB5645-A029-FCE0-C1AA-295D02C84E94}"/>
              </a:ext>
            </a:extLst>
          </p:cNvPr>
          <p:cNvSpPr/>
          <p:nvPr/>
        </p:nvSpPr>
        <p:spPr>
          <a:xfrm>
            <a:off x="2012155" y="804852"/>
            <a:ext cx="1688307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/frontend/chat-agent.html [</a:t>
            </a:r>
            <a:r>
              <a:rPr lang="ko-KR" altLang="en-US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상담사</a:t>
            </a:r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F8E8A6-FB02-EA4D-3E4A-4134090C2DF4}"/>
              </a:ext>
            </a:extLst>
          </p:cNvPr>
          <p:cNvSpPr/>
          <p:nvPr/>
        </p:nvSpPr>
        <p:spPr>
          <a:xfrm>
            <a:off x="9406684" y="577977"/>
            <a:ext cx="1024506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500">
                <a:solidFill>
                  <a:schemeClr val="tx1"/>
                </a:solidFill>
              </a:rPr>
              <a:t>1.AICC (FRONTEND)-</a:t>
            </a:r>
            <a:r>
              <a:rPr lang="ko-KR" altLang="en-US" sz="500">
                <a:solidFill>
                  <a:schemeClr val="tx1"/>
                </a:solidFill>
              </a:rPr>
              <a:t>고객</a:t>
            </a:r>
            <a:endParaRPr lang="en-US" altLang="ko-KR" sz="5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133F07-A277-D58F-B41A-7E06C7E1A7D0}"/>
              </a:ext>
            </a:extLst>
          </p:cNvPr>
          <p:cNvSpPr/>
          <p:nvPr/>
        </p:nvSpPr>
        <p:spPr>
          <a:xfrm>
            <a:off x="9406684" y="1076298"/>
            <a:ext cx="1024506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500">
                <a:solidFill>
                  <a:schemeClr val="tx1"/>
                </a:solidFill>
              </a:rPr>
              <a:t>3.AICC (BACKEND) - </a:t>
            </a:r>
            <a:r>
              <a:rPr lang="ko-KR" altLang="en-US" sz="500">
                <a:solidFill>
                  <a:schemeClr val="tx1"/>
                </a:solidFill>
              </a:rPr>
              <a:t>고객</a:t>
            </a:r>
            <a:endParaRPr lang="en-US" altLang="ko-KR" sz="50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189D89F-4C50-630E-B95F-F3EA1D38B599}"/>
              </a:ext>
            </a:extLst>
          </p:cNvPr>
          <p:cNvSpPr/>
          <p:nvPr/>
        </p:nvSpPr>
        <p:spPr>
          <a:xfrm>
            <a:off x="10563540" y="577977"/>
            <a:ext cx="633413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Next.js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E345F31-01F5-7F5E-4E09-2F23B73B9517}"/>
              </a:ext>
            </a:extLst>
          </p:cNvPr>
          <p:cNvSpPr/>
          <p:nvPr/>
        </p:nvSpPr>
        <p:spPr>
          <a:xfrm>
            <a:off x="10563540" y="1065477"/>
            <a:ext cx="633413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SpringBoot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30AFF8-C6F9-13AF-F4B8-32995466A308}"/>
              </a:ext>
            </a:extLst>
          </p:cNvPr>
          <p:cNvSpPr/>
          <p:nvPr/>
        </p:nvSpPr>
        <p:spPr>
          <a:xfrm>
            <a:off x="11258865" y="577977"/>
            <a:ext cx="358904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8B6501-3113-B6AB-9B01-BF122E4BB16A}"/>
              </a:ext>
            </a:extLst>
          </p:cNvPr>
          <p:cNvSpPr/>
          <p:nvPr/>
        </p:nvSpPr>
        <p:spPr>
          <a:xfrm>
            <a:off x="9397585" y="325565"/>
            <a:ext cx="633413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0.NGINX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AD176A5-234B-2647-525C-79A31D85C83B}"/>
              </a:ext>
            </a:extLst>
          </p:cNvPr>
          <p:cNvCxnSpPr>
            <a:cxnSpLocks/>
          </p:cNvCxnSpPr>
          <p:nvPr/>
        </p:nvCxnSpPr>
        <p:spPr>
          <a:xfrm>
            <a:off x="11393932" y="728755"/>
            <a:ext cx="0" cy="33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5DC51B8-A059-1BF9-61D7-E6FB3500F024}"/>
              </a:ext>
            </a:extLst>
          </p:cNvPr>
          <p:cNvSpPr/>
          <p:nvPr/>
        </p:nvSpPr>
        <p:spPr>
          <a:xfrm>
            <a:off x="11258865" y="1070239"/>
            <a:ext cx="358904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8080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AE3B7D8-C2DC-D6EC-7923-42172FF6449A}"/>
              </a:ext>
            </a:extLst>
          </p:cNvPr>
          <p:cNvSpPr/>
          <p:nvPr/>
        </p:nvSpPr>
        <p:spPr>
          <a:xfrm>
            <a:off x="8982672" y="785102"/>
            <a:ext cx="396000" cy="7694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ko-KR" altLang="en-US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상담사</a:t>
            </a:r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.html</a:t>
            </a:r>
            <a:endParaRPr lang="ko-KR" altLang="en-US" sz="5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82A19F2-C145-2B4B-2042-591B1C21A566}"/>
              </a:ext>
            </a:extLst>
          </p:cNvPr>
          <p:cNvSpPr/>
          <p:nvPr/>
        </p:nvSpPr>
        <p:spPr>
          <a:xfrm>
            <a:off x="7787997" y="436288"/>
            <a:ext cx="396000" cy="7694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ko-KR" altLang="en-US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고객</a:t>
            </a:r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.html</a:t>
            </a:r>
            <a:endParaRPr lang="ko-KR" altLang="en-US" sz="5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55647B-B05D-06ED-0C7A-0F09759703F6}"/>
              </a:ext>
            </a:extLst>
          </p:cNvPr>
          <p:cNvSpPr/>
          <p:nvPr/>
        </p:nvSpPr>
        <p:spPr>
          <a:xfrm>
            <a:off x="9406684" y="736377"/>
            <a:ext cx="1024506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500">
                <a:solidFill>
                  <a:schemeClr val="tx1"/>
                </a:solidFill>
              </a:rPr>
              <a:t>2.AICC (FRONTEND)-</a:t>
            </a:r>
            <a:r>
              <a:rPr lang="ko-KR" altLang="en-US" sz="500">
                <a:solidFill>
                  <a:schemeClr val="tx1"/>
                </a:solidFill>
              </a:rPr>
              <a:t>상담사</a:t>
            </a:r>
            <a:endParaRPr lang="en-US" altLang="ko-KR" sz="5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CF374B6-11BF-8540-D3F7-A5692AFA9FFD}"/>
              </a:ext>
            </a:extLst>
          </p:cNvPr>
          <p:cNvSpPr/>
          <p:nvPr/>
        </p:nvSpPr>
        <p:spPr>
          <a:xfrm>
            <a:off x="9406684" y="1244002"/>
            <a:ext cx="1024506" cy="1584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500">
                <a:solidFill>
                  <a:schemeClr val="tx1"/>
                </a:solidFill>
              </a:rPr>
              <a:t>4.AICC (BACKEND) - </a:t>
            </a:r>
            <a:r>
              <a:rPr lang="ko-KR" altLang="en-US" sz="500">
                <a:solidFill>
                  <a:schemeClr val="tx1"/>
                </a:solidFill>
              </a:rPr>
              <a:t>상담사</a:t>
            </a:r>
            <a:endParaRPr lang="en-US" altLang="ko-KR" sz="500">
              <a:solidFill>
                <a:schemeClr val="tx1"/>
              </a:solidFill>
            </a:endParaRPr>
          </a:p>
        </p:txBody>
      </p:sp>
      <p:cxnSp>
        <p:nvCxnSpPr>
          <p:cNvPr id="62" name="연결선: 구부러짐 61">
            <a:extLst>
              <a:ext uri="{FF2B5EF4-FFF2-40B4-BE49-F238E27FC236}">
                <a16:creationId xmlns:a16="http://schemas.microsoft.com/office/drawing/2014/main" id="{CFFA365F-CB69-86C2-832F-0887D0C16059}"/>
              </a:ext>
            </a:extLst>
          </p:cNvPr>
          <p:cNvCxnSpPr>
            <a:cxnSpLocks/>
            <a:stCxn id="41" idx="2"/>
            <a:endCxn id="35" idx="1"/>
          </p:cNvCxnSpPr>
          <p:nvPr/>
        </p:nvCxnSpPr>
        <p:spPr>
          <a:xfrm rot="5400000" flipH="1" flipV="1">
            <a:off x="8473586" y="-16542"/>
            <a:ext cx="502691" cy="1345305"/>
          </a:xfrm>
          <a:prstGeom prst="curvedConnector4">
            <a:avLst>
              <a:gd name="adj1" fmla="val -45475"/>
              <a:gd name="adj2" fmla="val 596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CA74F53-0FC0-23C1-3C67-9F6BED6F596D}"/>
              </a:ext>
            </a:extLst>
          </p:cNvPr>
          <p:cNvSpPr/>
          <p:nvPr/>
        </p:nvSpPr>
        <p:spPr>
          <a:xfrm>
            <a:off x="9352907" y="1022858"/>
            <a:ext cx="2334712" cy="423447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3EEC5E6-4675-DBB4-1CF6-5DF102B050D9}"/>
              </a:ext>
            </a:extLst>
          </p:cNvPr>
          <p:cNvSpPr/>
          <p:nvPr/>
        </p:nvSpPr>
        <p:spPr>
          <a:xfrm>
            <a:off x="7792405" y="510896"/>
            <a:ext cx="519749" cy="39656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54000" rtlCol="0" anchor="t" anchorCtr="0">
            <a:no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edge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6932FF8-2484-1927-CEAB-200D3D91C383}"/>
              </a:ext>
            </a:extLst>
          </p:cNvPr>
          <p:cNvSpPr/>
          <p:nvPr/>
        </p:nvSpPr>
        <p:spPr>
          <a:xfrm>
            <a:off x="7814997" y="785102"/>
            <a:ext cx="396000" cy="7694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ko-KR" altLang="en-US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접속</a:t>
            </a:r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이벤트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B2B211F5-4FEB-6AFB-A41C-82394AC0DF37}"/>
              </a:ext>
            </a:extLst>
          </p:cNvPr>
          <p:cNvGrpSpPr/>
          <p:nvPr/>
        </p:nvGrpSpPr>
        <p:grpSpPr>
          <a:xfrm>
            <a:off x="3150287" y="-19214"/>
            <a:ext cx="4436589" cy="523220"/>
            <a:chOff x="3150287" y="-19214"/>
            <a:chExt cx="4436589" cy="523220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4A3700F-1295-4BB8-E331-8A34CC681E4E}"/>
                </a:ext>
              </a:extLst>
            </p:cNvPr>
            <p:cNvSpPr txBox="1"/>
            <p:nvPr/>
          </p:nvSpPr>
          <p:spPr>
            <a:xfrm>
              <a:off x="3150287" y="-19214"/>
              <a:ext cx="38107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700">
                  <a:latin typeface="D2Coding" panose="020B0609020101020101" pitchFamily="49" charset="-127"/>
                  <a:ea typeface="D2Coding" panose="020B0609020101020101" pitchFamily="49" charset="-127"/>
                </a:rPr>
                <a:t>http://localhost:28070/frontend/chat-customer.html </a:t>
              </a:r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(ui)</a:t>
              </a:r>
            </a:p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http://localhost:28070/api/me (api)</a:t>
              </a:r>
            </a:p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http://localhost:28070/ws-chat/info?token=eyJn0=&amp;roomId=roomid&amp;t=17690 (stomp)     </a:t>
              </a:r>
            </a:p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ws://localhost:28070/ws-chat/641/fwznlidm/websocket?token=e&amp;roomId=rfa1 (websocke)</a:t>
              </a:r>
              <a:endParaRPr lang="ko-KR" altLang="en-US" sz="70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D1CB403-7876-FD98-E8D6-573D4DF1B5EC}"/>
                </a:ext>
              </a:extLst>
            </p:cNvPr>
            <p:cNvSpPr txBox="1"/>
            <p:nvPr/>
          </p:nvSpPr>
          <p:spPr>
            <a:xfrm>
              <a:off x="6961060" y="-19214"/>
              <a:ext cx="62581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[ 0 -&gt; 1 ]</a:t>
              </a:r>
            </a:p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[ 0 -&gt; 5 ]</a:t>
              </a:r>
            </a:p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[ 0 -&gt; 5 ]</a:t>
              </a:r>
            </a:p>
            <a:p>
              <a:r>
                <a:rPr lang="en-US" altLang="ko-KR" sz="700">
                  <a:latin typeface="D2Coding" panose="020B0609020101020101" pitchFamily="49" charset="-127"/>
                  <a:ea typeface="D2Coding" panose="020B0609020101020101" pitchFamily="49" charset="-127"/>
                </a:rPr>
                <a:t>[ 0 -&gt; 5 ]</a:t>
              </a:r>
              <a:endParaRPr lang="ko-KR" altLang="en-US" sz="70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80" name="연결선: 구부러짐 79">
            <a:extLst>
              <a:ext uri="{FF2B5EF4-FFF2-40B4-BE49-F238E27FC236}">
                <a16:creationId xmlns:a16="http://schemas.microsoft.com/office/drawing/2014/main" id="{1633DF1E-A6DA-1C1A-EFA7-4ADE034C25AF}"/>
              </a:ext>
            </a:extLst>
          </p:cNvPr>
          <p:cNvCxnSpPr>
            <a:cxnSpLocks/>
            <a:stCxn id="70" idx="1"/>
            <a:endCxn id="61" idx="6"/>
          </p:cNvCxnSpPr>
          <p:nvPr/>
        </p:nvCxnSpPr>
        <p:spPr>
          <a:xfrm rot="10800000" flipV="1">
            <a:off x="8186125" y="1234582"/>
            <a:ext cx="1166783" cy="99961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순서도: 자기 디스크 86">
            <a:extLst>
              <a:ext uri="{FF2B5EF4-FFF2-40B4-BE49-F238E27FC236}">
                <a16:creationId xmlns:a16="http://schemas.microsoft.com/office/drawing/2014/main" id="{7A56F87E-0619-F265-39FA-8183ED13B9F6}"/>
              </a:ext>
            </a:extLst>
          </p:cNvPr>
          <p:cNvSpPr/>
          <p:nvPr/>
        </p:nvSpPr>
        <p:spPr>
          <a:xfrm>
            <a:off x="6262688" y="3984237"/>
            <a:ext cx="674450" cy="466928"/>
          </a:xfrm>
          <a:prstGeom prst="flowChartMagneticDisk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54000" rIns="36000" bIns="0" rtlCol="0" anchor="ctr" anchorCtr="0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PostgreSQL</a:t>
            </a:r>
          </a:p>
          <a:p>
            <a:pPr algn="ctr"/>
            <a:r>
              <a:rPr lang="ko-KR" altLang="en-US" sz="700">
                <a:solidFill>
                  <a:schemeClr val="tx1"/>
                </a:solidFill>
              </a:rPr>
              <a:t>이력</a:t>
            </a:r>
          </a:p>
        </p:txBody>
      </p:sp>
      <p:sp>
        <p:nvSpPr>
          <p:cNvPr id="37" name="순서도: 가산 접합 36">
            <a:extLst>
              <a:ext uri="{FF2B5EF4-FFF2-40B4-BE49-F238E27FC236}">
                <a16:creationId xmlns:a16="http://schemas.microsoft.com/office/drawing/2014/main" id="{7432453E-F238-2886-5B8E-3E7E0F1FD8E1}"/>
              </a:ext>
            </a:extLst>
          </p:cNvPr>
          <p:cNvSpPr/>
          <p:nvPr/>
        </p:nvSpPr>
        <p:spPr>
          <a:xfrm>
            <a:off x="8508306" y="1965389"/>
            <a:ext cx="191046" cy="191046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78BF1E52-FB04-1656-3E7F-AC3319A70351}"/>
              </a:ext>
            </a:extLst>
          </p:cNvPr>
          <p:cNvSpPr/>
          <p:nvPr/>
        </p:nvSpPr>
        <p:spPr>
          <a:xfrm>
            <a:off x="8132124" y="1891962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61C324F6-FFEB-318A-AF06-B61D61471BBE}"/>
              </a:ext>
            </a:extLst>
          </p:cNvPr>
          <p:cNvSpPr/>
          <p:nvPr/>
        </p:nvSpPr>
        <p:spPr>
          <a:xfrm>
            <a:off x="8132124" y="2207196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1153B948-579F-4DCC-6F53-5331FAF25B5E}"/>
              </a:ext>
            </a:extLst>
          </p:cNvPr>
          <p:cNvCxnSpPr>
            <a:cxnSpLocks/>
            <a:endCxn id="58" idx="6"/>
          </p:cNvCxnSpPr>
          <p:nvPr/>
        </p:nvCxnSpPr>
        <p:spPr>
          <a:xfrm rot="5400000">
            <a:off x="8167399" y="502690"/>
            <a:ext cx="1434997" cy="139754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7E0F623-AC20-FCE6-E5C1-A318E83C1EC3}"/>
              </a:ext>
            </a:extLst>
          </p:cNvPr>
          <p:cNvSpPr/>
          <p:nvPr/>
        </p:nvSpPr>
        <p:spPr>
          <a:xfrm>
            <a:off x="8374833" y="942670"/>
            <a:ext cx="629253" cy="1538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ko-KR" altLang="en-US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웹소켓 </a:t>
            </a:r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(/ws-chat)</a:t>
            </a:r>
          </a:p>
          <a:p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http://.../ws-chat</a:t>
            </a:r>
            <a:endParaRPr lang="ko-KR" altLang="en-US" sz="5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3BE02E9-AFD7-1FE6-E3B2-3520E9827EFE}"/>
              </a:ext>
            </a:extLst>
          </p:cNvPr>
          <p:cNvSpPr/>
          <p:nvPr/>
        </p:nvSpPr>
        <p:spPr>
          <a:xfrm>
            <a:off x="8903470" y="1579277"/>
            <a:ext cx="629253" cy="1538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ko-KR" altLang="en-US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웹소켓 </a:t>
            </a:r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(/ws-chat)</a:t>
            </a:r>
          </a:p>
          <a:p>
            <a:r>
              <a:rPr lang="en-US" altLang="ko-KR" sz="5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http://.../ws-chat</a:t>
            </a:r>
            <a:endParaRPr lang="ko-KR" altLang="en-US" sz="5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AC39B318-C952-D4F7-E1AA-DBF98DF9AA2E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 flipV="1">
            <a:off x="6628172" y="2209402"/>
            <a:ext cx="332889" cy="1778881"/>
          </a:xfrm>
          <a:prstGeom prst="bentConnector2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3696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C00DD289-B017-D462-4D24-BD2CF07A6D1C}"/>
              </a:ext>
            </a:extLst>
          </p:cNvPr>
          <p:cNvSpPr/>
          <p:nvPr/>
        </p:nvSpPr>
        <p:spPr>
          <a:xfrm>
            <a:off x="5370890" y="3997493"/>
            <a:ext cx="1028137" cy="466928"/>
          </a:xfrm>
          <a:prstGeom prst="flowChartMagneticDisk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54000" rIns="36000" bIns="0" rtlCol="0" anchor="ctr" anchorCtr="0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Pub/Sub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B59CEE-E995-396E-AFB8-E658BF9080E1}"/>
              </a:ext>
            </a:extLst>
          </p:cNvPr>
          <p:cNvSpPr/>
          <p:nvPr/>
        </p:nvSpPr>
        <p:spPr>
          <a:xfrm>
            <a:off x="6893098" y="1814932"/>
            <a:ext cx="1263600" cy="180128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9B698E-6BE3-2EC9-A2FE-F8A297411A68}"/>
              </a:ext>
            </a:extLst>
          </p:cNvPr>
          <p:cNvSpPr/>
          <p:nvPr/>
        </p:nvSpPr>
        <p:spPr>
          <a:xfrm>
            <a:off x="6891635" y="1597296"/>
            <a:ext cx="1263600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ai-bot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E530E2C-CD39-520B-C0D3-DD9631A39D47}"/>
              </a:ext>
            </a:extLst>
          </p:cNvPr>
          <p:cNvSpPr/>
          <p:nvPr/>
        </p:nvSpPr>
        <p:spPr>
          <a:xfrm>
            <a:off x="7289267" y="2190318"/>
            <a:ext cx="459518" cy="281055"/>
          </a:xfrm>
          <a:prstGeom prst="roundRect">
            <a:avLst>
              <a:gd name="adj" fmla="val 4901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ai-bot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api(s)</a:t>
            </a: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63230331-946D-4450-02FF-B65148FC7FA8}"/>
              </a:ext>
            </a:extLst>
          </p:cNvPr>
          <p:cNvCxnSpPr>
            <a:cxnSpLocks/>
            <a:stCxn id="36" idx="2"/>
            <a:endCxn id="181" idx="0"/>
          </p:cNvCxnSpPr>
          <p:nvPr/>
        </p:nvCxnSpPr>
        <p:spPr>
          <a:xfrm rot="16200000" flipH="1">
            <a:off x="7512154" y="2478244"/>
            <a:ext cx="270880" cy="2571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타원 66">
            <a:extLst>
              <a:ext uri="{FF2B5EF4-FFF2-40B4-BE49-F238E27FC236}">
                <a16:creationId xmlns:a16="http://schemas.microsoft.com/office/drawing/2014/main" id="{8B5EB746-7FF4-FA59-5F04-9596A66CED65}"/>
              </a:ext>
            </a:extLst>
          </p:cNvPr>
          <p:cNvSpPr/>
          <p:nvPr/>
        </p:nvSpPr>
        <p:spPr>
          <a:xfrm>
            <a:off x="5775810" y="3977503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2F5E707-CD11-0C2E-3066-61AA2C8238CA}"/>
              </a:ext>
            </a:extLst>
          </p:cNvPr>
          <p:cNvSpPr/>
          <p:nvPr/>
        </p:nvSpPr>
        <p:spPr>
          <a:xfrm>
            <a:off x="5940107" y="3977503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7154DB2-FFA9-F70C-98FB-E9C11F9BD7A2}"/>
              </a:ext>
            </a:extLst>
          </p:cNvPr>
          <p:cNvSpPr/>
          <p:nvPr/>
        </p:nvSpPr>
        <p:spPr>
          <a:xfrm>
            <a:off x="6754972" y="2754675"/>
            <a:ext cx="36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 call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0" name="순서도: 대체 처리 119">
            <a:extLst>
              <a:ext uri="{FF2B5EF4-FFF2-40B4-BE49-F238E27FC236}">
                <a16:creationId xmlns:a16="http://schemas.microsoft.com/office/drawing/2014/main" id="{9A88A37C-4F4A-3C7A-7029-4A4CCE6C5747}"/>
              </a:ext>
            </a:extLst>
          </p:cNvPr>
          <p:cNvSpPr/>
          <p:nvPr/>
        </p:nvSpPr>
        <p:spPr>
          <a:xfrm>
            <a:off x="5331056" y="1903623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질의의 답변 요청</a:t>
            </a:r>
            <a:endParaRPr lang="en-US" altLang="ko-KR" sz="700">
              <a:solidFill>
                <a:schemeClr val="tx1"/>
              </a:solidFill>
            </a:endParaRPr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F2F852BC-7F1C-F7AF-0FD0-C7ABE957CA31}"/>
              </a:ext>
            </a:extLst>
          </p:cNvPr>
          <p:cNvCxnSpPr>
            <a:cxnSpLocks/>
            <a:stCxn id="120" idx="3"/>
            <a:endCxn id="36" idx="0"/>
          </p:cNvCxnSpPr>
          <p:nvPr/>
        </p:nvCxnSpPr>
        <p:spPr>
          <a:xfrm>
            <a:off x="5943056" y="2042914"/>
            <a:ext cx="1575970" cy="147404"/>
          </a:xfrm>
          <a:prstGeom prst="bentConnector2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순서도: 대체 처리 127">
            <a:extLst>
              <a:ext uri="{FF2B5EF4-FFF2-40B4-BE49-F238E27FC236}">
                <a16:creationId xmlns:a16="http://schemas.microsoft.com/office/drawing/2014/main" id="{BB4C4D89-DAE1-68EA-3957-A3EDAD57CC67}"/>
              </a:ext>
            </a:extLst>
          </p:cNvPr>
          <p:cNvSpPr/>
          <p:nvPr/>
        </p:nvSpPr>
        <p:spPr>
          <a:xfrm>
            <a:off x="5822309" y="2344988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질의의 답변 응답 처리</a:t>
            </a:r>
            <a:endParaRPr lang="en-US" altLang="ko-KR" sz="700">
              <a:solidFill>
                <a:schemeClr val="tx1"/>
              </a:solidFill>
            </a:endParaRPr>
          </a:p>
        </p:txBody>
      </p: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C8E52614-127A-EBCC-A87C-580E79220996}"/>
              </a:ext>
            </a:extLst>
          </p:cNvPr>
          <p:cNvCxnSpPr>
            <a:cxnSpLocks/>
            <a:stCxn id="178" idx="1"/>
            <a:endCxn id="128" idx="3"/>
          </p:cNvCxnSpPr>
          <p:nvPr/>
        </p:nvCxnSpPr>
        <p:spPr>
          <a:xfrm rot="10800000">
            <a:off x="6416310" y="2484279"/>
            <a:ext cx="677325" cy="3838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2" name="순서도: 대체 처리 141">
            <a:extLst>
              <a:ext uri="{FF2B5EF4-FFF2-40B4-BE49-F238E27FC236}">
                <a16:creationId xmlns:a16="http://schemas.microsoft.com/office/drawing/2014/main" id="{FE30C872-6BCF-C51A-ADE3-E2D77772A374}"/>
              </a:ext>
            </a:extLst>
          </p:cNvPr>
          <p:cNvSpPr/>
          <p:nvPr/>
        </p:nvSpPr>
        <p:spPr>
          <a:xfrm>
            <a:off x="5331056" y="2803505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Event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71BD3935-2389-0803-F608-099C542CC1F9}"/>
              </a:ext>
            </a:extLst>
          </p:cNvPr>
          <p:cNvCxnSpPr>
            <a:cxnSpLocks/>
            <a:stCxn id="67" idx="0"/>
            <a:endCxn id="142" idx="2"/>
          </p:cNvCxnSpPr>
          <p:nvPr/>
        </p:nvCxnSpPr>
        <p:spPr>
          <a:xfrm rot="16200000" flipV="1">
            <a:off x="5272225" y="3446918"/>
            <a:ext cx="895416" cy="1657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C301F049-E576-376D-1E28-54EF271391E4}"/>
              </a:ext>
            </a:extLst>
          </p:cNvPr>
          <p:cNvCxnSpPr>
            <a:stCxn id="120" idx="2"/>
            <a:endCxn id="142" idx="0"/>
          </p:cNvCxnSpPr>
          <p:nvPr/>
        </p:nvCxnSpPr>
        <p:spPr>
          <a:xfrm>
            <a:off x="5637056" y="2182205"/>
            <a:ext cx="0" cy="6213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86BBABEE-78CF-A424-EB3A-5DE2A92B3785}"/>
              </a:ext>
            </a:extLst>
          </p:cNvPr>
          <p:cNvCxnSpPr>
            <a:cxnSpLocks/>
            <a:stCxn id="128" idx="2"/>
            <a:endCxn id="75" idx="0"/>
          </p:cNvCxnSpPr>
          <p:nvPr/>
        </p:nvCxnSpPr>
        <p:spPr>
          <a:xfrm rot="5400000">
            <a:off x="5366242" y="3224435"/>
            <a:ext cx="1353933" cy="1522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73ACE6C-6EDB-C71A-FEEF-81FF06D7ECD4}"/>
              </a:ext>
            </a:extLst>
          </p:cNvPr>
          <p:cNvSpPr/>
          <p:nvPr/>
        </p:nvSpPr>
        <p:spPr>
          <a:xfrm>
            <a:off x="6039027" y="1927102"/>
            <a:ext cx="36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 call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6A0C8BF5-FA6A-0B2A-C449-62AB7E0C1E46}"/>
              </a:ext>
            </a:extLst>
          </p:cNvPr>
          <p:cNvSpPr/>
          <p:nvPr/>
        </p:nvSpPr>
        <p:spPr>
          <a:xfrm>
            <a:off x="5271784" y="1814933"/>
            <a:ext cx="1264350" cy="1801286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DA1BE5CB-2085-23A9-657C-454A0E832CF9}"/>
              </a:ext>
            </a:extLst>
          </p:cNvPr>
          <p:cNvGrpSpPr/>
          <p:nvPr/>
        </p:nvGrpSpPr>
        <p:grpSpPr>
          <a:xfrm>
            <a:off x="7093634" y="2742253"/>
            <a:ext cx="862529" cy="251795"/>
            <a:chOff x="7139940" y="2742253"/>
            <a:chExt cx="862529" cy="251795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416ABCB0-452E-511E-DBD8-A25C1D1F1E4F}"/>
                </a:ext>
              </a:extLst>
            </p:cNvPr>
            <p:cNvSpPr/>
            <p:nvPr/>
          </p:nvSpPr>
          <p:spPr>
            <a:xfrm>
              <a:off x="7139940" y="2742253"/>
              <a:ext cx="360000" cy="251795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18000" rIns="18000" bIns="18000" rtlCol="0" anchor="ctr" anchorCtr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</a:rPr>
                <a:t>ai-bot</a:t>
              </a:r>
            </a:p>
            <a:p>
              <a:pPr algn="ctr"/>
              <a:r>
                <a:rPr lang="en-US" altLang="ko-KR" sz="700">
                  <a:solidFill>
                    <a:schemeClr val="tx1"/>
                  </a:solidFill>
                </a:rPr>
                <a:t>process</a:t>
              </a:r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3C1DCF4A-580F-3FCF-8AA5-1C94E72D02FB}"/>
                </a:ext>
              </a:extLst>
            </p:cNvPr>
            <p:cNvSpPr/>
            <p:nvPr/>
          </p:nvSpPr>
          <p:spPr>
            <a:xfrm>
              <a:off x="7642469" y="2742253"/>
              <a:ext cx="360000" cy="251795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18000" rIns="18000" bIns="18000" rtlCol="0" anchor="ctr" anchorCtr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</a:rPr>
                <a:t>ai-bot</a:t>
              </a:r>
            </a:p>
            <a:p>
              <a:pPr algn="ctr"/>
              <a:r>
                <a:rPr lang="en-US" altLang="ko-KR" sz="700">
                  <a:solidFill>
                    <a:schemeClr val="tx1"/>
                  </a:solidFill>
                </a:rPr>
                <a:t>process</a:t>
              </a:r>
              <a:endParaRPr lang="ko-KR" altLang="en-US" sz="700">
                <a:solidFill>
                  <a:schemeClr val="tx1"/>
                </a:solidFill>
              </a:endParaRPr>
            </a:p>
          </p:txBody>
        </p: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5F90AFE4-B667-5E6F-973E-C872EBFA9FDB}"/>
                </a:ext>
              </a:extLst>
            </p:cNvPr>
            <p:cNvCxnSpPr>
              <a:cxnSpLocks/>
            </p:cNvCxnSpPr>
            <p:nvPr/>
          </p:nvCxnSpPr>
          <p:spPr>
            <a:xfrm>
              <a:off x="7499940" y="2865871"/>
              <a:ext cx="14252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4DCF7870-F291-F4AF-C6C6-CE55B52EF06B}"/>
              </a:ext>
            </a:extLst>
          </p:cNvPr>
          <p:cNvSpPr/>
          <p:nvPr/>
        </p:nvSpPr>
        <p:spPr>
          <a:xfrm>
            <a:off x="6019557" y="2246438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pPr algn="ctr"/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ADAC18D4-1C60-48A0-6F27-272D01B5EB72}"/>
              </a:ext>
            </a:extLst>
          </p:cNvPr>
          <p:cNvSpPr/>
          <p:nvPr/>
        </p:nvSpPr>
        <p:spPr>
          <a:xfrm>
            <a:off x="5265582" y="1597296"/>
            <a:ext cx="1263600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ai-bot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processer daemon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A263FAB3-C222-1B16-9309-1AA076CE6BF2}"/>
              </a:ext>
            </a:extLst>
          </p:cNvPr>
          <p:cNvSpPr/>
          <p:nvPr/>
        </p:nvSpPr>
        <p:spPr>
          <a:xfrm>
            <a:off x="3653440" y="1597296"/>
            <a:ext cx="1264772" cy="21471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aicc-chat-backend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EDE2A6E3-0F00-F530-4CC5-68ECBC4EDC56}"/>
              </a:ext>
            </a:extLst>
          </p:cNvPr>
          <p:cNvSpPr/>
          <p:nvPr/>
        </p:nvSpPr>
        <p:spPr>
          <a:xfrm>
            <a:off x="3669049" y="1814682"/>
            <a:ext cx="1264350" cy="180128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00" name="순서도: 대체 처리 199">
            <a:extLst>
              <a:ext uri="{FF2B5EF4-FFF2-40B4-BE49-F238E27FC236}">
                <a16:creationId xmlns:a16="http://schemas.microsoft.com/office/drawing/2014/main" id="{7297BFBF-8305-94FF-61BF-416B2B1779BB}"/>
              </a:ext>
            </a:extLst>
          </p:cNvPr>
          <p:cNvSpPr/>
          <p:nvPr/>
        </p:nvSpPr>
        <p:spPr>
          <a:xfrm>
            <a:off x="4206945" y="2800841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Event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201" name="연결선: 꺾임 200">
            <a:extLst>
              <a:ext uri="{FF2B5EF4-FFF2-40B4-BE49-F238E27FC236}">
                <a16:creationId xmlns:a16="http://schemas.microsoft.com/office/drawing/2014/main" id="{F6977E4E-A493-E1F4-57DE-317EB400CC65}"/>
              </a:ext>
            </a:extLst>
          </p:cNvPr>
          <p:cNvCxnSpPr>
            <a:cxnSpLocks/>
            <a:stCxn id="211" idx="2"/>
            <a:endCxn id="200" idx="3"/>
          </p:cNvCxnSpPr>
          <p:nvPr/>
        </p:nvCxnSpPr>
        <p:spPr>
          <a:xfrm rot="10800000">
            <a:off x="4800945" y="2940132"/>
            <a:ext cx="550902" cy="123792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1" name="타원 210">
            <a:extLst>
              <a:ext uri="{FF2B5EF4-FFF2-40B4-BE49-F238E27FC236}">
                <a16:creationId xmlns:a16="http://schemas.microsoft.com/office/drawing/2014/main" id="{0733C37E-3FF8-96F5-C5D1-F6D17A264055}"/>
              </a:ext>
            </a:extLst>
          </p:cNvPr>
          <p:cNvSpPr/>
          <p:nvPr/>
        </p:nvSpPr>
        <p:spPr>
          <a:xfrm>
            <a:off x="5351847" y="4151058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6B56FCF8-D587-C6FD-E530-05DB1CF48C19}"/>
              </a:ext>
            </a:extLst>
          </p:cNvPr>
          <p:cNvSpPr/>
          <p:nvPr/>
        </p:nvSpPr>
        <p:spPr>
          <a:xfrm>
            <a:off x="5351847" y="4264633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E46CB1B2-29E0-BB96-2BB0-A4D6121DA429}"/>
              </a:ext>
            </a:extLst>
          </p:cNvPr>
          <p:cNvSpPr/>
          <p:nvPr/>
        </p:nvSpPr>
        <p:spPr>
          <a:xfrm>
            <a:off x="6129027" y="3035919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387F3A2-E9DB-5525-D0FC-03952387911C}"/>
              </a:ext>
            </a:extLst>
          </p:cNvPr>
          <p:cNvSpPr/>
          <p:nvPr/>
        </p:nvSpPr>
        <p:spPr>
          <a:xfrm>
            <a:off x="5667784" y="3397204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8" name="순서도: 대체 처리 217">
            <a:extLst>
              <a:ext uri="{FF2B5EF4-FFF2-40B4-BE49-F238E27FC236}">
                <a16:creationId xmlns:a16="http://schemas.microsoft.com/office/drawing/2014/main" id="{D70A9554-8624-7635-D7A6-C8E52ED62B68}"/>
              </a:ext>
            </a:extLst>
          </p:cNvPr>
          <p:cNvSpPr/>
          <p:nvPr/>
        </p:nvSpPr>
        <p:spPr>
          <a:xfrm>
            <a:off x="4206945" y="2344988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질의의 답변 응답 회신</a:t>
            </a:r>
            <a:endParaRPr lang="en-US" altLang="ko-KR" sz="700">
              <a:solidFill>
                <a:schemeClr val="tx1"/>
              </a:solidFill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57A461E6-093A-8074-6E7C-C534D67B602D}"/>
              </a:ext>
            </a:extLst>
          </p:cNvPr>
          <p:cNvCxnSpPr>
            <a:cxnSpLocks/>
            <a:stCxn id="200" idx="0"/>
            <a:endCxn id="218" idx="2"/>
          </p:cNvCxnSpPr>
          <p:nvPr/>
        </p:nvCxnSpPr>
        <p:spPr>
          <a:xfrm flipV="1">
            <a:off x="4503945" y="2623570"/>
            <a:ext cx="0" cy="177271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1" name="순서도: 대체 처리 240">
            <a:extLst>
              <a:ext uri="{FF2B5EF4-FFF2-40B4-BE49-F238E27FC236}">
                <a16:creationId xmlns:a16="http://schemas.microsoft.com/office/drawing/2014/main" id="{9DBD7677-73F2-824B-8E1E-D5A06C41DFA5}"/>
              </a:ext>
            </a:extLst>
          </p:cNvPr>
          <p:cNvSpPr/>
          <p:nvPr/>
        </p:nvSpPr>
        <p:spPr>
          <a:xfrm>
            <a:off x="3760707" y="1940544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질의의 답변 요청</a:t>
            </a:r>
            <a:endParaRPr lang="en-US" altLang="ko-KR" sz="700">
              <a:solidFill>
                <a:schemeClr val="tx1"/>
              </a:solidFill>
            </a:endParaRPr>
          </a:p>
        </p:txBody>
      </p:sp>
      <p:cxnSp>
        <p:nvCxnSpPr>
          <p:cNvPr id="242" name="연결선: 꺾임 241">
            <a:extLst>
              <a:ext uri="{FF2B5EF4-FFF2-40B4-BE49-F238E27FC236}">
                <a16:creationId xmlns:a16="http://schemas.microsoft.com/office/drawing/2014/main" id="{E43CBA6F-F17B-BF5C-8A6A-DC341445082D}"/>
              </a:ext>
            </a:extLst>
          </p:cNvPr>
          <p:cNvCxnSpPr>
            <a:cxnSpLocks/>
            <a:stCxn id="241" idx="2"/>
            <a:endCxn id="212" idx="2"/>
          </p:cNvCxnSpPr>
          <p:nvPr/>
        </p:nvCxnSpPr>
        <p:spPr>
          <a:xfrm rot="16200000" flipH="1">
            <a:off x="3673024" y="2612809"/>
            <a:ext cx="2072507" cy="1285140"/>
          </a:xfrm>
          <a:prstGeom prst="bentConnector2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C0F7E4A-93DF-3CE5-ECA2-5FBF1863206B}"/>
              </a:ext>
            </a:extLst>
          </p:cNvPr>
          <p:cNvSpPr/>
          <p:nvPr/>
        </p:nvSpPr>
        <p:spPr>
          <a:xfrm>
            <a:off x="3871343" y="3300536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321A737F-0D89-787B-E7F5-DAFB9D645BB8}"/>
              </a:ext>
            </a:extLst>
          </p:cNvPr>
          <p:cNvSpPr/>
          <p:nvPr/>
        </p:nvSpPr>
        <p:spPr>
          <a:xfrm>
            <a:off x="4821616" y="2829339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C9D5B9C9-3F4A-E64D-9CDB-84FD993F437C}"/>
              </a:ext>
            </a:extLst>
          </p:cNvPr>
          <p:cNvSpPr/>
          <p:nvPr/>
        </p:nvSpPr>
        <p:spPr>
          <a:xfrm>
            <a:off x="-1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en-US" altLang="ko-KR" sz="1600">
                <a:solidFill>
                  <a:schemeClr val="tx1"/>
                </a:solidFill>
                <a:latin typeface="+mj-ea"/>
                <a:ea typeface="+mj-ea"/>
              </a:rPr>
              <a:t>ai-bot </a:t>
            </a:r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질의 처리</a:t>
            </a: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2A4FFF47-AB64-34C4-7C89-D8B9B6CF38A6}"/>
              </a:ext>
            </a:extLst>
          </p:cNvPr>
          <p:cNvSpPr/>
          <p:nvPr/>
        </p:nvSpPr>
        <p:spPr>
          <a:xfrm>
            <a:off x="1500790" y="1505540"/>
            <a:ext cx="1264772" cy="21471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aicc-chat-front</a:t>
            </a:r>
          </a:p>
          <a:p>
            <a:pPr algn="ctr"/>
            <a:r>
              <a:rPr lang="en-US" altLang="ko-KR" sz="700">
                <a:solidFill>
                  <a:schemeClr val="tx1"/>
                </a:solidFill>
              </a:rPr>
              <a:t>UI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EB747231-2015-BC4C-B136-7517D7AEB29E}"/>
              </a:ext>
            </a:extLst>
          </p:cNvPr>
          <p:cNvSpPr/>
          <p:nvPr/>
        </p:nvSpPr>
        <p:spPr>
          <a:xfrm>
            <a:off x="1516399" y="1722926"/>
            <a:ext cx="1264350" cy="180128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53" name="순서도: 대체 처리 252">
            <a:extLst>
              <a:ext uri="{FF2B5EF4-FFF2-40B4-BE49-F238E27FC236}">
                <a16:creationId xmlns:a16="http://schemas.microsoft.com/office/drawing/2014/main" id="{0FCD8F5B-2A5C-4D73-4F6E-92E48A1E9A30}"/>
              </a:ext>
            </a:extLst>
          </p:cNvPr>
          <p:cNvSpPr/>
          <p:nvPr/>
        </p:nvSpPr>
        <p:spPr>
          <a:xfrm>
            <a:off x="2054295" y="2253232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질의의 답변 응답 회신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55" name="순서도: 대체 처리 254">
            <a:extLst>
              <a:ext uri="{FF2B5EF4-FFF2-40B4-BE49-F238E27FC236}">
                <a16:creationId xmlns:a16="http://schemas.microsoft.com/office/drawing/2014/main" id="{51277A55-96D3-25D8-D786-20CF5C5E63BE}"/>
              </a:ext>
            </a:extLst>
          </p:cNvPr>
          <p:cNvSpPr/>
          <p:nvPr/>
        </p:nvSpPr>
        <p:spPr>
          <a:xfrm>
            <a:off x="1608057" y="1848788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질의의 답변 요청</a:t>
            </a:r>
            <a:endParaRPr lang="en-US" altLang="ko-KR" sz="700">
              <a:solidFill>
                <a:schemeClr val="tx1"/>
              </a:solidFill>
            </a:endParaRPr>
          </a:p>
        </p:txBody>
      </p:sp>
      <p:cxnSp>
        <p:nvCxnSpPr>
          <p:cNvPr id="258" name="연결선: 꺾임 257">
            <a:extLst>
              <a:ext uri="{FF2B5EF4-FFF2-40B4-BE49-F238E27FC236}">
                <a16:creationId xmlns:a16="http://schemas.microsoft.com/office/drawing/2014/main" id="{1950EA42-7FF0-7567-A626-8185B85887F8}"/>
              </a:ext>
            </a:extLst>
          </p:cNvPr>
          <p:cNvCxnSpPr>
            <a:cxnSpLocks/>
            <a:stCxn id="255" idx="3"/>
            <a:endCxn id="264" idx="2"/>
          </p:cNvCxnSpPr>
          <p:nvPr/>
        </p:nvCxnSpPr>
        <p:spPr>
          <a:xfrm>
            <a:off x="2220057" y="1988079"/>
            <a:ext cx="1425534" cy="2785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F7D6794D-5B60-E6C2-5488-A397FA61169D}"/>
              </a:ext>
            </a:extLst>
          </p:cNvPr>
          <p:cNvSpPr/>
          <p:nvPr/>
        </p:nvSpPr>
        <p:spPr>
          <a:xfrm>
            <a:off x="3039930" y="2147288"/>
            <a:ext cx="395955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 &gt; MSG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55325F33-1D43-DA97-10D4-7B585D4BEAFB}"/>
              </a:ext>
            </a:extLst>
          </p:cNvPr>
          <p:cNvSpPr/>
          <p:nvPr/>
        </p:nvSpPr>
        <p:spPr>
          <a:xfrm>
            <a:off x="4103224" y="1834769"/>
            <a:ext cx="396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WebSocket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497185BE-F827-3DE3-F195-C00B1662F597}"/>
              </a:ext>
            </a:extLst>
          </p:cNvPr>
          <p:cNvSpPr/>
          <p:nvPr/>
        </p:nvSpPr>
        <p:spPr>
          <a:xfrm>
            <a:off x="3645591" y="2239621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6E588D48-F937-3A24-10F8-4D3BE548F894}"/>
              </a:ext>
            </a:extLst>
          </p:cNvPr>
          <p:cNvSpPr/>
          <p:nvPr/>
        </p:nvSpPr>
        <p:spPr>
          <a:xfrm>
            <a:off x="3645591" y="248427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8" name="연결선: 꺾임 267">
            <a:extLst>
              <a:ext uri="{FF2B5EF4-FFF2-40B4-BE49-F238E27FC236}">
                <a16:creationId xmlns:a16="http://schemas.microsoft.com/office/drawing/2014/main" id="{EEB58014-5FE9-B853-064C-7B868240F3C2}"/>
              </a:ext>
            </a:extLst>
          </p:cNvPr>
          <p:cNvCxnSpPr>
            <a:cxnSpLocks/>
            <a:stCxn id="267" idx="2"/>
            <a:endCxn id="253" idx="3"/>
          </p:cNvCxnSpPr>
          <p:nvPr/>
        </p:nvCxnSpPr>
        <p:spPr>
          <a:xfrm rot="10800000">
            <a:off x="2648295" y="2392523"/>
            <a:ext cx="997296" cy="11875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3EE00E22-5F55-9C48-0311-C949C20A0C01}"/>
              </a:ext>
            </a:extLst>
          </p:cNvPr>
          <p:cNvSpPr/>
          <p:nvPr/>
        </p:nvSpPr>
        <p:spPr>
          <a:xfrm>
            <a:off x="3208752" y="2405734"/>
            <a:ext cx="395955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/>
          <a:p>
            <a:r>
              <a:rPr lang="en-US" altLang="ko-KR" sz="60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 &gt; MSG</a:t>
            </a:r>
            <a:endParaRPr lang="ko-KR" altLang="en-US" sz="60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45929DE-570D-7F63-9C25-909819BE585E}"/>
              </a:ext>
            </a:extLst>
          </p:cNvPr>
          <p:cNvSpPr txBox="1"/>
          <p:nvPr/>
        </p:nvSpPr>
        <p:spPr>
          <a:xfrm>
            <a:off x="6891635" y="3727504"/>
            <a:ext cx="2172495" cy="5539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>
            <a:defPPr>
              <a:defRPr lang="ko-KR"/>
            </a:defPPr>
            <a:lvl1pPr>
              <a:defRPr sz="600">
                <a:latin typeface="D2Coding" panose="020B0609020101020101" pitchFamily="49" charset="-127"/>
                <a:ea typeface="D2Coding" panose="020B0609020101020101" pitchFamily="49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>
                <a:solidFill>
                  <a:srgbClr val="0070C0"/>
                </a:solidFill>
              </a:rPr>
              <a:t>http://10.50.1.43:8040</a:t>
            </a:r>
          </a:p>
          <a:p>
            <a:r>
              <a:rPr lang="en-US" altLang="ko-KR">
                <a:solidFill>
                  <a:srgbClr val="0070C0"/>
                </a:solidFill>
              </a:rPr>
              <a:t>/v1/chatbot/ask</a:t>
            </a:r>
          </a:p>
          <a:p>
            <a:endParaRPr lang="en-US" altLang="ko-KR">
              <a:solidFill>
                <a:srgbClr val="0070C0"/>
              </a:solidFill>
            </a:endParaRPr>
          </a:p>
          <a:p>
            <a:r>
              <a:rPr lang="en-US" altLang="ko-KR">
                <a:solidFill>
                  <a:srgbClr val="0070C0"/>
                </a:solidFill>
              </a:rPr>
              <a:t>summary-uri: /v1/consultation-summary/summarize</a:t>
            </a:r>
          </a:p>
          <a:p>
            <a:r>
              <a:rPr lang="en-US" altLang="ko-KR">
                <a:solidFill>
                  <a:srgbClr val="0070C0"/>
                </a:solidFill>
              </a:rPr>
              <a:t>keyword-uri: /v1/consultation-keywords/extract</a:t>
            </a:r>
          </a:p>
          <a:p>
            <a:r>
              <a:rPr lang="en-US" altLang="ko-KR">
                <a:solidFill>
                  <a:srgbClr val="0070C0"/>
                </a:solidFill>
              </a:rPr>
              <a:t>category-uri: /v1/consultation-classification/classify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79F1333E-3EDC-79F6-8A5B-6332653D82CB}"/>
              </a:ext>
            </a:extLst>
          </p:cNvPr>
          <p:cNvSpPr txBox="1"/>
          <p:nvPr/>
        </p:nvSpPr>
        <p:spPr>
          <a:xfrm>
            <a:off x="3961343" y="5280710"/>
            <a:ext cx="1747307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>
            <a:defPPr>
              <a:defRPr lang="ko-KR"/>
            </a:defPPr>
            <a:lvl1pPr>
              <a:defRPr sz="600">
                <a:latin typeface="D2Coding" panose="020B0609020101020101" pitchFamily="49" charset="-127"/>
                <a:ea typeface="D2Coding" panose="020B0609020101020101" pitchFamily="49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>
                <a:solidFill>
                  <a:srgbClr val="0070C0"/>
                </a:solidFill>
              </a:rPr>
              <a:t>http://10.50.1.43:8040/v1/chatbot/ask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C8158D8A-FA10-ED1A-3D1C-95234E9DA6C2}"/>
              </a:ext>
            </a:extLst>
          </p:cNvPr>
          <p:cNvSpPr txBox="1"/>
          <p:nvPr/>
        </p:nvSpPr>
        <p:spPr>
          <a:xfrm>
            <a:off x="6891635" y="4392788"/>
            <a:ext cx="1433221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>
            <a:spAutoFit/>
          </a:bodyPr>
          <a:lstStyle>
            <a:defPPr>
              <a:defRPr lang="ko-KR"/>
            </a:defPPr>
            <a:lvl1pPr>
              <a:defRPr sz="600">
                <a:latin typeface="D2Coding" panose="020B0609020101020101" pitchFamily="49" charset="-127"/>
                <a:ea typeface="D2Coding" panose="020B0609020101020101" pitchFamily="49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>
                <a:solidFill>
                  <a:srgbClr val="C00000"/>
                </a:solidFill>
              </a:rPr>
              <a:t>ai-bot-emul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AE95AB99-3082-EF2D-09D2-6E65158090BC}"/>
              </a:ext>
            </a:extLst>
          </p:cNvPr>
          <p:cNvSpPr txBox="1"/>
          <p:nvPr/>
        </p:nvSpPr>
        <p:spPr>
          <a:xfrm>
            <a:off x="996936" y="5780403"/>
            <a:ext cx="13419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>
                <a:solidFill>
                  <a:srgbClr val="067D17"/>
                </a:solidFill>
                <a:effectLst/>
                <a:latin typeface="JetBrains Mono"/>
              </a:rPr>
              <a:t>권</a:t>
            </a:r>
            <a:r>
              <a:rPr lang="en-US" altLang="ko-KR" sz="1000">
                <a:solidFill>
                  <a:srgbClr val="067D17"/>
                </a:solidFill>
                <a:effectLst/>
                <a:latin typeface="JetBrains Mono"/>
              </a:rPr>
              <a:t>&gt;</a:t>
            </a:r>
          </a:p>
          <a:p>
            <a:pPr>
              <a:buNone/>
            </a:pPr>
            <a:r>
              <a:rPr lang="en-US" altLang="ko-KR" sz="1000">
                <a:solidFill>
                  <a:srgbClr val="067D17"/>
                </a:solidFill>
                <a:effectLst/>
                <a:latin typeface="JetBrains Mono"/>
              </a:rPr>
              <a:t>RedisOnlyConfig.java</a:t>
            </a:r>
          </a:p>
          <a:p>
            <a:pPr>
              <a:buNone/>
            </a:pPr>
            <a:r>
              <a:rPr lang="en-US" altLang="ko-KR" sz="1000">
                <a:solidFill>
                  <a:srgbClr val="067D17"/>
                </a:solidFill>
                <a:effectLst/>
                <a:latin typeface="JetBrains Mono"/>
              </a:rPr>
              <a:t>chat.topic</a:t>
            </a:r>
            <a:endParaRPr lang="en-US" altLang="ko-KR" sz="100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14AA33A-B617-6C66-C59D-A72CA29BDA59}"/>
              </a:ext>
            </a:extLst>
          </p:cNvPr>
          <p:cNvSpPr/>
          <p:nvPr/>
        </p:nvSpPr>
        <p:spPr>
          <a:xfrm>
            <a:off x="5524188" y="1351688"/>
            <a:ext cx="784839" cy="169988"/>
          </a:xfrm>
          <a:prstGeom prst="roundRect">
            <a:avLst>
              <a:gd name="adj" fmla="val 490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BOT-AGENT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C06323B-FEB4-A676-E62D-6104BD77E1A1}"/>
              </a:ext>
            </a:extLst>
          </p:cNvPr>
          <p:cNvSpPr/>
          <p:nvPr/>
        </p:nvSpPr>
        <p:spPr>
          <a:xfrm>
            <a:off x="7114972" y="1351688"/>
            <a:ext cx="784839" cy="169988"/>
          </a:xfrm>
          <a:prstGeom prst="roundRect">
            <a:avLst>
              <a:gd name="adj" fmla="val 490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BOT-SERVER</a:t>
            </a:r>
          </a:p>
        </p:txBody>
      </p:sp>
    </p:spTree>
    <p:extLst>
      <p:ext uri="{BB962C8B-B14F-4D97-AF65-F5344CB8AC3E}">
        <p14:creationId xmlns:p14="http://schemas.microsoft.com/office/powerpoint/2010/main" val="250485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자기 디스크 3">
            <a:extLst>
              <a:ext uri="{FF2B5EF4-FFF2-40B4-BE49-F238E27FC236}">
                <a16:creationId xmlns:a16="http://schemas.microsoft.com/office/drawing/2014/main" id="{C00DD289-B017-D462-4D24-BD2CF07A6D1C}"/>
              </a:ext>
            </a:extLst>
          </p:cNvPr>
          <p:cNvSpPr/>
          <p:nvPr/>
        </p:nvSpPr>
        <p:spPr>
          <a:xfrm>
            <a:off x="4339555" y="6063879"/>
            <a:ext cx="1028137" cy="466928"/>
          </a:xfrm>
          <a:prstGeom prst="flowChartMagneticDisk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54000" rIns="36000" bIns="0" rtlCol="0" anchor="ctr" anchorCtr="0"/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Pub/Sub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Server</a:t>
            </a:r>
            <a:endParaRPr lang="ko-KR" altLang="en-US" sz="700" i="1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B59CEE-E995-396E-AFB8-E658BF9080E1}"/>
              </a:ext>
            </a:extLst>
          </p:cNvPr>
          <p:cNvSpPr/>
          <p:nvPr/>
        </p:nvSpPr>
        <p:spPr>
          <a:xfrm>
            <a:off x="5861763" y="3881318"/>
            <a:ext cx="1263600" cy="180128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 i="1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9B698E-6BE3-2EC9-A2FE-F8A297411A68}"/>
              </a:ext>
            </a:extLst>
          </p:cNvPr>
          <p:cNvSpPr/>
          <p:nvPr/>
        </p:nvSpPr>
        <p:spPr>
          <a:xfrm>
            <a:off x="5860300" y="3663682"/>
            <a:ext cx="1263600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ai-bot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server</a:t>
            </a:r>
            <a:endParaRPr lang="ko-KR" altLang="en-US" sz="700" i="1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E530E2C-CD39-520B-C0D3-DD9631A39D47}"/>
              </a:ext>
            </a:extLst>
          </p:cNvPr>
          <p:cNvSpPr/>
          <p:nvPr/>
        </p:nvSpPr>
        <p:spPr>
          <a:xfrm>
            <a:off x="6257932" y="4256704"/>
            <a:ext cx="459518" cy="281055"/>
          </a:xfrm>
          <a:prstGeom prst="roundRect">
            <a:avLst>
              <a:gd name="adj" fmla="val 4901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noAutofit/>
          </a:bodyPr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ai-bot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api(s)</a:t>
            </a: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63230331-946D-4450-02FF-B65148FC7FA8}"/>
              </a:ext>
            </a:extLst>
          </p:cNvPr>
          <p:cNvCxnSpPr>
            <a:cxnSpLocks/>
            <a:stCxn id="36" idx="2"/>
            <a:endCxn id="181" idx="0"/>
          </p:cNvCxnSpPr>
          <p:nvPr/>
        </p:nvCxnSpPr>
        <p:spPr>
          <a:xfrm rot="16200000" flipH="1">
            <a:off x="6480819" y="4544630"/>
            <a:ext cx="270880" cy="2571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타원 66">
            <a:extLst>
              <a:ext uri="{FF2B5EF4-FFF2-40B4-BE49-F238E27FC236}">
                <a16:creationId xmlns:a16="http://schemas.microsoft.com/office/drawing/2014/main" id="{8B5EB746-7FF4-FA59-5F04-9596A66CED65}"/>
              </a:ext>
            </a:extLst>
          </p:cNvPr>
          <p:cNvSpPr/>
          <p:nvPr/>
        </p:nvSpPr>
        <p:spPr>
          <a:xfrm>
            <a:off x="4744475" y="604388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i="1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2F5E707-CD11-0C2E-3066-61AA2C8238CA}"/>
              </a:ext>
            </a:extLst>
          </p:cNvPr>
          <p:cNvSpPr/>
          <p:nvPr/>
        </p:nvSpPr>
        <p:spPr>
          <a:xfrm>
            <a:off x="4908772" y="604388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i="1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7154DB2-FFA9-F70C-98FB-E9C11F9BD7A2}"/>
              </a:ext>
            </a:extLst>
          </p:cNvPr>
          <p:cNvSpPr/>
          <p:nvPr/>
        </p:nvSpPr>
        <p:spPr>
          <a:xfrm>
            <a:off x="5723637" y="4821061"/>
            <a:ext cx="36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 call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0" name="순서도: 대체 처리 119">
            <a:extLst>
              <a:ext uri="{FF2B5EF4-FFF2-40B4-BE49-F238E27FC236}">
                <a16:creationId xmlns:a16="http://schemas.microsoft.com/office/drawing/2014/main" id="{9A88A37C-4F4A-3C7A-7029-4A4CCE6C5747}"/>
              </a:ext>
            </a:extLst>
          </p:cNvPr>
          <p:cNvSpPr/>
          <p:nvPr/>
        </p:nvSpPr>
        <p:spPr>
          <a:xfrm>
            <a:off x="4299721" y="3970009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 i="1">
                <a:solidFill>
                  <a:schemeClr val="tx1"/>
                </a:solidFill>
              </a:rPr>
              <a:t>질의의 답변 요청</a:t>
            </a:r>
            <a:endParaRPr lang="en-US" altLang="ko-KR" sz="700" i="1">
              <a:solidFill>
                <a:schemeClr val="tx1"/>
              </a:solidFill>
            </a:endParaRPr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F2F852BC-7F1C-F7AF-0FD0-C7ABE957CA31}"/>
              </a:ext>
            </a:extLst>
          </p:cNvPr>
          <p:cNvCxnSpPr>
            <a:cxnSpLocks/>
            <a:stCxn id="120" idx="3"/>
            <a:endCxn id="36" idx="0"/>
          </p:cNvCxnSpPr>
          <p:nvPr/>
        </p:nvCxnSpPr>
        <p:spPr>
          <a:xfrm>
            <a:off x="4911721" y="4109300"/>
            <a:ext cx="1575970" cy="147404"/>
          </a:xfrm>
          <a:prstGeom prst="bentConnector2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순서도: 대체 처리 127">
            <a:extLst>
              <a:ext uri="{FF2B5EF4-FFF2-40B4-BE49-F238E27FC236}">
                <a16:creationId xmlns:a16="http://schemas.microsoft.com/office/drawing/2014/main" id="{BB4C4D89-DAE1-68EA-3957-A3EDAD57CC67}"/>
              </a:ext>
            </a:extLst>
          </p:cNvPr>
          <p:cNvSpPr/>
          <p:nvPr/>
        </p:nvSpPr>
        <p:spPr>
          <a:xfrm>
            <a:off x="4790974" y="4411374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 i="1">
                <a:solidFill>
                  <a:schemeClr val="tx1"/>
                </a:solidFill>
              </a:rPr>
              <a:t>질의의 답변 응답 처리</a:t>
            </a:r>
            <a:endParaRPr lang="en-US" altLang="ko-KR" sz="700" i="1">
              <a:solidFill>
                <a:schemeClr val="tx1"/>
              </a:solidFill>
            </a:endParaRPr>
          </a:p>
        </p:txBody>
      </p: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C8E52614-127A-EBCC-A87C-580E79220996}"/>
              </a:ext>
            </a:extLst>
          </p:cNvPr>
          <p:cNvCxnSpPr>
            <a:cxnSpLocks/>
            <a:stCxn id="178" idx="1"/>
            <a:endCxn id="128" idx="3"/>
          </p:cNvCxnSpPr>
          <p:nvPr/>
        </p:nvCxnSpPr>
        <p:spPr>
          <a:xfrm rot="10800000">
            <a:off x="5384975" y="4550665"/>
            <a:ext cx="677325" cy="3838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2" name="순서도: 대체 처리 141">
            <a:extLst>
              <a:ext uri="{FF2B5EF4-FFF2-40B4-BE49-F238E27FC236}">
                <a16:creationId xmlns:a16="http://schemas.microsoft.com/office/drawing/2014/main" id="{FE30C872-6BCF-C51A-ADE3-E2D77772A374}"/>
              </a:ext>
            </a:extLst>
          </p:cNvPr>
          <p:cNvSpPr/>
          <p:nvPr/>
        </p:nvSpPr>
        <p:spPr>
          <a:xfrm>
            <a:off x="4299721" y="4869891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Event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71BD3935-2389-0803-F608-099C542CC1F9}"/>
              </a:ext>
            </a:extLst>
          </p:cNvPr>
          <p:cNvCxnSpPr>
            <a:cxnSpLocks/>
            <a:stCxn id="67" idx="0"/>
            <a:endCxn id="142" idx="2"/>
          </p:cNvCxnSpPr>
          <p:nvPr/>
        </p:nvCxnSpPr>
        <p:spPr>
          <a:xfrm rot="16200000" flipV="1">
            <a:off x="4240890" y="5513304"/>
            <a:ext cx="895416" cy="1657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C301F049-E576-376D-1E28-54EF271391E4}"/>
              </a:ext>
            </a:extLst>
          </p:cNvPr>
          <p:cNvCxnSpPr>
            <a:stCxn id="120" idx="2"/>
            <a:endCxn id="142" idx="0"/>
          </p:cNvCxnSpPr>
          <p:nvPr/>
        </p:nvCxnSpPr>
        <p:spPr>
          <a:xfrm>
            <a:off x="4605721" y="4248591"/>
            <a:ext cx="0" cy="6213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86BBABEE-78CF-A424-EB3A-5DE2A92B3785}"/>
              </a:ext>
            </a:extLst>
          </p:cNvPr>
          <p:cNvCxnSpPr>
            <a:cxnSpLocks/>
            <a:stCxn id="128" idx="2"/>
            <a:endCxn id="75" idx="0"/>
          </p:cNvCxnSpPr>
          <p:nvPr/>
        </p:nvCxnSpPr>
        <p:spPr>
          <a:xfrm rot="5400000">
            <a:off x="4334907" y="5290821"/>
            <a:ext cx="1353933" cy="1522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73ACE6C-6EDB-C71A-FEEF-81FF06D7ECD4}"/>
              </a:ext>
            </a:extLst>
          </p:cNvPr>
          <p:cNvSpPr/>
          <p:nvPr/>
        </p:nvSpPr>
        <p:spPr>
          <a:xfrm>
            <a:off x="5007692" y="3993488"/>
            <a:ext cx="36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 call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6A0C8BF5-FA6A-0B2A-C449-62AB7E0C1E46}"/>
              </a:ext>
            </a:extLst>
          </p:cNvPr>
          <p:cNvSpPr/>
          <p:nvPr/>
        </p:nvSpPr>
        <p:spPr>
          <a:xfrm>
            <a:off x="4240449" y="3881319"/>
            <a:ext cx="1264350" cy="180128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 i="1">
              <a:solidFill>
                <a:schemeClr val="tx1"/>
              </a:solidFill>
            </a:endParaRP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DA1BE5CB-2085-23A9-657C-454A0E832CF9}"/>
              </a:ext>
            </a:extLst>
          </p:cNvPr>
          <p:cNvGrpSpPr/>
          <p:nvPr/>
        </p:nvGrpSpPr>
        <p:grpSpPr>
          <a:xfrm>
            <a:off x="6062299" y="4808639"/>
            <a:ext cx="862529" cy="251795"/>
            <a:chOff x="7139940" y="2742253"/>
            <a:chExt cx="862529" cy="251795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416ABCB0-452E-511E-DBD8-A25C1D1F1E4F}"/>
                </a:ext>
              </a:extLst>
            </p:cNvPr>
            <p:cNvSpPr/>
            <p:nvPr/>
          </p:nvSpPr>
          <p:spPr>
            <a:xfrm>
              <a:off x="7139940" y="2742253"/>
              <a:ext cx="360000" cy="251795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18000" rIns="18000" bIns="18000" rtlCol="0" anchor="ctr" anchorCtr="0">
              <a:spAutoFit/>
            </a:bodyPr>
            <a:lstStyle/>
            <a:p>
              <a:pPr algn="ctr"/>
              <a:r>
                <a:rPr lang="en-US" altLang="ko-KR" sz="700" i="1">
                  <a:solidFill>
                    <a:schemeClr val="tx1"/>
                  </a:solidFill>
                </a:rPr>
                <a:t>ai-bot</a:t>
              </a:r>
            </a:p>
            <a:p>
              <a:pPr algn="ctr"/>
              <a:r>
                <a:rPr lang="en-US" altLang="ko-KR" sz="700" i="1">
                  <a:solidFill>
                    <a:schemeClr val="tx1"/>
                  </a:solidFill>
                </a:rPr>
                <a:t>process</a:t>
              </a:r>
              <a:endParaRPr lang="ko-KR" altLang="en-US" sz="700" i="1">
                <a:solidFill>
                  <a:schemeClr val="tx1"/>
                </a:solidFill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3C1DCF4A-580F-3FCF-8AA5-1C94E72D02FB}"/>
                </a:ext>
              </a:extLst>
            </p:cNvPr>
            <p:cNvSpPr/>
            <p:nvPr/>
          </p:nvSpPr>
          <p:spPr>
            <a:xfrm>
              <a:off x="7642469" y="2742253"/>
              <a:ext cx="360000" cy="251795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18000" rIns="18000" bIns="18000" rtlCol="0" anchor="ctr" anchorCtr="0">
              <a:spAutoFit/>
            </a:bodyPr>
            <a:lstStyle/>
            <a:p>
              <a:pPr algn="ctr"/>
              <a:r>
                <a:rPr lang="en-US" altLang="ko-KR" sz="700" i="1">
                  <a:solidFill>
                    <a:schemeClr val="tx1"/>
                  </a:solidFill>
                </a:rPr>
                <a:t>ai-bot</a:t>
              </a:r>
            </a:p>
            <a:p>
              <a:pPr algn="ctr"/>
              <a:r>
                <a:rPr lang="en-US" altLang="ko-KR" sz="700" i="1">
                  <a:solidFill>
                    <a:schemeClr val="tx1"/>
                  </a:solidFill>
                </a:rPr>
                <a:t>process</a:t>
              </a:r>
              <a:endParaRPr lang="ko-KR" altLang="en-US" sz="700" i="1">
                <a:solidFill>
                  <a:schemeClr val="tx1"/>
                </a:solidFill>
              </a:endParaRPr>
            </a:p>
          </p:txBody>
        </p: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5F90AFE4-B667-5E6F-973E-C872EBFA9FDB}"/>
                </a:ext>
              </a:extLst>
            </p:cNvPr>
            <p:cNvCxnSpPr>
              <a:cxnSpLocks/>
            </p:cNvCxnSpPr>
            <p:nvPr/>
          </p:nvCxnSpPr>
          <p:spPr>
            <a:xfrm>
              <a:off x="7499940" y="2865871"/>
              <a:ext cx="14252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4DCF7870-F291-F4AF-C6C6-CE55B52EF06B}"/>
              </a:ext>
            </a:extLst>
          </p:cNvPr>
          <p:cNvSpPr/>
          <p:nvPr/>
        </p:nvSpPr>
        <p:spPr>
          <a:xfrm>
            <a:off x="4988222" y="4312824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pPr algn="ctr"/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ADAC18D4-1C60-48A0-6F27-272D01B5EB72}"/>
              </a:ext>
            </a:extLst>
          </p:cNvPr>
          <p:cNvSpPr/>
          <p:nvPr/>
        </p:nvSpPr>
        <p:spPr>
          <a:xfrm>
            <a:off x="4234247" y="3663682"/>
            <a:ext cx="1263600" cy="215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ai-bot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processer daemon</a:t>
            </a:r>
            <a:endParaRPr lang="ko-KR" altLang="en-US" sz="700" i="1">
              <a:solidFill>
                <a:schemeClr val="tx1"/>
              </a:solidFill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A263FAB3-C222-1B16-9309-1AA076CE6BF2}"/>
              </a:ext>
            </a:extLst>
          </p:cNvPr>
          <p:cNvSpPr/>
          <p:nvPr/>
        </p:nvSpPr>
        <p:spPr>
          <a:xfrm>
            <a:off x="2622105" y="3663682"/>
            <a:ext cx="1264772" cy="21471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aicc-chat-frontend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server</a:t>
            </a:r>
            <a:endParaRPr lang="ko-KR" altLang="en-US" sz="700" i="1">
              <a:solidFill>
                <a:schemeClr val="tx1"/>
              </a:solidFill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EDE2A6E3-0F00-F530-4CC5-68ECBC4EDC56}"/>
              </a:ext>
            </a:extLst>
          </p:cNvPr>
          <p:cNvSpPr/>
          <p:nvPr/>
        </p:nvSpPr>
        <p:spPr>
          <a:xfrm>
            <a:off x="2637714" y="3881068"/>
            <a:ext cx="1264350" cy="1801286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 i="1">
              <a:solidFill>
                <a:schemeClr val="tx1"/>
              </a:solidFill>
            </a:endParaRPr>
          </a:p>
        </p:txBody>
      </p:sp>
      <p:sp>
        <p:nvSpPr>
          <p:cNvPr id="200" name="순서도: 대체 처리 199">
            <a:extLst>
              <a:ext uri="{FF2B5EF4-FFF2-40B4-BE49-F238E27FC236}">
                <a16:creationId xmlns:a16="http://schemas.microsoft.com/office/drawing/2014/main" id="{7297BFBF-8305-94FF-61BF-416B2B1779BB}"/>
              </a:ext>
            </a:extLst>
          </p:cNvPr>
          <p:cNvSpPr/>
          <p:nvPr/>
        </p:nvSpPr>
        <p:spPr>
          <a:xfrm>
            <a:off x="3175610" y="4867227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Event</a:t>
            </a:r>
          </a:p>
          <a:p>
            <a:pPr algn="ctr"/>
            <a:r>
              <a:rPr lang="en-US" altLang="ko-KR" sz="700" i="1">
                <a:solidFill>
                  <a:schemeClr val="tx1"/>
                </a:solidFill>
              </a:rPr>
              <a:t>Listener</a:t>
            </a:r>
          </a:p>
        </p:txBody>
      </p:sp>
      <p:cxnSp>
        <p:nvCxnSpPr>
          <p:cNvPr id="201" name="연결선: 꺾임 200">
            <a:extLst>
              <a:ext uri="{FF2B5EF4-FFF2-40B4-BE49-F238E27FC236}">
                <a16:creationId xmlns:a16="http://schemas.microsoft.com/office/drawing/2014/main" id="{F6977E4E-A493-E1F4-57DE-317EB400CC65}"/>
              </a:ext>
            </a:extLst>
          </p:cNvPr>
          <p:cNvCxnSpPr>
            <a:cxnSpLocks/>
            <a:stCxn id="211" idx="2"/>
            <a:endCxn id="200" idx="3"/>
          </p:cNvCxnSpPr>
          <p:nvPr/>
        </p:nvCxnSpPr>
        <p:spPr>
          <a:xfrm rot="10800000">
            <a:off x="3769610" y="5006518"/>
            <a:ext cx="550902" cy="123792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1" name="타원 210">
            <a:extLst>
              <a:ext uri="{FF2B5EF4-FFF2-40B4-BE49-F238E27FC236}">
                <a16:creationId xmlns:a16="http://schemas.microsoft.com/office/drawing/2014/main" id="{0733C37E-3FF8-96F5-C5D1-F6D17A264055}"/>
              </a:ext>
            </a:extLst>
          </p:cNvPr>
          <p:cNvSpPr/>
          <p:nvPr/>
        </p:nvSpPr>
        <p:spPr>
          <a:xfrm>
            <a:off x="4320512" y="6217444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i="1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6B56FCF8-D587-C6FD-E530-05DB1CF48C19}"/>
              </a:ext>
            </a:extLst>
          </p:cNvPr>
          <p:cNvSpPr/>
          <p:nvPr/>
        </p:nvSpPr>
        <p:spPr>
          <a:xfrm>
            <a:off x="4320512" y="6331019"/>
            <a:ext cx="54000" cy="5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i="1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E46CB1B2-29E0-BB96-2BB0-A4D6121DA429}"/>
              </a:ext>
            </a:extLst>
          </p:cNvPr>
          <p:cNvSpPr/>
          <p:nvPr/>
        </p:nvSpPr>
        <p:spPr>
          <a:xfrm>
            <a:off x="5097692" y="5102305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387F3A2-E9DB-5525-D0FC-03952387911C}"/>
              </a:ext>
            </a:extLst>
          </p:cNvPr>
          <p:cNvSpPr/>
          <p:nvPr/>
        </p:nvSpPr>
        <p:spPr>
          <a:xfrm>
            <a:off x="4636449" y="5463590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8" name="순서도: 대체 처리 217">
            <a:extLst>
              <a:ext uri="{FF2B5EF4-FFF2-40B4-BE49-F238E27FC236}">
                <a16:creationId xmlns:a16="http://schemas.microsoft.com/office/drawing/2014/main" id="{D70A9554-8624-7635-D7A6-C8E52ED62B68}"/>
              </a:ext>
            </a:extLst>
          </p:cNvPr>
          <p:cNvSpPr/>
          <p:nvPr/>
        </p:nvSpPr>
        <p:spPr>
          <a:xfrm>
            <a:off x="3175610" y="4411374"/>
            <a:ext cx="594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 i="1">
                <a:solidFill>
                  <a:schemeClr val="tx1"/>
                </a:solidFill>
              </a:rPr>
              <a:t>질의의 답변 응답 회신</a:t>
            </a:r>
            <a:endParaRPr lang="en-US" altLang="ko-KR" sz="700" i="1">
              <a:solidFill>
                <a:schemeClr val="tx1"/>
              </a:solidFill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57A461E6-093A-8074-6E7C-C534D67B602D}"/>
              </a:ext>
            </a:extLst>
          </p:cNvPr>
          <p:cNvCxnSpPr>
            <a:cxnSpLocks/>
            <a:stCxn id="200" idx="0"/>
            <a:endCxn id="218" idx="2"/>
          </p:cNvCxnSpPr>
          <p:nvPr/>
        </p:nvCxnSpPr>
        <p:spPr>
          <a:xfrm flipV="1">
            <a:off x="3472610" y="4689956"/>
            <a:ext cx="0" cy="177271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1" name="순서도: 대체 처리 240">
            <a:extLst>
              <a:ext uri="{FF2B5EF4-FFF2-40B4-BE49-F238E27FC236}">
                <a16:creationId xmlns:a16="http://schemas.microsoft.com/office/drawing/2014/main" id="{9DBD7677-73F2-824B-8E1E-D5A06C41DFA5}"/>
              </a:ext>
            </a:extLst>
          </p:cNvPr>
          <p:cNvSpPr/>
          <p:nvPr/>
        </p:nvSpPr>
        <p:spPr>
          <a:xfrm>
            <a:off x="2729372" y="4006930"/>
            <a:ext cx="612000" cy="278582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 i="1">
                <a:solidFill>
                  <a:schemeClr val="tx1"/>
                </a:solidFill>
              </a:rPr>
              <a:t>질의의 답변 요청</a:t>
            </a:r>
            <a:endParaRPr lang="en-US" altLang="ko-KR" sz="700" i="1">
              <a:solidFill>
                <a:schemeClr val="tx1"/>
              </a:solidFill>
            </a:endParaRPr>
          </a:p>
        </p:txBody>
      </p:sp>
      <p:cxnSp>
        <p:nvCxnSpPr>
          <p:cNvPr id="242" name="연결선: 꺾임 241">
            <a:extLst>
              <a:ext uri="{FF2B5EF4-FFF2-40B4-BE49-F238E27FC236}">
                <a16:creationId xmlns:a16="http://schemas.microsoft.com/office/drawing/2014/main" id="{E43CBA6F-F17B-BF5C-8A6A-DC341445082D}"/>
              </a:ext>
            </a:extLst>
          </p:cNvPr>
          <p:cNvCxnSpPr>
            <a:cxnSpLocks/>
            <a:stCxn id="241" idx="2"/>
            <a:endCxn id="212" idx="2"/>
          </p:cNvCxnSpPr>
          <p:nvPr/>
        </p:nvCxnSpPr>
        <p:spPr>
          <a:xfrm rot="16200000" flipH="1">
            <a:off x="2641689" y="4679195"/>
            <a:ext cx="2072507" cy="1285140"/>
          </a:xfrm>
          <a:prstGeom prst="bentConnector2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C0F7E4A-93DF-3CE5-ECA2-5FBF1863206B}"/>
              </a:ext>
            </a:extLst>
          </p:cNvPr>
          <p:cNvSpPr/>
          <p:nvPr/>
        </p:nvSpPr>
        <p:spPr>
          <a:xfrm>
            <a:off x="2840008" y="5366922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Pub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321A737F-0D89-787B-E7F5-DAFB9D645BB8}"/>
              </a:ext>
            </a:extLst>
          </p:cNvPr>
          <p:cNvSpPr/>
          <p:nvPr/>
        </p:nvSpPr>
        <p:spPr>
          <a:xfrm>
            <a:off x="3790281" y="4895725"/>
            <a:ext cx="180000" cy="923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18000" bIns="0" rtlCol="0" anchor="ctr">
            <a:spAutoFit/>
          </a:bodyPr>
          <a:lstStyle/>
          <a:p>
            <a:r>
              <a:rPr lang="en-US" altLang="ko-KR" sz="600" i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</a:t>
            </a:r>
            <a:endParaRPr lang="ko-KR" altLang="en-US" sz="600" i="1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C9D5B9C9-3F4A-E64D-9CDB-84FD993F437C}"/>
              </a:ext>
            </a:extLst>
          </p:cNvPr>
          <p:cNvSpPr/>
          <p:nvPr/>
        </p:nvSpPr>
        <p:spPr>
          <a:xfrm>
            <a:off x="-1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고객의 상담사 연결 요청 시 배정로직</a:t>
            </a: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24B9E41C-BB8E-1260-84C4-84B04D1E5FCC}"/>
              </a:ext>
            </a:extLst>
          </p:cNvPr>
          <p:cNvSpPr/>
          <p:nvPr/>
        </p:nvSpPr>
        <p:spPr>
          <a:xfrm>
            <a:off x="1284336" y="5858338"/>
            <a:ext cx="612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대기 모드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B85332D7-5A45-FBCF-B538-B0DAA203BA6F}"/>
              </a:ext>
            </a:extLst>
          </p:cNvPr>
          <p:cNvSpPr/>
          <p:nvPr/>
        </p:nvSpPr>
        <p:spPr>
          <a:xfrm>
            <a:off x="1284336" y="5590652"/>
            <a:ext cx="612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로그인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5ED88816-8718-6D0F-B275-AA2819012043}"/>
              </a:ext>
            </a:extLst>
          </p:cNvPr>
          <p:cNvSpPr/>
          <p:nvPr/>
        </p:nvSpPr>
        <p:spPr>
          <a:xfrm>
            <a:off x="443847" y="526175"/>
            <a:ext cx="1041448" cy="159400"/>
          </a:xfrm>
          <a:prstGeom prst="flowChartAlternateProcess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 b="1">
                <a:solidFill>
                  <a:schemeClr val="tx1"/>
                </a:solidFill>
              </a:rPr>
              <a:t>챗 시스템 상담사 상태</a:t>
            </a:r>
            <a:endParaRPr lang="en-US" altLang="ko-KR" sz="700" b="1">
              <a:solidFill>
                <a:schemeClr val="tx1"/>
              </a:solidFill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C1762A39-A9BE-B2F3-8E81-3A9392B7368C}"/>
              </a:ext>
            </a:extLst>
          </p:cNvPr>
          <p:cNvSpPr/>
          <p:nvPr/>
        </p:nvSpPr>
        <p:spPr>
          <a:xfrm>
            <a:off x="1284336" y="6137943"/>
            <a:ext cx="612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대기 해제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83EC3F88-9DA1-831F-97AD-C7A8B0A3A299}"/>
              </a:ext>
            </a:extLst>
          </p:cNvPr>
          <p:cNvSpPr/>
          <p:nvPr/>
        </p:nvSpPr>
        <p:spPr>
          <a:xfrm>
            <a:off x="1284336" y="6417548"/>
            <a:ext cx="612000" cy="159400"/>
          </a:xfrm>
          <a:prstGeom prst="flowChartAlternateProcess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로그아웃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E963CC-9F5F-3F39-48E7-37309421F12A}"/>
              </a:ext>
            </a:extLst>
          </p:cNvPr>
          <p:cNvSpPr txBox="1"/>
          <p:nvPr/>
        </p:nvSpPr>
        <p:spPr>
          <a:xfrm>
            <a:off x="238271" y="5825827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>
            <a:defPPr>
              <a:defRPr lang="ko-KR"/>
            </a:defPPr>
            <a:lvl1pPr algn="ctr">
              <a:defRPr sz="7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응대 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D6D9A-AD00-99A0-92F3-1E50C5F62B60}"/>
              </a:ext>
            </a:extLst>
          </p:cNvPr>
          <p:cNvSpPr txBox="1"/>
          <p:nvPr/>
        </p:nvSpPr>
        <p:spPr>
          <a:xfrm>
            <a:off x="238271" y="6089501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>
            <a:defPPr>
              <a:defRPr lang="ko-KR"/>
            </a:defPPr>
            <a:lvl1pPr algn="ctr">
              <a:defRPr sz="7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상담 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FE39F-1263-4A15-BCF5-1C61CE73AAF8}"/>
              </a:ext>
            </a:extLst>
          </p:cNvPr>
          <p:cNvSpPr txBox="1"/>
          <p:nvPr/>
        </p:nvSpPr>
        <p:spPr>
          <a:xfrm>
            <a:off x="238271" y="6353175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>
            <a:defPPr>
              <a:defRPr lang="ko-KR"/>
            </a:defPPr>
            <a:lvl1pPr algn="ctr">
              <a:defRPr sz="7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처리 중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92AA7F8-3CC9-43C7-C06F-DADB26B76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140048"/>
              </p:ext>
            </p:extLst>
          </p:nvPr>
        </p:nvGraphicFramePr>
        <p:xfrm>
          <a:off x="481848" y="702649"/>
          <a:ext cx="2661402" cy="89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25">
                  <a:extLst>
                    <a:ext uri="{9D8B030D-6E8A-4147-A177-3AD203B41FA5}">
                      <a16:colId xmlns:a16="http://schemas.microsoft.com/office/drawing/2014/main" val="1648166769"/>
                    </a:ext>
                  </a:extLst>
                </a:gridCol>
                <a:gridCol w="1163827">
                  <a:extLst>
                    <a:ext uri="{9D8B030D-6E8A-4147-A177-3AD203B41FA5}">
                      <a16:colId xmlns:a16="http://schemas.microsoft.com/office/drawing/2014/main" val="1942804140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3796449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고객상태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고객상태 설명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기타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71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CON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연결 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0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LOGIN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로그인 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041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BOT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AI-BOT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과 채팅상태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59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AGENT-CALL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상담사 연결 요청 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1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상담사와 채팅상태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96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</a:rPr>
                        <a:t>종료상태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90109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C4F07C-FB4A-27C4-B9E3-F595CAC9FB97}"/>
              </a:ext>
            </a:extLst>
          </p:cNvPr>
          <p:cNvSpPr/>
          <p:nvPr/>
        </p:nvSpPr>
        <p:spPr>
          <a:xfrm>
            <a:off x="7956163" y="4464421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spAutoFit/>
          </a:bodyPr>
          <a:lstStyle/>
          <a:p>
            <a:r>
              <a:rPr lang="ko-KR" altLang="en-US" sz="700">
                <a:solidFill>
                  <a:schemeClr val="tx1"/>
                </a:solidFill>
              </a:rPr>
              <a:t>연결 상태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52884B-ABAD-DABE-FAFA-812ACC0C7B3B}"/>
              </a:ext>
            </a:extLst>
          </p:cNvPr>
          <p:cNvSpPr/>
          <p:nvPr/>
        </p:nvSpPr>
        <p:spPr>
          <a:xfrm>
            <a:off x="7956163" y="4707017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spAutoFit/>
          </a:bodyPr>
          <a:lstStyle/>
          <a:p>
            <a:r>
              <a:rPr lang="ko-KR" altLang="en-US" sz="700">
                <a:solidFill>
                  <a:schemeClr val="tx1"/>
                </a:solidFill>
              </a:rPr>
              <a:t>로그인 상태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A5A4CA-8639-5989-A0CA-1D1CE77802FC}"/>
              </a:ext>
            </a:extLst>
          </p:cNvPr>
          <p:cNvSpPr/>
          <p:nvPr/>
        </p:nvSpPr>
        <p:spPr>
          <a:xfrm>
            <a:off x="7956163" y="4949613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sp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BOT</a:t>
            </a:r>
            <a:r>
              <a:rPr lang="ko-KR" altLang="en-US" sz="700">
                <a:solidFill>
                  <a:schemeClr val="tx1"/>
                </a:solidFill>
              </a:rPr>
              <a:t> 상태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F4BB60-2092-4975-A189-E71708B5847A}"/>
              </a:ext>
            </a:extLst>
          </p:cNvPr>
          <p:cNvSpPr/>
          <p:nvPr/>
        </p:nvSpPr>
        <p:spPr>
          <a:xfrm>
            <a:off x="7956163" y="5192209"/>
            <a:ext cx="984638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noAutofit/>
          </a:bodyPr>
          <a:lstStyle/>
          <a:p>
            <a:r>
              <a:rPr lang="ko-KR" altLang="en-US" sz="700">
                <a:solidFill>
                  <a:schemeClr val="tx1"/>
                </a:solidFill>
              </a:rPr>
              <a:t>상담사 연결 요청 상태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78A83A-CC5C-A314-29B6-89A1688AFE9D}"/>
              </a:ext>
            </a:extLst>
          </p:cNvPr>
          <p:cNvSpPr/>
          <p:nvPr/>
        </p:nvSpPr>
        <p:spPr>
          <a:xfrm>
            <a:off x="9361141" y="4949613"/>
            <a:ext cx="612000" cy="14407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spAutoFit/>
          </a:bodyPr>
          <a:lstStyle/>
          <a:p>
            <a:r>
              <a:rPr lang="en-US" altLang="ko-KR" sz="700">
                <a:solidFill>
                  <a:schemeClr val="tx1"/>
                </a:solidFill>
              </a:rPr>
              <a:t>AGENT</a:t>
            </a:r>
            <a:r>
              <a:rPr lang="ko-KR" altLang="en-US" sz="700">
                <a:solidFill>
                  <a:schemeClr val="tx1"/>
                </a:solidFill>
              </a:rPr>
              <a:t> 상태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970FB055-8822-A546-419F-246ABF086C46}"/>
              </a:ext>
            </a:extLst>
          </p:cNvPr>
          <p:cNvSpPr/>
          <p:nvPr/>
        </p:nvSpPr>
        <p:spPr>
          <a:xfrm>
            <a:off x="8568163" y="5605364"/>
            <a:ext cx="984638" cy="281086"/>
          </a:xfrm>
          <a:prstGeom prst="flowChartDecision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noAutofit/>
          </a:bodyPr>
          <a:lstStyle/>
          <a:p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531B0B-FF15-18AA-1AB9-3BE4E85FFC4C}"/>
              </a:ext>
            </a:extLst>
          </p:cNvPr>
          <p:cNvSpPr/>
          <p:nvPr/>
        </p:nvSpPr>
        <p:spPr>
          <a:xfrm>
            <a:off x="8568163" y="5673870"/>
            <a:ext cx="984638" cy="1440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no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대기 상담사 존재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4" name="순서도: 판단 23">
            <a:extLst>
              <a:ext uri="{FF2B5EF4-FFF2-40B4-BE49-F238E27FC236}">
                <a16:creationId xmlns:a16="http://schemas.microsoft.com/office/drawing/2014/main" id="{011DC07E-1167-A78D-2BCF-B7B424EB7BD5}"/>
              </a:ext>
            </a:extLst>
          </p:cNvPr>
          <p:cNvSpPr/>
          <p:nvPr/>
        </p:nvSpPr>
        <p:spPr>
          <a:xfrm>
            <a:off x="8568163" y="6072089"/>
            <a:ext cx="984638" cy="281086"/>
          </a:xfrm>
          <a:prstGeom prst="flowChartDecision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noAutofit/>
          </a:bodyPr>
          <a:lstStyle/>
          <a:p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B2DF0F-CA54-169B-F0AA-07D7A2D7038A}"/>
              </a:ext>
            </a:extLst>
          </p:cNvPr>
          <p:cNvSpPr/>
          <p:nvPr/>
        </p:nvSpPr>
        <p:spPr>
          <a:xfrm>
            <a:off x="8568163" y="6140595"/>
            <a:ext cx="984638" cy="1440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no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대기 상담사 존재</a:t>
            </a:r>
            <a:endParaRPr lang="en-US" altLang="ko-KR" sz="700">
              <a:solidFill>
                <a:schemeClr val="tx1"/>
              </a:solidFill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7188C3FE-B9A1-2EE6-2244-548885E43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272182"/>
              </p:ext>
            </p:extLst>
          </p:nvPr>
        </p:nvGraphicFramePr>
        <p:xfrm>
          <a:off x="6622104" y="1844114"/>
          <a:ext cx="4637394" cy="99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925">
                  <a:extLst>
                    <a:ext uri="{9D8B030D-6E8A-4147-A177-3AD203B41FA5}">
                      <a16:colId xmlns:a16="http://schemas.microsoft.com/office/drawing/2014/main" val="1648166769"/>
                    </a:ext>
                  </a:extLst>
                </a:gridCol>
                <a:gridCol w="2625469">
                  <a:extLst>
                    <a:ext uri="{9D8B030D-6E8A-4147-A177-3AD203B41FA5}">
                      <a16:colId xmlns:a16="http://schemas.microsoft.com/office/drawing/2014/main" val="1942804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조건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상세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71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상담사 연결 가능 설정 여부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0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휴무일 여부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041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상담시간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59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대기 상담사 존재 여부 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</a:rPr>
                        <a:t>Redis, DB</a:t>
                      </a:r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1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>
                          <a:solidFill>
                            <a:srgbClr val="0070C0"/>
                          </a:solidFill>
                        </a:rPr>
                        <a:t>MAX </a:t>
                      </a:r>
                      <a:r>
                        <a:rPr lang="ko-KR" altLang="en-US" sz="700" b="1">
                          <a:solidFill>
                            <a:srgbClr val="0070C0"/>
                          </a:solidFill>
                        </a:rPr>
                        <a:t>채팅 콜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</a:rPr>
                        <a:t>에 도달하지 않은 상담사 존재여부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</a:rPr>
                        <a:t>Redis, DB</a:t>
                      </a:r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96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66443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0E9687-BF48-03C0-B816-FEA38DE27470}"/>
              </a:ext>
            </a:extLst>
          </p:cNvPr>
          <p:cNvSpPr/>
          <p:nvPr/>
        </p:nvSpPr>
        <p:spPr>
          <a:xfrm>
            <a:off x="6621833" y="646943"/>
            <a:ext cx="2620356" cy="359517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18000" rIns="18000" bIns="18000" rtlCol="0" anchor="t" anchorCtr="0">
            <a:spAutoFit/>
          </a:bodyPr>
          <a:lstStyle/>
          <a:p>
            <a:r>
              <a:rPr lang="ko-KR" altLang="en-US" sz="700">
                <a:solidFill>
                  <a:schemeClr val="tx1"/>
                </a:solidFill>
              </a:rPr>
              <a:t>상담사 대기</a:t>
            </a:r>
            <a:endParaRPr lang="en-US" altLang="ko-KR" sz="700">
              <a:solidFill>
                <a:schemeClr val="tx1"/>
              </a:solidFill>
            </a:endParaRPr>
          </a:p>
          <a:p>
            <a:r>
              <a:rPr lang="en-US" altLang="ko-KR" sz="700">
                <a:solidFill>
                  <a:schemeClr val="tx1"/>
                </a:solidFill>
              </a:rPr>
              <a:t>MAX </a:t>
            </a:r>
            <a:r>
              <a:rPr lang="ko-KR" altLang="en-US" sz="700">
                <a:solidFill>
                  <a:schemeClr val="tx1"/>
                </a:solidFill>
              </a:rPr>
              <a:t>콜</a:t>
            </a:r>
            <a:endParaRPr lang="en-US" altLang="ko-KR" sz="700">
              <a:solidFill>
                <a:schemeClr val="tx1"/>
              </a:solidFill>
            </a:endParaRPr>
          </a:p>
          <a:p>
            <a:r>
              <a:rPr lang="ko-KR" altLang="en-US" sz="700">
                <a:solidFill>
                  <a:schemeClr val="tx1"/>
                </a:solidFill>
              </a:rPr>
              <a:t>등 이벤트 시 고객의 상담사 연결 버튼에 영향을 주도록 알림</a:t>
            </a:r>
            <a:endParaRPr lang="en-US" altLang="ko-KR" sz="700">
              <a:solidFill>
                <a:schemeClr val="tx1"/>
              </a:solidFill>
            </a:endParaRPr>
          </a:p>
        </p:txBody>
      </p:sp>
      <p:sp>
        <p:nvSpPr>
          <p:cNvPr id="28" name="순서도: 대체 처리 27">
            <a:extLst>
              <a:ext uri="{FF2B5EF4-FFF2-40B4-BE49-F238E27FC236}">
                <a16:creationId xmlns:a16="http://schemas.microsoft.com/office/drawing/2014/main" id="{46360CB4-7A53-E2B7-DE2A-49FCC2BD019E}"/>
              </a:ext>
            </a:extLst>
          </p:cNvPr>
          <p:cNvSpPr/>
          <p:nvPr/>
        </p:nvSpPr>
        <p:spPr>
          <a:xfrm>
            <a:off x="6621833" y="1658475"/>
            <a:ext cx="2307371" cy="159400"/>
          </a:xfrm>
          <a:prstGeom prst="flowChartAlternateProcess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t" anchorCtr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</a:rPr>
              <a:t>상담사 연결 가능 여부 조건</a:t>
            </a:r>
            <a:endParaRPr lang="en-US" altLang="ko-KR" sz="7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96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16DB84-2A8A-2215-6858-F696BBAF7D31}"/>
              </a:ext>
            </a:extLst>
          </p:cNvPr>
          <p:cNvSpPr txBox="1"/>
          <p:nvPr/>
        </p:nvSpPr>
        <p:spPr>
          <a:xfrm>
            <a:off x="982825" y="3059668"/>
            <a:ext cx="163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Refresh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CE798-5239-978C-4F26-B39DD1E49F76}"/>
              </a:ext>
            </a:extLst>
          </p:cNvPr>
          <p:cNvSpPr txBox="1"/>
          <p:nvPr/>
        </p:nvSpPr>
        <p:spPr>
          <a:xfrm>
            <a:off x="3203510" y="1050085"/>
            <a:ext cx="157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>
                <a:effectLst/>
                <a:latin typeface="fkGroteskNeue"/>
              </a:rPr>
              <a:t>Access Token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7D4D1-381B-D057-3768-827DD9E20B50}"/>
              </a:ext>
            </a:extLst>
          </p:cNvPr>
          <p:cNvSpPr txBox="1"/>
          <p:nvPr/>
        </p:nvSpPr>
        <p:spPr>
          <a:xfrm>
            <a:off x="3203510" y="1703228"/>
            <a:ext cx="192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Refresh Token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2A21E-1B1A-E25E-DDA1-A1B5770C3A25}"/>
              </a:ext>
            </a:extLst>
          </p:cNvPr>
          <p:cNvSpPr txBox="1"/>
          <p:nvPr/>
        </p:nvSpPr>
        <p:spPr>
          <a:xfrm>
            <a:off x="6724262" y="1788367"/>
            <a:ext cx="4739950" cy="178510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String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accessToken = </a:t>
            </a: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Jwts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.builder()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.setSubject(customerId)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.setExpiration(new </a:t>
            </a: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Date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System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.currentTimeMillis() + </a:t>
            </a:r>
            <a:r>
              <a:rPr lang="en-US" altLang="ko-KR" sz="1000" kern="100">
                <a:solidFill>
                  <a:srgbClr val="F587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3600000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)) </a:t>
            </a:r>
            <a:r>
              <a:rPr lang="en-US" altLang="ko-KR" sz="1000" kern="100">
                <a:solidFill>
                  <a:srgbClr val="8E908C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// 1</a:t>
            </a:r>
            <a:r>
              <a:rPr lang="ko-KR" altLang="ko-KR" sz="1000" kern="100">
                <a:solidFill>
                  <a:srgbClr val="8E908C"/>
                </a:solidFill>
                <a:effectLst/>
                <a:latin typeface="맑은 고딕" panose="020B0503020000020004" pitchFamily="50" charset="-127"/>
                <a:ea typeface="D2Coding" panose="020B0609020101020101" pitchFamily="49" charset="-127"/>
                <a:cs typeface="Times New Roman" panose="02020603050405020304" pitchFamily="18" charset="0"/>
              </a:rPr>
              <a:t>시간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.signWith(secretKey)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.compact();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String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refreshToken = </a:t>
            </a: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Jwts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.builder()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.setSubject(customerId)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.setExpiration(new </a:t>
            </a: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Date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000" kern="100">
                <a:solidFill>
                  <a:srgbClr val="4271AE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System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.currentTimeMillis() + </a:t>
            </a:r>
            <a:r>
              <a:rPr lang="en-US" altLang="ko-KR" sz="1000" kern="100">
                <a:solidFill>
                  <a:srgbClr val="F5871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604800000</a:t>
            </a: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)) </a:t>
            </a:r>
            <a:r>
              <a:rPr lang="en-US" altLang="ko-KR" sz="1000" kern="100">
                <a:solidFill>
                  <a:srgbClr val="8E908C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// 7</a:t>
            </a:r>
            <a:r>
              <a:rPr lang="ko-KR" altLang="ko-KR" sz="1000" kern="100">
                <a:solidFill>
                  <a:srgbClr val="8E908C"/>
                </a:solidFill>
                <a:effectLst/>
                <a:latin typeface="맑은 고딕" panose="020B0503020000020004" pitchFamily="50" charset="-127"/>
                <a:ea typeface="D2Coding" panose="020B0609020101020101" pitchFamily="49" charset="-127"/>
                <a:cs typeface="Times New Roman" panose="02020603050405020304" pitchFamily="18" charset="0"/>
              </a:rPr>
              <a:t>일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.signWith(refreshSecretKey)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.compact();</a:t>
            </a:r>
            <a:endParaRPr lang="ko-KR" altLang="ko-KR" sz="10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04649-310C-EF04-90F0-E8523C78B74E}"/>
              </a:ext>
            </a:extLst>
          </p:cNvPr>
          <p:cNvSpPr txBox="1"/>
          <p:nvPr/>
        </p:nvSpPr>
        <p:spPr>
          <a:xfrm>
            <a:off x="5766320" y="4122967"/>
            <a:ext cx="60960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100" b="0">
                <a:effectLst/>
                <a:latin typeface="fkGroteskNeue"/>
              </a:rPr>
              <a:t>웹소켓 적용 로직</a:t>
            </a:r>
          </a:p>
          <a:p>
            <a:pPr>
              <a:buNone/>
            </a:pPr>
            <a:r>
              <a:rPr lang="ko-KR" altLang="en-US" sz="1100">
                <a:effectLst/>
                <a:latin typeface="fkGroteskNeue"/>
              </a:rPr>
              <a:t>웹소켓 연결 시 </a:t>
            </a:r>
            <a:r>
              <a:rPr lang="en-US" altLang="ko-KR" sz="1100">
                <a:effectLst/>
                <a:latin typeface="fkGroteskNeue"/>
              </a:rPr>
              <a:t>Access Token</a:t>
            </a:r>
            <a:r>
              <a:rPr lang="ko-KR" altLang="en-US" sz="1100">
                <a:effectLst/>
                <a:latin typeface="fkGroteskNeue"/>
              </a:rPr>
              <a:t>을 쿼리 파라미터나 헤더로 전달하고</a:t>
            </a:r>
            <a:r>
              <a:rPr lang="en-US" altLang="ko-KR" sz="1100">
                <a:effectLst/>
                <a:latin typeface="fkGroteskNeue"/>
              </a:rPr>
              <a:t>, </a:t>
            </a:r>
            <a:r>
              <a:rPr lang="ko-KR" altLang="en-US" sz="1100">
                <a:effectLst/>
                <a:latin typeface="fkGroteskNeue"/>
              </a:rPr>
              <a:t>만료 시 클라이언트가 </a:t>
            </a:r>
            <a:r>
              <a:rPr lang="en-US" altLang="ko-KR" sz="1100">
                <a:effectLst/>
                <a:latin typeface="fkGroteskNeue"/>
              </a:rPr>
              <a:t>Refresh Token</a:t>
            </a:r>
            <a:r>
              <a:rPr lang="ko-KR" altLang="en-US" sz="1100">
                <a:effectLst/>
                <a:latin typeface="fkGroteskNeue"/>
              </a:rPr>
              <a:t>으로 재발급 요청을 보냅니다</a:t>
            </a:r>
            <a:r>
              <a:rPr lang="en-US" altLang="ko-KR" sz="1100">
                <a:effectLst/>
                <a:latin typeface="fkGroteskNeue"/>
              </a:rPr>
              <a:t>.​</a:t>
            </a:r>
            <a:br>
              <a:rPr lang="en-US" altLang="ko-KR" sz="1100">
                <a:effectLst/>
                <a:latin typeface="fkGroteskNeue"/>
              </a:rPr>
            </a:br>
            <a:r>
              <a:rPr lang="ko-KR" altLang="en-US" sz="1100">
                <a:effectLst/>
                <a:latin typeface="fkGroteskNeue"/>
              </a:rPr>
              <a:t>서버에서는 웹소켓 핸드셰이크 단계에서 토큰을 검증하며</a:t>
            </a:r>
            <a:r>
              <a:rPr lang="en-US" altLang="ko-KR" sz="1100">
                <a:effectLst/>
                <a:latin typeface="fkGroteskNeue"/>
              </a:rPr>
              <a:t>, Refresh API(/refresh)</a:t>
            </a:r>
            <a:r>
              <a:rPr lang="ko-KR" altLang="en-US" sz="1100">
                <a:effectLst/>
                <a:latin typeface="fkGroteskNeue"/>
              </a:rPr>
              <a:t>를 별도로 구현해 고객 정보를 유지합니다</a:t>
            </a:r>
            <a:r>
              <a:rPr lang="en-US" altLang="ko-KR" sz="1100">
                <a:effectLst/>
                <a:latin typeface="fkGroteskNeue"/>
              </a:rPr>
              <a:t>.​</a:t>
            </a:r>
            <a:br>
              <a:rPr lang="en-US" altLang="ko-KR" sz="1100">
                <a:effectLst/>
                <a:latin typeface="fkGroteskNeue"/>
              </a:rPr>
            </a:br>
            <a:r>
              <a:rPr lang="en-US" altLang="ko-KR" sz="1100">
                <a:effectLst/>
                <a:latin typeface="fkGroteskNeue"/>
              </a:rPr>
              <a:t>Redis</a:t>
            </a:r>
            <a:r>
              <a:rPr lang="ko-KR" altLang="en-US" sz="1100">
                <a:effectLst/>
                <a:latin typeface="fkGroteskNeue"/>
              </a:rPr>
              <a:t>에 </a:t>
            </a:r>
            <a:r>
              <a:rPr lang="en-US" altLang="ko-KR" sz="1100">
                <a:effectLst/>
                <a:latin typeface="fkGroteskNeue"/>
              </a:rPr>
              <a:t>Refresh Token</a:t>
            </a:r>
            <a:r>
              <a:rPr lang="ko-KR" altLang="en-US" sz="1100">
                <a:effectLst/>
                <a:latin typeface="fkGroteskNeue"/>
              </a:rPr>
              <a:t>을 저장하면 분산 환경에서도 빠른 검증이 가능합니다</a:t>
            </a:r>
            <a:r>
              <a:rPr lang="en-US" altLang="ko-KR" sz="1100">
                <a:effectLst/>
                <a:latin typeface="fkGroteskNeue"/>
              </a:rPr>
              <a:t>.</a:t>
            </a:r>
          </a:p>
          <a:p>
            <a:pPr>
              <a:buNone/>
            </a:pPr>
            <a:r>
              <a:rPr lang="ko-KR" altLang="en-US" sz="1100" b="0">
                <a:effectLst/>
                <a:latin typeface="fkGroteskNeue"/>
              </a:rPr>
              <a:t>보안 강화 팁</a:t>
            </a:r>
          </a:p>
          <a:p>
            <a:pPr>
              <a:buNone/>
            </a:pPr>
            <a:r>
              <a:rPr lang="en-US" altLang="ko-KR" sz="1100" b="0" i="0">
                <a:effectLst/>
                <a:latin typeface="fkGroteskNeue"/>
              </a:rPr>
              <a:t>Refresh Token </a:t>
            </a:r>
            <a:r>
              <a:rPr lang="ko-KR" altLang="en-US" sz="1100" b="0" i="0">
                <a:effectLst/>
                <a:latin typeface="fkGroteskNeue"/>
              </a:rPr>
              <a:t>블랙리스트</a:t>
            </a:r>
            <a:r>
              <a:rPr lang="en-US" altLang="ko-KR" sz="1100" b="0" i="0">
                <a:effectLst/>
                <a:latin typeface="fkGroteskNeue"/>
              </a:rPr>
              <a:t>(Redis SETEX </a:t>
            </a:r>
            <a:r>
              <a:rPr lang="ko-KR" altLang="en-US" sz="1100" b="0" i="0">
                <a:effectLst/>
                <a:latin typeface="fkGroteskNeue"/>
              </a:rPr>
              <a:t>사용</a:t>
            </a:r>
            <a:r>
              <a:rPr lang="en-US" altLang="ko-KR" sz="1100" b="0" i="0">
                <a:effectLst/>
                <a:latin typeface="fkGroteskNeue"/>
              </a:rPr>
              <a:t>)</a:t>
            </a:r>
            <a:r>
              <a:rPr lang="ko-KR" altLang="en-US" sz="1100" b="0" i="0">
                <a:effectLst/>
                <a:latin typeface="fkGroteskNeue"/>
              </a:rPr>
              <a:t>로 로그아웃 시 무효화하세요</a:t>
            </a:r>
            <a:r>
              <a:rPr lang="en-US" altLang="ko-KR" sz="1100" b="0" i="0">
                <a:effectLst/>
                <a:latin typeface="fkGroteskNeue"/>
              </a:rPr>
              <a:t>.</a:t>
            </a:r>
            <a:br>
              <a:rPr lang="ko-KR" altLang="en-US" sz="1100">
                <a:effectLst/>
                <a:latin typeface="fkGroteskNeue"/>
              </a:rPr>
            </a:br>
            <a:r>
              <a:rPr lang="ko-KR" altLang="en-US" sz="1100" b="0" i="0">
                <a:effectLst/>
                <a:latin typeface="fkGroteskNeue"/>
              </a:rPr>
              <a:t>고객 정보는 </a:t>
            </a:r>
            <a:r>
              <a:rPr lang="en-US" altLang="ko-KR" sz="1100" b="0" i="0">
                <a:effectLst/>
                <a:latin typeface="fkGroteskNeue"/>
              </a:rPr>
              <a:t>Access Token</a:t>
            </a:r>
            <a:r>
              <a:rPr lang="ko-KR" altLang="en-US" sz="1100" b="0" i="0">
                <a:effectLst/>
                <a:latin typeface="fkGroteskNeue"/>
              </a:rPr>
              <a:t>에 최소화하고</a:t>
            </a:r>
            <a:r>
              <a:rPr lang="en-US" altLang="ko-KR" sz="1100" b="0" i="0">
                <a:effectLst/>
                <a:latin typeface="fkGroteskNeue"/>
              </a:rPr>
              <a:t>, </a:t>
            </a:r>
            <a:r>
              <a:rPr lang="ko-KR" altLang="en-US" sz="1100" b="0" i="0">
                <a:effectLst/>
                <a:latin typeface="fkGroteskNeue"/>
              </a:rPr>
              <a:t>필요 시 서버 </a:t>
            </a:r>
            <a:r>
              <a:rPr lang="en-US" altLang="ko-KR" sz="1100" b="0" i="0">
                <a:effectLst/>
                <a:latin typeface="fkGroteskNeue"/>
              </a:rPr>
              <a:t>DB </a:t>
            </a:r>
            <a:r>
              <a:rPr lang="ko-KR" altLang="en-US" sz="1100" b="0" i="0">
                <a:effectLst/>
                <a:latin typeface="fkGroteskNeue"/>
              </a:rPr>
              <a:t>조회로 보완합니다</a:t>
            </a:r>
            <a:r>
              <a:rPr lang="en-US" altLang="ko-KR" sz="1100" b="0" i="0">
                <a:effectLst/>
                <a:latin typeface="fkGroteskNeue"/>
              </a:rPr>
              <a:t>.​</a:t>
            </a:r>
            <a:br>
              <a:rPr lang="ko-KR" altLang="en-US" sz="1100">
                <a:effectLst/>
                <a:latin typeface="fkGroteskNeue"/>
              </a:rPr>
            </a:br>
            <a:r>
              <a:rPr lang="ko-KR" altLang="en-US" sz="1100" b="0" i="0">
                <a:effectLst/>
                <a:latin typeface="fkGroteskNeue"/>
              </a:rPr>
              <a:t>클라이언트에서는 </a:t>
            </a:r>
            <a:r>
              <a:rPr lang="en-US" altLang="ko-KR" sz="1100" b="0" i="0">
                <a:effectLst/>
                <a:latin typeface="fkGroteskNeue"/>
              </a:rPr>
              <a:t>localStorage </a:t>
            </a:r>
            <a:r>
              <a:rPr lang="ko-KR" altLang="en-US" sz="1100" b="0" i="0">
                <a:effectLst/>
                <a:latin typeface="fkGroteskNeue"/>
              </a:rPr>
              <a:t>대신 </a:t>
            </a:r>
            <a:r>
              <a:rPr lang="en-US" altLang="ko-KR" sz="1100" b="0" i="0">
                <a:effectLst/>
                <a:latin typeface="fkGroteskNeue"/>
              </a:rPr>
              <a:t>httpOnly </a:t>
            </a:r>
            <a:r>
              <a:rPr lang="ko-KR" altLang="en-US" sz="1100" b="0" i="0">
                <a:effectLst/>
                <a:latin typeface="fkGroteskNeue"/>
              </a:rPr>
              <a:t>쿠키를 활용해 </a:t>
            </a:r>
            <a:r>
              <a:rPr lang="en-US" altLang="ko-KR" sz="1100" b="0" i="0">
                <a:effectLst/>
                <a:latin typeface="fkGroteskNeue"/>
              </a:rPr>
              <a:t>XSS </a:t>
            </a:r>
            <a:r>
              <a:rPr lang="ko-KR" altLang="en-US" sz="1100" b="0" i="0">
                <a:effectLst/>
                <a:latin typeface="fkGroteskNeue"/>
              </a:rPr>
              <a:t>공격을 방지하세요</a:t>
            </a:r>
            <a:r>
              <a:rPr lang="en-US" altLang="ko-KR" sz="1100" b="0" i="0">
                <a:effectLst/>
                <a:latin typeface="fkGroteskNeue"/>
              </a:rPr>
              <a:t>.</a:t>
            </a:r>
            <a:br>
              <a:rPr lang="en-US" altLang="ko-KR" sz="1100" b="0" i="0">
                <a:effectLst/>
                <a:latin typeface="fkGroteskNeue"/>
              </a:rPr>
            </a:b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25273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C1FCFD6-1CAB-AD3C-CC71-87ECDD56A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429497"/>
              </p:ext>
            </p:extLst>
          </p:nvPr>
        </p:nvGraphicFramePr>
        <p:xfrm>
          <a:off x="509287" y="365537"/>
          <a:ext cx="9828472" cy="417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850">
                  <a:extLst>
                    <a:ext uri="{9D8B030D-6E8A-4147-A177-3AD203B41FA5}">
                      <a16:colId xmlns:a16="http://schemas.microsoft.com/office/drawing/2014/main" val="3427861908"/>
                    </a:ext>
                  </a:extLst>
                </a:gridCol>
                <a:gridCol w="507248">
                  <a:extLst>
                    <a:ext uri="{9D8B030D-6E8A-4147-A177-3AD203B41FA5}">
                      <a16:colId xmlns:a16="http://schemas.microsoft.com/office/drawing/2014/main" val="1324594896"/>
                    </a:ext>
                  </a:extLst>
                </a:gridCol>
                <a:gridCol w="942064">
                  <a:extLst>
                    <a:ext uri="{9D8B030D-6E8A-4147-A177-3AD203B41FA5}">
                      <a16:colId xmlns:a16="http://schemas.microsoft.com/office/drawing/2014/main" val="2394182754"/>
                    </a:ext>
                  </a:extLst>
                </a:gridCol>
                <a:gridCol w="942064">
                  <a:extLst>
                    <a:ext uri="{9D8B030D-6E8A-4147-A177-3AD203B41FA5}">
                      <a16:colId xmlns:a16="http://schemas.microsoft.com/office/drawing/2014/main" val="1744910489"/>
                    </a:ext>
                  </a:extLst>
                </a:gridCol>
                <a:gridCol w="1120846">
                  <a:extLst>
                    <a:ext uri="{9D8B030D-6E8A-4147-A177-3AD203B41FA5}">
                      <a16:colId xmlns:a16="http://schemas.microsoft.com/office/drawing/2014/main" val="3808828349"/>
                    </a:ext>
                  </a:extLst>
                </a:gridCol>
                <a:gridCol w="3507400">
                  <a:extLst>
                    <a:ext uri="{9D8B030D-6E8A-4147-A177-3AD203B41FA5}">
                      <a16:colId xmlns:a16="http://schemas.microsoft.com/office/drawing/2014/main" val="2170684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api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Method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Input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Output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Header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Body or Param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56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http://{HOST}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/api/customer/{apt001}/login?id={cust01}&amp;password={1234}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roid Serif" panose="02020600060500020200" pitchFamily="18" charset="0"/>
                        <a:ea typeface="맑은 고딕" panose="020B0503020000020004" pitchFamily="50" charset="-127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Droid Serif" panose="02020600060500020200" pitchFamily="18" charset="0"/>
                          <a:ea typeface="맑은 고딕" panose="020B0503020000020004" pitchFamily="50" charset="-127"/>
                          <a:cs typeface="Droid Serif" panose="02020600060500020200" pitchFamily="18" charset="0"/>
                        </a:rPr>
                        <a:t>POST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roid Serif" panose="02020600060500020200" pitchFamily="18" charset="0"/>
                        <a:ea typeface="맑은 고딕" panose="020B0503020000020004" pitchFamily="50" charset="-127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roid Serif" panose="02020600060500020200" pitchFamily="18" charset="0"/>
                        <a:ea typeface="맑은 고딕" panose="020B0503020000020004" pitchFamily="50" charset="-127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roid Serif" panose="02020600060500020200" pitchFamily="18" charset="0"/>
                        <a:ea typeface="맑은 고딕" panose="020B0503020000020004" pitchFamily="50" charset="-127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roid Serif" panose="02020600060500020200" pitchFamily="18" charset="0"/>
                        <a:ea typeface="맑은 고딕" panose="020B0503020000020004" pitchFamily="50" charset="-127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Droid Serif" panose="02020600060500020200" pitchFamily="18" charset="0"/>
                        <a:ea typeface="맑은 고딕" panose="020B0503020000020004" pitchFamily="50" charset="-127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66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http://{HOST}/api/agent/rooms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ChatRoom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목록 반환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roomId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roomName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members []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status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assignedAgent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createdAt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lastActivityAt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custId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6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http://{HOST}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/api/agent/me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GET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authorization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N/A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UserInfo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반환</a:t>
                      </a:r>
                      <a:endParaRPr lang="en-US" altLang="ko-KR" sz="700" kern="1200">
                        <a:solidFill>
                          <a:schemeClr val="tx1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{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userId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userName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role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email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token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roomId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companyId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}</a:t>
                      </a:r>
                      <a:endParaRPr lang="ko-KR" altLang="en-US" sz="700" kern="1200">
                        <a:solidFill>
                          <a:schemeClr val="tx1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Authorization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헤더의 토큰을 검증해 현재 상담원 정보 반환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58809"/>
                  </a:ext>
                </a:extLst>
              </a:tr>
              <a:tr h="1684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http://{HOST}/api/agent/availability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5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http://{HOST}/ws-chat/info?token=&amp;t=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GET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4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http://{HOST}/api/customer/chatbot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44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ws://{HOST}/ws-chat/424/ksjqtp0s/websocket?token=&amp;roomId=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31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861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696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695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소프트웨어이(가) 표시된 사진">
            <a:extLst>
              <a:ext uri="{FF2B5EF4-FFF2-40B4-BE49-F238E27FC236}">
                <a16:creationId xmlns:a16="http://schemas.microsoft.com/office/drawing/2014/main" id="{0AF11847-6120-485A-4FA4-5E271273E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91" b="77267"/>
          <a:stretch>
            <a:fillRect/>
          </a:stretch>
        </p:blipFill>
        <p:spPr>
          <a:xfrm>
            <a:off x="327874" y="160019"/>
            <a:ext cx="3576638" cy="414870"/>
          </a:xfrm>
          <a:prstGeom prst="rect">
            <a:avLst/>
          </a:prstGeom>
        </p:spPr>
      </p:pic>
      <p:pic>
        <p:nvPicPr>
          <p:cNvPr id="11" name="그림 10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288910-6C40-59BF-5C1F-B7EAA58F3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883" y="3836547"/>
            <a:ext cx="3576638" cy="2476500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C4CE40-2460-10F1-99F3-03FDC71B0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884" y="2709813"/>
            <a:ext cx="3495675" cy="1028700"/>
          </a:xfrm>
          <a:prstGeom prst="rect">
            <a:avLst/>
          </a:prstGeom>
        </p:spPr>
      </p:pic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532B16-3B32-F5B2-12D5-C79AE9375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2885" y="1383054"/>
            <a:ext cx="3471863" cy="1228725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3B8772-FCCB-C13D-07B0-339CDD436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883" y="75345"/>
            <a:ext cx="3490913" cy="1209675"/>
          </a:xfrm>
          <a:prstGeom prst="rect">
            <a:avLst/>
          </a:prstGeom>
        </p:spPr>
      </p:pic>
      <p:pic>
        <p:nvPicPr>
          <p:cNvPr id="21" name="그림 2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297444-8AED-B863-366A-43B50BD17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246" y="683550"/>
            <a:ext cx="3471863" cy="1509713"/>
          </a:xfrm>
          <a:prstGeom prst="rect">
            <a:avLst/>
          </a:prstGeom>
        </p:spPr>
      </p:pic>
      <p:pic>
        <p:nvPicPr>
          <p:cNvPr id="23" name="그림 2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94AE7-B28F-EAD0-B56E-C4195823AD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493" y="2293608"/>
            <a:ext cx="347662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6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65D302F-9A38-BA77-D315-26DBF5ED209F}"/>
              </a:ext>
            </a:extLst>
          </p:cNvPr>
          <p:cNvGraphicFramePr>
            <a:graphicFrameLocks noGrp="1"/>
          </p:cNvGraphicFramePr>
          <p:nvPr/>
        </p:nvGraphicFramePr>
        <p:xfrm>
          <a:off x="470040" y="3450518"/>
          <a:ext cx="1707225" cy="71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25">
                  <a:extLst>
                    <a:ext uri="{9D8B030D-6E8A-4147-A177-3AD203B41FA5}">
                      <a16:colId xmlns:a16="http://schemas.microsoft.com/office/drawing/2014/main" val="1457907264"/>
                    </a:ext>
                  </a:extLst>
                </a:gridCol>
                <a:gridCol w="486338">
                  <a:extLst>
                    <a:ext uri="{9D8B030D-6E8A-4147-A177-3AD203B41FA5}">
                      <a16:colId xmlns:a16="http://schemas.microsoft.com/office/drawing/2014/main" val="3427861908"/>
                    </a:ext>
                  </a:extLst>
                </a:gridCol>
                <a:gridCol w="426012">
                  <a:extLst>
                    <a:ext uri="{9D8B030D-6E8A-4147-A177-3AD203B41FA5}">
                      <a16:colId xmlns:a16="http://schemas.microsoft.com/office/drawing/2014/main" val="931614083"/>
                    </a:ext>
                  </a:extLst>
                </a:gridCol>
                <a:gridCol w="472050">
                  <a:extLst>
                    <a:ext uri="{9D8B030D-6E8A-4147-A177-3AD203B41FA5}">
                      <a16:colId xmlns:a16="http://schemas.microsoft.com/office/drawing/2014/main" val="3808828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Key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Key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Set Key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Member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room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{roomId}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users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{userId}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6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{userId}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588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2DD2E4-1CA0-5F1C-8ACE-64AF9E9FF59D}"/>
              </a:ext>
            </a:extLst>
          </p:cNvPr>
          <p:cNvSpPr txBox="1"/>
          <p:nvPr/>
        </p:nvSpPr>
        <p:spPr>
          <a:xfrm>
            <a:off x="306054" y="3013117"/>
            <a:ext cx="2443073" cy="44203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Room 참가자 관리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• Set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구조 사용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Room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별 참가자 목록을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Set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으로 관리합니다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464E2E2-0EB8-9121-A852-4632F1D5DC98}"/>
              </a:ext>
            </a:extLst>
          </p:cNvPr>
          <p:cNvGraphicFramePr>
            <a:graphicFrameLocks noGrp="1"/>
          </p:cNvGraphicFramePr>
          <p:nvPr/>
        </p:nvGraphicFramePr>
        <p:xfrm>
          <a:off x="470040" y="2178609"/>
          <a:ext cx="834563" cy="71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13">
                  <a:extLst>
                    <a:ext uri="{9D8B030D-6E8A-4147-A177-3AD203B41FA5}">
                      <a16:colId xmlns:a16="http://schemas.microsoft.com/office/drawing/2014/main" val="3427861908"/>
                    </a:ext>
                  </a:extLst>
                </a:gridCol>
                <a:gridCol w="472050">
                  <a:extLst>
                    <a:ext uri="{9D8B030D-6E8A-4147-A177-3AD203B41FA5}">
                      <a16:colId xmlns:a16="http://schemas.microsoft.com/office/drawing/2014/main" val="3808828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Key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Member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rooms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{roomId}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6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{roomId}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588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6344DC1-22A6-126D-8634-1C7DF01DC2DC}"/>
              </a:ext>
            </a:extLst>
          </p:cNvPr>
          <p:cNvSpPr txBox="1"/>
          <p:nvPr/>
        </p:nvSpPr>
        <p:spPr>
          <a:xfrm>
            <a:off x="306054" y="1749451"/>
            <a:ext cx="2443073" cy="44203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Room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목록 관리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Set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Sorted Set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사용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모든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Room ID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관리하는 집합을 둡니다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4E6F2C8-7668-D1D6-47B5-ED8B7EFD6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0" y="2391235"/>
            <a:ext cx="146317" cy="115834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0BDB213-00B1-FC7A-3A75-21530741EEE3}"/>
              </a:ext>
            </a:extLst>
          </p:cNvPr>
          <p:cNvGraphicFramePr>
            <a:graphicFrameLocks noGrp="1"/>
          </p:cNvGraphicFramePr>
          <p:nvPr/>
        </p:nvGraphicFramePr>
        <p:xfrm>
          <a:off x="470040" y="696486"/>
          <a:ext cx="2279087" cy="89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25">
                  <a:extLst>
                    <a:ext uri="{9D8B030D-6E8A-4147-A177-3AD203B41FA5}">
                      <a16:colId xmlns:a16="http://schemas.microsoft.com/office/drawing/2014/main" val="3427861908"/>
                    </a:ext>
                  </a:extLst>
                </a:gridCol>
                <a:gridCol w="486338">
                  <a:extLst>
                    <a:ext uri="{9D8B030D-6E8A-4147-A177-3AD203B41FA5}">
                      <a16:colId xmlns:a16="http://schemas.microsoft.com/office/drawing/2014/main" val="3808828349"/>
                    </a:ext>
                  </a:extLst>
                </a:gridCol>
                <a:gridCol w="491100">
                  <a:extLst>
                    <a:ext uri="{9D8B030D-6E8A-4147-A177-3AD203B41FA5}">
                      <a16:colId xmlns:a16="http://schemas.microsoft.com/office/drawing/2014/main" val="3271069289"/>
                    </a:ext>
                  </a:extLst>
                </a:gridCol>
                <a:gridCol w="978824">
                  <a:extLst>
                    <a:ext uri="{9D8B030D-6E8A-4147-A177-3AD203B41FA5}">
                      <a16:colId xmlns:a16="http://schemas.microsoft.com/office/drawing/2014/main" val="212617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Key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Key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HashKey</a:t>
                      </a:r>
                      <a:endParaRPr lang="ko-KR" altLang="en-US" sz="700" b="1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Value</a:t>
                      </a:r>
                      <a:endParaRPr lang="ko-KR" altLang="en-US" sz="700" b="1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room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{roomId}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name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6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createAt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status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58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47778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4ACE3C-A396-04CE-E872-F4FE20F97076}"/>
              </a:ext>
            </a:extLst>
          </p:cNvPr>
          <p:cNvSpPr txBox="1"/>
          <p:nvPr/>
        </p:nvSpPr>
        <p:spPr>
          <a:xfrm>
            <a:off x="306054" y="264767"/>
            <a:ext cx="2634655" cy="44203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Room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메타데이터 관리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Hash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구조 사용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각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Room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하나의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Hash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관리하면 좋습니다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5008288-DF7A-FA7E-695D-F34F6D81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0" y="3644566"/>
            <a:ext cx="146317" cy="11583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72FB345-6CA3-03A7-B470-E6E1AE256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10" y="866367"/>
            <a:ext cx="143120" cy="1484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962C2F9-0BFE-D3FC-7749-B4D98B5C0D7C}"/>
              </a:ext>
            </a:extLst>
          </p:cNvPr>
          <p:cNvSpPr txBox="1"/>
          <p:nvPr/>
        </p:nvSpPr>
        <p:spPr>
          <a:xfrm>
            <a:off x="5596621" y="5125876"/>
            <a:ext cx="2634655" cy="44203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HSET key name value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HDEL key field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DEL key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B697AA-858F-7579-C90D-87302A39C6E9}"/>
              </a:ext>
            </a:extLst>
          </p:cNvPr>
          <p:cNvSpPr txBox="1"/>
          <p:nvPr/>
        </p:nvSpPr>
        <p:spPr>
          <a:xfrm>
            <a:off x="5135879" y="5659441"/>
            <a:ext cx="1632313" cy="565146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SADD myset “value1” “value2”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SREM myset “value1”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SREM key member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DEL myset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147D4766-5CB3-2157-CDF4-46908B1EA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11959"/>
              </p:ext>
            </p:extLst>
          </p:nvPr>
        </p:nvGraphicFramePr>
        <p:xfrm>
          <a:off x="4213860" y="689629"/>
          <a:ext cx="5608870" cy="43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738">
                  <a:extLst>
                    <a:ext uri="{9D8B030D-6E8A-4147-A177-3AD203B41FA5}">
                      <a16:colId xmlns:a16="http://schemas.microsoft.com/office/drawing/2014/main" val="3427861908"/>
                    </a:ext>
                  </a:extLst>
                </a:gridCol>
                <a:gridCol w="675250">
                  <a:extLst>
                    <a:ext uri="{9D8B030D-6E8A-4147-A177-3AD203B41FA5}">
                      <a16:colId xmlns:a16="http://schemas.microsoft.com/office/drawing/2014/main" val="962050941"/>
                    </a:ext>
                  </a:extLst>
                </a:gridCol>
                <a:gridCol w="270438">
                  <a:extLst>
                    <a:ext uri="{9D8B030D-6E8A-4147-A177-3AD203B41FA5}">
                      <a16:colId xmlns:a16="http://schemas.microsoft.com/office/drawing/2014/main" val="84351603"/>
                    </a:ext>
                  </a:extLst>
                </a:gridCol>
                <a:gridCol w="789678">
                  <a:extLst>
                    <a:ext uri="{9D8B030D-6E8A-4147-A177-3AD203B41FA5}">
                      <a16:colId xmlns:a16="http://schemas.microsoft.com/office/drawing/2014/main" val="1744910489"/>
                    </a:ext>
                  </a:extLst>
                </a:gridCol>
                <a:gridCol w="1123777">
                  <a:extLst>
                    <a:ext uri="{9D8B030D-6E8A-4147-A177-3AD203B41FA5}">
                      <a16:colId xmlns:a16="http://schemas.microsoft.com/office/drawing/2014/main" val="3808828349"/>
                    </a:ext>
                  </a:extLst>
                </a:gridCol>
                <a:gridCol w="1602989">
                  <a:extLst>
                    <a:ext uri="{9D8B030D-6E8A-4147-A177-3AD203B41FA5}">
                      <a16:colId xmlns:a16="http://schemas.microsoft.com/office/drawing/2014/main" val="2170684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Key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Type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TTL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정보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정보 상세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chat:agents:{</a:t>
                      </a:r>
                      <a:r>
                        <a:rPr lang="en-US" altLang="ko-KR" sz="700" kern="12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agentId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井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Hash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10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온라인 상담사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lastHeartbeat </a:t>
                      </a:r>
                      <a:r>
                        <a:rPr lang="en-US" altLang="ko-KR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Datetime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loginTime </a:t>
                      </a:r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Datetime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userName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상담사이름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userId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상담사</a:t>
                      </a:r>
                      <a:r>
                        <a:rPr lang="en-US" altLang="ko-KR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ID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상담사 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0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chat:customers:{</a:t>
                      </a:r>
                      <a:r>
                        <a:rPr lang="en-US" altLang="ko-KR" sz="700" kern="12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customerId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井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Hash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30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온라인 고객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companyId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회사</a:t>
                      </a:r>
                      <a:r>
                        <a:rPr lang="en-US" altLang="ko-KR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ID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loginTime </a:t>
                      </a:r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Datetime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userName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고객이름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userId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고객</a:t>
                      </a:r>
                      <a:r>
                        <a:rPr lang="en-US" altLang="ko-KR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ID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email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고객이메일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sessionId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고객 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68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chat:members:{</a:t>
                      </a:r>
                      <a:r>
                        <a:rPr lang="en-US" altLang="ko-KR" sz="7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roomId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}</a:t>
                      </a:r>
                      <a:endParaRPr lang="ko-KR" altLang="en-US" sz="700" strike="sngStrike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l-GR" altLang="ko-KR" sz="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Droid Serif" panose="02020600060500020200" pitchFamily="18" charset="0"/>
                        </a:rPr>
                        <a:t>Ξ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Droid Serif" panose="02020600060500020200" pitchFamily="18" charset="0"/>
                        </a:rPr>
                        <a:t>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방에 참가자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{userId}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{userId}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井 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▤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Droid Serif" panose="02020600060500020200" pitchFamily="18" charset="0"/>
                        </a:rPr>
                        <a:t>ᆢ</a:t>
                      </a:r>
                      <a:r>
                        <a:rPr lang="el-GR" altLang="ko-KR" sz="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Droid Serif" panose="02020600060500020200" pitchFamily="18" charset="0"/>
                        </a:rPr>
                        <a:t>Ξ…�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chat:room:{</a:t>
                      </a:r>
                      <a:r>
                        <a:rPr lang="en-US" altLang="ko-KR" sz="7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roomId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ea typeface="Droid Serif" panose="02020600060500020200" pitchFamily="18" charset="0"/>
                          <a:cs typeface="Droid Serif" panose="02020600060500020200" pitchFamily="18" charset="0"/>
                        </a:rPr>
                        <a:t>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井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Hash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roomId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상세정보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name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이름</a:t>
                      </a:r>
                      <a:endParaRPr lang="en-US" altLang="ko-KR" sz="700" kern="1200">
                        <a:solidFill>
                          <a:srgbClr val="0070C0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mode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상태</a:t>
                      </a:r>
                      <a:endParaRPr lang="en-US" altLang="ko-KR" sz="700" kern="1200">
                        <a:solidFill>
                          <a:srgbClr val="0070C0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createAt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생성일</a:t>
                      </a:r>
                      <a:endParaRPr lang="en-US" altLang="ko-KR" sz="700" kern="1200">
                        <a:solidFill>
                          <a:srgbClr val="0070C0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lastActivity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마지막활동시간</a:t>
                      </a:r>
                      <a:endParaRPr lang="en-US" altLang="ko-KR" sz="700" kern="1200">
                        <a:solidFill>
                          <a:srgbClr val="0070C0"/>
                        </a:solidFill>
                        <a:latin typeface="Droid Serif" panose="02020600060500020200" pitchFamily="18" charset="0"/>
                        <a:ea typeface="+mn-ea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assignedAgent </a:t>
                      </a:r>
                      <a:r>
                        <a:rPr lang="ko-KR" altLang="en-US" sz="700" kern="12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할당상담사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mode&gt;</a:t>
                      </a:r>
                      <a:b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</a:b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  </a:t>
                      </a:r>
                      <a:r>
                        <a:rPr lang="en-US" altLang="ko-KR" sz="700">
                          <a:solidFill>
                            <a:srgbClr val="C0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BOT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: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챗봇상담중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rgbClr val="C0000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WAITING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: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연결대기</a:t>
                      </a:r>
                      <a:endParaRPr lang="en-US" altLang="ko-KR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rgbClr val="C0000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AGENT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: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상담중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(assignedAgent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에 상담원이름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700" kern="1200">
                          <a:solidFill>
                            <a:srgbClr val="C00000"/>
                          </a:solidFill>
                          <a:latin typeface="Droid Serif" panose="02020600060500020200" pitchFamily="18" charset="0"/>
                          <a:ea typeface="+mn-ea"/>
                          <a:cs typeface="Droid Serif" panose="02020600060500020200" pitchFamily="18" charset="0"/>
                        </a:rPr>
                        <a:t>  CLOSED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: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상담종료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17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chat:rooms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l-GR" altLang="ko-KR" sz="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Droid Serif" panose="02020600060500020200" pitchFamily="18" charset="0"/>
                        </a:rPr>
                        <a:t>Ξ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Droid Serif" panose="02020600060500020200" pitchFamily="18" charset="0"/>
                        </a:rPr>
                        <a:t>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전체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Room ID 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{roomId} &gt; room-7e2af38b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{roomId} &gt; room-616684d7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1.</a:t>
                      </a:r>
                      <a:r>
                        <a:rPr lang="ko-KR" altLang="en-US" sz="7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고객이 로그인하면 </a:t>
                      </a:r>
                      <a:r>
                        <a:rPr lang="en-US" altLang="ko-KR" sz="7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UUID</a:t>
                      </a:r>
                      <a:r>
                        <a:rPr lang="ko-KR" altLang="en-US" sz="700">
                          <a:solidFill>
                            <a:srgbClr val="FF000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로 생성</a:t>
                      </a:r>
                      <a:endParaRPr lang="en-US" altLang="ko-KR" sz="700">
                        <a:solidFill>
                          <a:srgbClr val="FF000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58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online:session:{sessionId}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Hash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세션 사용자 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roomId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loginDt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userId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4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online:sesssions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전체 웹소켓  세션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ID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sessionId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448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online:customers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Set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전체 고객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Id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{userId}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861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ROOM_KEY_PREFIX + roomId + ":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"chat:room:"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assignedAgent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createdAt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lastActivity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mode</a:t>
                      </a:r>
                    </a:p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name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69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chat:room:{roomId}:</a:t>
                      </a:r>
                      <a:r>
                        <a:rPr lang="en-US" altLang="ko-KR" sz="700">
                          <a:solidFill>
                            <a:srgbClr val="0070C0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mode</a:t>
                      </a:r>
                      <a:endParaRPr lang="ko-KR" altLang="en-US" sz="700">
                        <a:solidFill>
                          <a:srgbClr val="0070C0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solidFill>
                            <a:schemeClr val="tx1"/>
                          </a:solidFill>
                          <a:latin typeface="Droid Serif" panose="02020600060500020200" pitchFamily="18" charset="0"/>
                          <a:cs typeface="Droid Serif" panose="02020600060500020200" pitchFamily="18" charset="0"/>
                        </a:rPr>
                        <a:t>String</a:t>
                      </a:r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solidFill>
                          <a:schemeClr val="tx1"/>
                        </a:solidFill>
                        <a:latin typeface="Droid Serif" panose="02020600060500020200" pitchFamily="18" charset="0"/>
                        <a:cs typeface="Droid Serif" panose="02020600060500020200" pitchFamily="18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77029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6D07D298-FC52-2A64-2930-9AE87B1F94DB}"/>
              </a:ext>
            </a:extLst>
          </p:cNvPr>
          <p:cNvSpPr txBox="1"/>
          <p:nvPr/>
        </p:nvSpPr>
        <p:spPr>
          <a:xfrm>
            <a:off x="5514480" y="71784"/>
            <a:ext cx="2798939" cy="565146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고객     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&gt; customer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상담사   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&gt; agent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userId    &gt;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로그인계정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2Coding" panose="020B0609020101020101" pitchFamily="49" charset="-127"/>
              <a:ea typeface="D2Coding" panose="020B0609020101020101" pitchFamily="49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sessionId &gt;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웹세션연결시 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AB0AA9-0990-AAA9-D38B-41D6710FF958}"/>
              </a:ext>
            </a:extLst>
          </p:cNvPr>
          <p:cNvSpPr txBox="1"/>
          <p:nvPr/>
        </p:nvSpPr>
        <p:spPr>
          <a:xfrm>
            <a:off x="5135880" y="148990"/>
            <a:ext cx="378600" cy="195814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+mn-cs"/>
              </a:rPr>
              <a:t>user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2Coding" panose="020B0609020101020101" pitchFamily="49" charset="-127"/>
              <a:ea typeface="D2Coding" panose="020B0609020101020101" pitchFamily="49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A3892-7A39-3ADD-9616-B4360ED40E65}"/>
              </a:ext>
            </a:extLst>
          </p:cNvPr>
          <p:cNvSpPr txBox="1"/>
          <p:nvPr/>
        </p:nvSpPr>
        <p:spPr>
          <a:xfrm>
            <a:off x="6874759" y="5659441"/>
            <a:ext cx="2634655" cy="44203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lvl="0">
              <a:defRPr/>
            </a:pPr>
            <a:r>
              <a:rPr lang="en-US" altLang="ko-KR" sz="800">
                <a:solidFill>
                  <a:prstClr val="black"/>
                </a:solidFill>
                <a:latin typeface="맑은 고딕" panose="020B0503020000020004" pitchFamily="50" charset="-127"/>
              </a:rPr>
              <a:t>SADD chat:room:room-7e2af38b "CCC“</a:t>
            </a:r>
          </a:p>
          <a:p>
            <a:pPr lvl="0"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SMEMBERS user_ids</a:t>
            </a:r>
          </a:p>
          <a:p>
            <a:pPr lvl="0">
              <a:defRPr/>
            </a:pPr>
            <a:r>
              <a:rPr lang="en-US" altLang="ko-KR" sz="8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SMEMBERS </a:t>
            </a:r>
            <a:r>
              <a:rPr lang="en-US" altLang="ko-KR" sz="800">
                <a:solidFill>
                  <a:prstClr val="black"/>
                </a:solidFill>
                <a:latin typeface="맑은 고딕" panose="020B0503020000020004" pitchFamily="50" charset="-127"/>
              </a:rPr>
              <a:t>chat:room:room-7e2af38b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9D968DC-D190-CAFA-50F2-70458E4F8845}"/>
              </a:ext>
            </a:extLst>
          </p:cNvPr>
          <p:cNvGrpSpPr/>
          <p:nvPr/>
        </p:nvGrpSpPr>
        <p:grpSpPr>
          <a:xfrm>
            <a:off x="93537" y="6161514"/>
            <a:ext cx="828911" cy="626701"/>
            <a:chOff x="626937" y="5848163"/>
            <a:chExt cx="828911" cy="6267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DB8E505-7C88-C1D8-A49D-90784D17C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227" y="6319255"/>
              <a:ext cx="143119" cy="113508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D116C2E-AB6C-B128-F884-BCE0F8E7D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463" y="6146892"/>
              <a:ext cx="143120" cy="14842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2F14ED-E258-83E7-495A-D5B87A5FA67E}"/>
                </a:ext>
              </a:extLst>
            </p:cNvPr>
            <p:cNvSpPr txBox="1"/>
            <p:nvPr/>
          </p:nvSpPr>
          <p:spPr>
            <a:xfrm>
              <a:off x="801257" y="5848163"/>
              <a:ext cx="654591" cy="626701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Key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String</a:t>
              </a:r>
              <a:endPara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HashKey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Set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DAC89A8-B73A-7117-F131-E90B9A6E8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937" y="6043890"/>
              <a:ext cx="173019" cy="793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38AEDC0-E39F-B20F-4108-D4C34A346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210" y="5911236"/>
              <a:ext cx="127373" cy="103111"/>
            </a:xfrm>
            <a:prstGeom prst="rect">
              <a:avLst/>
            </a:prstGeom>
          </p:spPr>
        </p:pic>
      </p:grpSp>
      <p:pic>
        <p:nvPicPr>
          <p:cNvPr id="10" name="그림 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85A7D9-3A5E-10CF-ADB9-59F8163C75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595" b="13084"/>
          <a:stretch>
            <a:fillRect/>
          </a:stretch>
        </p:blipFill>
        <p:spPr>
          <a:xfrm>
            <a:off x="1222077" y="4647349"/>
            <a:ext cx="2443073" cy="18128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523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5500800-D74F-46EA-3B9A-5D30BF76585C}"/>
              </a:ext>
            </a:extLst>
          </p:cNvPr>
          <p:cNvSpPr/>
          <p:nvPr/>
        </p:nvSpPr>
        <p:spPr>
          <a:xfrm>
            <a:off x="985931" y="696040"/>
            <a:ext cx="4726100" cy="41125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로그인한 상담사 수</a:t>
            </a:r>
            <a:endParaRPr lang="en-US" altLang="ko-KR" sz="110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ko-KR" sz="1100">
                <a:solidFill>
                  <a:schemeClr val="tx1"/>
                </a:solidFill>
                <a:latin typeface="+mj-ea"/>
                <a:ea typeface="+mj-ea"/>
              </a:rPr>
              <a:t>   - </a:t>
            </a:r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웹소켓에 연결한 상담사로 체크할까</a:t>
            </a:r>
            <a:r>
              <a:rPr lang="en-US" altLang="ko-KR" sz="1100">
                <a:solidFill>
                  <a:schemeClr val="tx1"/>
                </a:solidFill>
                <a:latin typeface="+mj-ea"/>
                <a:ea typeface="+mj-ea"/>
              </a:rPr>
              <a:t>?</a:t>
            </a:r>
            <a:endParaRPr lang="ko-KR" altLang="en-US" sz="11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417C3-F47C-9D3B-56EE-3C720DF337EC}"/>
              </a:ext>
            </a:extLst>
          </p:cNvPr>
          <p:cNvSpPr txBox="1"/>
          <p:nvPr/>
        </p:nvSpPr>
        <p:spPr>
          <a:xfrm>
            <a:off x="280554" y="1418064"/>
            <a:ext cx="27505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effectLst/>
                <a:latin typeface="Courier New" panose="02070309020205020404" pitchFamily="49" charset="0"/>
              </a:rPr>
              <a:t>messagingTemplate</a:t>
            </a:r>
          </a:p>
          <a:p>
            <a:r>
              <a:rPr lang="en-US" altLang="ko-KR" sz="1100"/>
              <a:t>SimpMessagingTemplate </a:t>
            </a:r>
          </a:p>
          <a:p>
            <a:pPr>
              <a:buNone/>
            </a:pPr>
            <a:endParaRPr lang="en-US" altLang="ko-KR" sz="1100"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8AE9D-C591-8BF0-07FD-7805C06F6960}"/>
              </a:ext>
            </a:extLst>
          </p:cNvPr>
          <p:cNvSpPr txBox="1"/>
          <p:nvPr/>
        </p:nvSpPr>
        <p:spPr>
          <a:xfrm>
            <a:off x="2519901" y="1418064"/>
            <a:ext cx="23023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effectLst/>
                <a:latin typeface="Courier New" panose="02070309020205020404" pitchFamily="49" charset="0"/>
              </a:rPr>
              <a:t>redisTemplate</a:t>
            </a:r>
          </a:p>
          <a:p>
            <a:r>
              <a:rPr lang="en-US" altLang="ko-KR" sz="1100"/>
              <a:t>StringRedisTemplate </a:t>
            </a:r>
          </a:p>
          <a:p>
            <a:pPr>
              <a:buNone/>
            </a:pPr>
            <a:endParaRPr lang="en-US" altLang="ko-KR" sz="1100">
              <a:effectLst/>
              <a:latin typeface="Courier New" panose="02070309020205020404" pitchFamily="49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250D2FC-5DC0-8684-ECB9-658343EEF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47163"/>
              </p:ext>
            </p:extLst>
          </p:nvPr>
        </p:nvGraphicFramePr>
        <p:xfrm>
          <a:off x="899335" y="3082107"/>
          <a:ext cx="9448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Customer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name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F36CCF9-A0B8-E19F-AEE4-16A64991F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87442"/>
              </p:ext>
            </p:extLst>
          </p:nvPr>
        </p:nvGraphicFramePr>
        <p:xfrm>
          <a:off x="2456750" y="5549572"/>
          <a:ext cx="944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Session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chatRoomId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userId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connectedAt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271199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disconnectedAt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961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0A11C31-0851-3699-E133-90D36CDD9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457940"/>
              </p:ext>
            </p:extLst>
          </p:nvPr>
        </p:nvGraphicFramePr>
        <p:xfrm>
          <a:off x="2456761" y="3476079"/>
          <a:ext cx="94866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663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ChatRoom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createdAt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status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79895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FD8639E-496F-2E75-77A3-2E50ED255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34536"/>
              </p:ext>
            </p:extLst>
          </p:nvPr>
        </p:nvGraphicFramePr>
        <p:xfrm>
          <a:off x="4017013" y="4092402"/>
          <a:ext cx="9448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AgentAssignment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chatRoomId </a:t>
                      </a:r>
                      <a:r>
                        <a:rPr lang="ko-KR" altLang="en-US" sz="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채팅방</a:t>
                      </a:r>
                      <a:r>
                        <a:rPr lang="en-US" altLang="ko-KR" sz="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bg1">
                            <a:lumMod val="65000"/>
                          </a:schemeClr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agentId </a:t>
                      </a:r>
                      <a:r>
                        <a:rPr lang="ko-KR" altLang="en-US" sz="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상담사</a:t>
                      </a:r>
                      <a:r>
                        <a:rPr lang="en-US" altLang="ko-KR" sz="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bg1">
                            <a:lumMod val="65000"/>
                          </a:schemeClr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joinedAt </a:t>
                      </a:r>
                      <a:r>
                        <a:rPr lang="ko-KR" altLang="en-US" sz="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입장시간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leftAt </a:t>
                      </a:r>
                      <a:r>
                        <a:rPr lang="ko-KR" altLang="en-US" sz="6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퇴장시간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27119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547903C-FABD-07A3-0168-4969611E3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168045"/>
              </p:ext>
            </p:extLst>
          </p:nvPr>
        </p:nvGraphicFramePr>
        <p:xfrm>
          <a:off x="899335" y="4000962"/>
          <a:ext cx="944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Message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메시지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chatRoomId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채팅방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senderType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content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271199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timestamp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96187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EB03029-F272-B8CE-4412-72CB93685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83633"/>
              </p:ext>
            </p:extLst>
          </p:nvPr>
        </p:nvGraphicFramePr>
        <p:xfrm>
          <a:off x="2458652" y="4570717"/>
          <a:ext cx="9448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name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AB9DDD6-70BB-A17A-B2D1-0F7804F17FE8}"/>
              </a:ext>
            </a:extLst>
          </p:cNvPr>
          <p:cNvSpPr txBox="1"/>
          <p:nvPr/>
        </p:nvSpPr>
        <p:spPr>
          <a:xfrm>
            <a:off x="-101381" y="3476079"/>
            <a:ext cx="100071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600"/>
            </a:lvl1pPr>
          </a:lstStyle>
          <a:p>
            <a:r>
              <a:rPr lang="ko-KR" altLang="en-US" sz="500"/>
              <a:t>여러 </a:t>
            </a:r>
            <a:r>
              <a:rPr lang="en-US" altLang="ko-KR" sz="500"/>
              <a:t>ChatRoom</a:t>
            </a:r>
            <a:r>
              <a:rPr lang="ko-KR" altLang="en-US" sz="500"/>
              <a:t>을 생성 가능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C4D6BA5-D243-42C2-CE67-DB6CD4FFB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67212"/>
              </p:ext>
            </p:extLst>
          </p:nvPr>
        </p:nvGraphicFramePr>
        <p:xfrm>
          <a:off x="4126550" y="2765598"/>
          <a:ext cx="83534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343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ChatBot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</a:tbl>
          </a:graphicData>
        </a:graphic>
      </p:graphicFrame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D08EC7E-C1E9-A1B5-5C90-DE10F856B2C8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1371775" y="3630747"/>
            <a:ext cx="0" cy="3702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9A893B0-6A39-56A0-5E8E-C874EA867C7C}"/>
              </a:ext>
            </a:extLst>
          </p:cNvPr>
          <p:cNvSpPr txBox="1"/>
          <p:nvPr/>
        </p:nvSpPr>
        <p:spPr>
          <a:xfrm>
            <a:off x="1313224" y="3741891"/>
            <a:ext cx="23698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600"/>
            </a:lvl1pPr>
          </a:lstStyle>
          <a:p>
            <a:r>
              <a:rPr lang="en-US" altLang="ko-KR" sz="500"/>
              <a:t>N</a:t>
            </a:r>
            <a:endParaRPr lang="ko-KR" altLang="en-US" sz="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AE7958-F635-7666-14F2-B5FDB9DE1E4F}"/>
              </a:ext>
            </a:extLst>
          </p:cNvPr>
          <p:cNvSpPr txBox="1"/>
          <p:nvPr/>
        </p:nvSpPr>
        <p:spPr>
          <a:xfrm>
            <a:off x="2039878" y="3916323"/>
            <a:ext cx="23698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600"/>
            </a:lvl1pPr>
          </a:lstStyle>
          <a:p>
            <a:r>
              <a:rPr lang="en-US" altLang="ko-KR" sz="500"/>
              <a:t>N</a:t>
            </a:r>
            <a:endParaRPr lang="ko-KR" altLang="en-US" sz="50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C05DFC2-46C1-72D5-D651-EAE0CC3A2577}"/>
              </a:ext>
            </a:extLst>
          </p:cNvPr>
          <p:cNvCxnSpPr>
            <a:cxnSpLocks/>
          </p:cNvCxnSpPr>
          <p:nvPr/>
        </p:nvCxnSpPr>
        <p:spPr>
          <a:xfrm flipH="1">
            <a:off x="1844215" y="4092709"/>
            <a:ext cx="6125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F5F768CB-2170-FB7B-6F72-2D924A5CB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482831"/>
              </p:ext>
            </p:extLst>
          </p:nvPr>
        </p:nvGraphicFramePr>
        <p:xfrm>
          <a:off x="4852817" y="387024"/>
          <a:ext cx="6779346" cy="130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00">
                  <a:extLst>
                    <a:ext uri="{9D8B030D-6E8A-4147-A177-3AD203B41FA5}">
                      <a16:colId xmlns:a16="http://schemas.microsoft.com/office/drawing/2014/main" val="73597837"/>
                    </a:ext>
                  </a:extLst>
                </a:gridCol>
                <a:gridCol w="121290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  <a:gridCol w="1632000">
                  <a:extLst>
                    <a:ext uri="{9D8B030D-6E8A-4147-A177-3AD203B41FA5}">
                      <a16:colId xmlns:a16="http://schemas.microsoft.com/office/drawing/2014/main" val="3191257845"/>
                    </a:ext>
                  </a:extLst>
                </a:gridCol>
                <a:gridCol w="3801046">
                  <a:extLst>
                    <a:ext uri="{9D8B030D-6E8A-4147-A177-3AD203B41FA5}">
                      <a16:colId xmlns:a16="http://schemas.microsoft.com/office/drawing/2014/main" val="3397160578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Customer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생성 가능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엔티티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생성할 수 있음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채팅방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챗봇으로 시작 → 상담사 참여 가능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대화의 컨테이너 역할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처음에는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ChatBot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 연결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필요 시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AgentAssignment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상담사 추가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ChatBot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챗봇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1:1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연결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1:1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연결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 자동응답 담당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Agent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상담사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참여 가능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상담사 엔티티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참여 가능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271199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AgentAssignment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상담사참여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상담사의 입장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퇴장 시간 기록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상담사가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참여한 기록 관리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상담사가 동시에 참여 가능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96187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Message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메시지는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속함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ChatRoom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속한 대화 메시지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senderType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Customer/Agent/ChatBot 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80103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Session (</a:t>
                      </a:r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세션</a:t>
                      </a:r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 또는 상담사의 연결 상태 추적</a:t>
                      </a: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36000" marB="36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777507"/>
                  </a:ext>
                </a:extLst>
              </a:tr>
            </a:tbl>
          </a:graphicData>
        </a:graphic>
      </p:graphicFrame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37F59A7-D574-9A96-C6C8-D83A3C7E7524}"/>
              </a:ext>
            </a:extLst>
          </p:cNvPr>
          <p:cNvCxnSpPr>
            <a:cxnSpLocks/>
          </p:cNvCxnSpPr>
          <p:nvPr/>
        </p:nvCxnSpPr>
        <p:spPr>
          <a:xfrm>
            <a:off x="2930136" y="4207599"/>
            <a:ext cx="0" cy="3631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80E084C-2032-449B-31CA-C6E2C603C8FC}"/>
              </a:ext>
            </a:extLst>
          </p:cNvPr>
          <p:cNvSpPr txBox="1"/>
          <p:nvPr/>
        </p:nvSpPr>
        <p:spPr>
          <a:xfrm>
            <a:off x="2930136" y="4336456"/>
            <a:ext cx="101003" cy="76944"/>
          </a:xfrm>
          <a:prstGeom prst="rect">
            <a:avLst/>
          </a:prstGeom>
          <a:noFill/>
        </p:spPr>
        <p:txBody>
          <a:bodyPr wrap="square" lIns="36000" tIns="0" rIns="36000" bIns="0">
            <a:spAutoFit/>
          </a:bodyPr>
          <a:lstStyle>
            <a:defPPr>
              <a:defRPr lang="ko-KR"/>
            </a:defPPr>
            <a:lvl1pPr>
              <a:defRPr sz="600"/>
            </a:lvl1pPr>
          </a:lstStyle>
          <a:p>
            <a:pPr algn="ctr"/>
            <a:r>
              <a:rPr lang="en-US" altLang="ko-KR" sz="500"/>
              <a:t>1</a:t>
            </a:r>
            <a:endParaRPr lang="ko-KR" altLang="en-US" sz="50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41C82D0-ED6D-09FF-6A64-0CDE116863E5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flipH="1">
            <a:off x="2929190" y="5119357"/>
            <a:ext cx="1902" cy="4302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6AEF3A8-DD32-8BAF-01F2-BB9978C09ECE}"/>
              </a:ext>
            </a:extLst>
          </p:cNvPr>
          <p:cNvSpPr txBox="1"/>
          <p:nvPr/>
        </p:nvSpPr>
        <p:spPr>
          <a:xfrm>
            <a:off x="2930136" y="5276674"/>
            <a:ext cx="101003" cy="76944"/>
          </a:xfrm>
          <a:prstGeom prst="rect">
            <a:avLst/>
          </a:prstGeom>
          <a:noFill/>
        </p:spPr>
        <p:txBody>
          <a:bodyPr wrap="square" lIns="36000" tIns="0" rIns="36000" bIns="0">
            <a:spAutoFit/>
          </a:bodyPr>
          <a:lstStyle>
            <a:defPPr>
              <a:defRPr lang="ko-KR"/>
            </a:defPPr>
            <a:lvl1pPr>
              <a:defRPr sz="600"/>
            </a:lvl1pPr>
          </a:lstStyle>
          <a:p>
            <a:pPr algn="ctr"/>
            <a:r>
              <a:rPr lang="en-US" altLang="ko-KR" sz="500"/>
              <a:t>1</a:t>
            </a:r>
            <a:endParaRPr lang="ko-KR" altLang="en-US" sz="50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A374EBC-4AE2-9761-C02D-9F9492D2A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235" y="4757548"/>
            <a:ext cx="1947869" cy="1947869"/>
          </a:xfrm>
          <a:prstGeom prst="rect">
            <a:avLst/>
          </a:prstGeom>
        </p:spPr>
      </p:pic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9E908A7C-B109-E63C-29E1-64CCB3015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196176"/>
              </p:ext>
            </p:extLst>
          </p:nvPr>
        </p:nvGraphicFramePr>
        <p:xfrm>
          <a:off x="7495592" y="5276674"/>
          <a:ext cx="9448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USER_SESSION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session_id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user_id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last_connected_at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C0B2B74E-DA34-43DE-E31A-E9678475C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320173"/>
              </p:ext>
            </p:extLst>
          </p:nvPr>
        </p:nvGraphicFramePr>
        <p:xfrm>
          <a:off x="7495592" y="4300348"/>
          <a:ext cx="14251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0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  <a:gridCol w="1088572">
                  <a:extLst>
                    <a:ext uri="{9D8B030D-6E8A-4147-A177-3AD203B41FA5}">
                      <a16:colId xmlns:a16="http://schemas.microsoft.com/office/drawing/2014/main" val="1198166200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USER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시스템 이용자 </a:t>
                      </a:r>
                      <a:r>
                        <a:rPr lang="en-US" altLang="ko-KR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</a:t>
                      </a:r>
                      <a:r>
                        <a:rPr lang="en-US" altLang="ko-KR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상담사 공통 정보</a:t>
                      </a:r>
                      <a:r>
                        <a:rPr lang="en-US" altLang="ko-KR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4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name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77743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role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CUSTOMER/COUNSELOR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7175403D-39D3-7C6E-EE95-3E7507B98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320173"/>
              </p:ext>
            </p:extLst>
          </p:nvPr>
        </p:nvGraphicFramePr>
        <p:xfrm>
          <a:off x="7495592" y="2442027"/>
          <a:ext cx="14251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00">
                  <a:extLst>
                    <a:ext uri="{9D8B030D-6E8A-4147-A177-3AD203B41FA5}">
                      <a16:colId xmlns:a16="http://schemas.microsoft.com/office/drawing/2014/main" val="2883136279"/>
                    </a:ext>
                  </a:extLst>
                </a:gridCol>
                <a:gridCol w="1088572">
                  <a:extLst>
                    <a:ext uri="{9D8B030D-6E8A-4147-A177-3AD203B41FA5}">
                      <a16:colId xmlns:a16="http://schemas.microsoft.com/office/drawing/2014/main" val="1198166200"/>
                    </a:ext>
                  </a:extLst>
                </a:gridCol>
              </a:tblGrid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USER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시스템 이용자 </a:t>
                      </a:r>
                      <a:r>
                        <a:rPr lang="en-US" altLang="ko-KR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</a:t>
                      </a:r>
                      <a:r>
                        <a:rPr lang="en-US" altLang="ko-KR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상담사 공통 정보</a:t>
                      </a:r>
                      <a:r>
                        <a:rPr lang="en-US" altLang="ko-KR" sz="4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4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73212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id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8152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00248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name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77743"/>
                  </a:ext>
                </a:extLst>
              </a:tr>
              <a:tr h="1176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role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>
                          <a:solidFill>
                            <a:schemeClr val="tx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CUSTOMER/COUNSELOR</a:t>
                      </a:r>
                      <a:endParaRPr lang="ko-KR" altLang="en-US" sz="60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2000" marR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39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572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80B182-4E89-F09A-FC6B-E5FC0293D3D9}"/>
              </a:ext>
            </a:extLst>
          </p:cNvPr>
          <p:cNvSpPr/>
          <p:nvPr/>
        </p:nvSpPr>
        <p:spPr>
          <a:xfrm>
            <a:off x="278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고객 화면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D8FC42-FFFC-7411-8303-18DC95CA3976}"/>
              </a:ext>
            </a:extLst>
          </p:cNvPr>
          <p:cNvSpPr/>
          <p:nvPr/>
        </p:nvSpPr>
        <p:spPr>
          <a:xfrm>
            <a:off x="985931" y="780678"/>
            <a:ext cx="1585078" cy="2419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고객 상담 채팅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EB226FB-E499-6CC3-B74C-6DC99925AB5F}"/>
              </a:ext>
            </a:extLst>
          </p:cNvPr>
          <p:cNvGrpSpPr/>
          <p:nvPr/>
        </p:nvGrpSpPr>
        <p:grpSpPr>
          <a:xfrm>
            <a:off x="890363" y="1266466"/>
            <a:ext cx="1537577" cy="551122"/>
            <a:chOff x="1033432" y="1894727"/>
            <a:chExt cx="1537577" cy="55112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59C130-7772-D976-3F6D-390A0B875363}"/>
                </a:ext>
              </a:extLst>
            </p:cNvPr>
            <p:cNvSpPr/>
            <p:nvPr/>
          </p:nvSpPr>
          <p:spPr>
            <a:xfrm>
              <a:off x="1033432" y="1894727"/>
              <a:ext cx="599425" cy="22659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아이디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F764B5C-1944-6E49-873E-C39A6B5AA61A}"/>
                </a:ext>
              </a:extLst>
            </p:cNvPr>
            <p:cNvSpPr/>
            <p:nvPr/>
          </p:nvSpPr>
          <p:spPr>
            <a:xfrm>
              <a:off x="1033432" y="2219258"/>
              <a:ext cx="599425" cy="22659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비밀번호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B94DE02-4D89-454D-FE76-AC285B002917}"/>
                </a:ext>
              </a:extLst>
            </p:cNvPr>
            <p:cNvSpPr/>
            <p:nvPr/>
          </p:nvSpPr>
          <p:spPr>
            <a:xfrm>
              <a:off x="1680359" y="1894727"/>
              <a:ext cx="890650" cy="2265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03B682-634F-5F50-D89B-93C00E8C6876}"/>
                </a:ext>
              </a:extLst>
            </p:cNvPr>
            <p:cNvSpPr/>
            <p:nvPr/>
          </p:nvSpPr>
          <p:spPr>
            <a:xfrm>
              <a:off x="1680359" y="2219258"/>
              <a:ext cx="890650" cy="2265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71ECD52-BE20-A821-3700-4B797C321EA5}"/>
              </a:ext>
            </a:extLst>
          </p:cNvPr>
          <p:cNvSpPr/>
          <p:nvPr/>
        </p:nvSpPr>
        <p:spPr>
          <a:xfrm>
            <a:off x="1166325" y="1976702"/>
            <a:ext cx="985652" cy="226592"/>
          </a:xfrm>
          <a:prstGeom prst="round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로그인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99A6699-4C6C-48C0-856D-8087068DE333}"/>
              </a:ext>
            </a:extLst>
          </p:cNvPr>
          <p:cNvGrpSpPr/>
          <p:nvPr/>
        </p:nvGrpSpPr>
        <p:grpSpPr>
          <a:xfrm>
            <a:off x="3152612" y="1266466"/>
            <a:ext cx="2091737" cy="551122"/>
            <a:chOff x="3295681" y="1894727"/>
            <a:chExt cx="2091737" cy="55112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A5EB38A-AD37-1AF9-7554-A6C1CB75CE49}"/>
                </a:ext>
              </a:extLst>
            </p:cNvPr>
            <p:cNvSpPr/>
            <p:nvPr/>
          </p:nvSpPr>
          <p:spPr>
            <a:xfrm>
              <a:off x="3295681" y="1894727"/>
              <a:ext cx="1086314" cy="22659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사용자 정보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F588420-9326-9A87-D782-558A8C116BDE}"/>
                </a:ext>
              </a:extLst>
            </p:cNvPr>
            <p:cNvSpPr/>
            <p:nvPr/>
          </p:nvSpPr>
          <p:spPr>
            <a:xfrm>
              <a:off x="3295681" y="2219258"/>
              <a:ext cx="1086314" cy="22659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상담 문의</a:t>
              </a:r>
              <a:r>
                <a:rPr lang="en-US" altLang="ko-KR" sz="1000">
                  <a:solidFill>
                    <a:schemeClr val="tx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방이름</a:t>
              </a:r>
              <a:r>
                <a:rPr lang="en-US" altLang="ko-KR" sz="1000">
                  <a:solidFill>
                    <a:schemeClr val="tx1"/>
                  </a:solidFill>
                  <a:latin typeface="+mj-ea"/>
                  <a:ea typeface="+mj-ea"/>
                </a:rPr>
                <a:t>)</a:t>
              </a:r>
              <a:endParaRPr lang="ko-KR" altLang="en-US" sz="100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D0E051E-846E-40E4-6064-7BAA15242E2D}"/>
                </a:ext>
              </a:extLst>
            </p:cNvPr>
            <p:cNvSpPr/>
            <p:nvPr/>
          </p:nvSpPr>
          <p:spPr>
            <a:xfrm>
              <a:off x="4381995" y="1894727"/>
              <a:ext cx="1005423" cy="2265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900">
                  <a:solidFill>
                    <a:schemeClr val="tx1"/>
                  </a:solidFill>
                </a:rPr>
                <a:t>홍길동 </a:t>
              </a:r>
              <a:r>
                <a:rPr lang="en-US" altLang="ko-KR" sz="900">
                  <a:solidFill>
                    <a:schemeClr val="tx1"/>
                  </a:solidFill>
                </a:rPr>
                <a:t>/ cust01</a:t>
              </a:r>
              <a:endParaRPr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CECDAE9-67BE-8240-19EA-B1672462D3B1}"/>
                </a:ext>
              </a:extLst>
            </p:cNvPr>
            <p:cNvSpPr/>
            <p:nvPr/>
          </p:nvSpPr>
          <p:spPr>
            <a:xfrm>
              <a:off x="4381995" y="2219258"/>
              <a:ext cx="1005423" cy="2265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426EBEF-2DDF-13EC-4E4E-CBF0D6A75100}"/>
              </a:ext>
            </a:extLst>
          </p:cNvPr>
          <p:cNvSpPr/>
          <p:nvPr/>
        </p:nvSpPr>
        <p:spPr>
          <a:xfrm>
            <a:off x="3310032" y="1976702"/>
            <a:ext cx="838448" cy="226592"/>
          </a:xfrm>
          <a:prstGeom prst="round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상담 시작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1A04CD-DE3C-F3D9-4185-570C5751171E}"/>
              </a:ext>
            </a:extLst>
          </p:cNvPr>
          <p:cNvSpPr/>
          <p:nvPr/>
        </p:nvSpPr>
        <p:spPr>
          <a:xfrm>
            <a:off x="3101437" y="1150776"/>
            <a:ext cx="2257963" cy="116094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A9D3DC-2858-BF81-588E-AA963174F03E}"/>
              </a:ext>
            </a:extLst>
          </p:cNvPr>
          <p:cNvSpPr/>
          <p:nvPr/>
        </p:nvSpPr>
        <p:spPr>
          <a:xfrm>
            <a:off x="567102" y="1150776"/>
            <a:ext cx="2257962" cy="116094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FF1157-A112-618D-0575-7DCAFAC64476}"/>
              </a:ext>
            </a:extLst>
          </p:cNvPr>
          <p:cNvSpPr/>
          <p:nvPr/>
        </p:nvSpPr>
        <p:spPr>
          <a:xfrm>
            <a:off x="544849" y="3258848"/>
            <a:ext cx="1148802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r"/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상담 문의 방 이름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14C7D7-34CD-67DB-A071-67E32A5F9D00}"/>
              </a:ext>
            </a:extLst>
          </p:cNvPr>
          <p:cNvSpPr/>
          <p:nvPr/>
        </p:nvSpPr>
        <p:spPr>
          <a:xfrm>
            <a:off x="591924" y="5478238"/>
            <a:ext cx="4347080" cy="22659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메시지를 입력하세요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C6108B-381E-72E9-416F-610FAB4CEF73}"/>
              </a:ext>
            </a:extLst>
          </p:cNvPr>
          <p:cNvSpPr/>
          <p:nvPr/>
        </p:nvSpPr>
        <p:spPr>
          <a:xfrm>
            <a:off x="4986079" y="5478238"/>
            <a:ext cx="400800" cy="226591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전송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96FF97-2E2F-1FFC-FFDD-248A3888AE87}"/>
              </a:ext>
            </a:extLst>
          </p:cNvPr>
          <p:cNvSpPr/>
          <p:nvPr/>
        </p:nvSpPr>
        <p:spPr>
          <a:xfrm>
            <a:off x="593055" y="3522440"/>
            <a:ext cx="4793824" cy="182711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 anchorCtr="0">
            <a:noAutofit/>
          </a:bodyPr>
          <a:lstStyle/>
          <a:p>
            <a:endParaRPr lang="ko-KR" altLang="en-US" sz="1000">
              <a:solidFill>
                <a:schemeClr val="bg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47C5FC-58F4-14F6-EA89-687109729090}"/>
              </a:ext>
            </a:extLst>
          </p:cNvPr>
          <p:cNvSpPr/>
          <p:nvPr/>
        </p:nvSpPr>
        <p:spPr>
          <a:xfrm>
            <a:off x="4596275" y="3258848"/>
            <a:ext cx="790604" cy="226591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상담종료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3BC373-711D-A295-910F-4039666A5C0C}"/>
              </a:ext>
            </a:extLst>
          </p:cNvPr>
          <p:cNvSpPr/>
          <p:nvPr/>
        </p:nvSpPr>
        <p:spPr>
          <a:xfrm>
            <a:off x="2955951" y="3258848"/>
            <a:ext cx="1235601" cy="226591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상담원 연결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6FAA07-146D-65B2-AF78-39332A5E9C25}"/>
              </a:ext>
            </a:extLst>
          </p:cNvPr>
          <p:cNvSpPr/>
          <p:nvPr/>
        </p:nvSpPr>
        <p:spPr>
          <a:xfrm>
            <a:off x="2948317" y="2895929"/>
            <a:ext cx="1235601" cy="226591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상담원 연결 취소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C4C181B-CE2C-91F3-206E-2B1D33362960}"/>
              </a:ext>
            </a:extLst>
          </p:cNvPr>
          <p:cNvGrpSpPr/>
          <p:nvPr/>
        </p:nvGrpSpPr>
        <p:grpSpPr>
          <a:xfrm>
            <a:off x="597578" y="4451119"/>
            <a:ext cx="1502476" cy="451439"/>
            <a:chOff x="9090383" y="2205526"/>
            <a:chExt cx="1502476" cy="451439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3ED0123D-BD7B-441C-F6DA-20543433C7E0}"/>
                </a:ext>
              </a:extLst>
            </p:cNvPr>
            <p:cNvSpPr/>
            <p:nvPr/>
          </p:nvSpPr>
          <p:spPr>
            <a:xfrm>
              <a:off x="9090383" y="2205526"/>
              <a:ext cx="712484" cy="226591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r>
                <a: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홍길동</a:t>
              </a: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57AF1C0C-3D9B-6F51-5E34-9CCE618AA5B4}"/>
                </a:ext>
              </a:extLst>
            </p:cNvPr>
            <p:cNvSpPr/>
            <p:nvPr/>
          </p:nvSpPr>
          <p:spPr>
            <a:xfrm>
              <a:off x="9131559" y="2430374"/>
              <a:ext cx="1461300" cy="226591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r>
                <a:rPr lang="ko-KR" altLang="en-US" sz="1000">
                  <a:solidFill>
                    <a:schemeClr val="bg1"/>
                  </a:solidFill>
                  <a:latin typeface="+mj-ea"/>
                  <a:ea typeface="+mj-ea"/>
                </a:rPr>
                <a:t>안녕하세요</a:t>
              </a:r>
              <a:r>
                <a:rPr lang="en-US" altLang="ko-KR" sz="1000">
                  <a:solidFill>
                    <a:schemeClr val="bg1"/>
                  </a:solidFill>
                  <a:latin typeface="+mj-ea"/>
                  <a:ea typeface="+mj-ea"/>
                </a:rPr>
                <a:t>? </a:t>
              </a:r>
              <a:r>
                <a:rPr lang="ko-KR" altLang="en-US" sz="1000">
                  <a:solidFill>
                    <a:schemeClr val="bg1"/>
                  </a:solidFill>
                  <a:latin typeface="+mj-ea"/>
                  <a:ea typeface="+mj-ea"/>
                </a:rPr>
                <a:t>챗 봇님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BA1E7F4-E183-BB1B-6FF6-581F2A168005}"/>
              </a:ext>
            </a:extLst>
          </p:cNvPr>
          <p:cNvGrpSpPr/>
          <p:nvPr/>
        </p:nvGrpSpPr>
        <p:grpSpPr>
          <a:xfrm>
            <a:off x="3229314" y="3986372"/>
            <a:ext cx="2079445" cy="446085"/>
            <a:chOff x="6399123" y="2317078"/>
            <a:chExt cx="2079445" cy="446085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1B79B56-52BC-32F8-504D-D3C337BC5003}"/>
                </a:ext>
              </a:extLst>
            </p:cNvPr>
            <p:cNvSpPr/>
            <p:nvPr/>
          </p:nvSpPr>
          <p:spPr>
            <a:xfrm>
              <a:off x="7766084" y="2317078"/>
              <a:ext cx="712484" cy="226591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r"/>
              <a:r>
                <a: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챗봇</a:t>
              </a: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06C3CA44-5648-60F4-B904-23B98E3CD05A}"/>
                </a:ext>
              </a:extLst>
            </p:cNvPr>
            <p:cNvSpPr/>
            <p:nvPr/>
          </p:nvSpPr>
          <p:spPr>
            <a:xfrm>
              <a:off x="6399123" y="2536572"/>
              <a:ext cx="2061328" cy="226591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r"/>
              <a:r>
                <a:rPr lang="ko-KR" altLang="en-US" sz="1000">
                  <a:solidFill>
                    <a:schemeClr val="bg1"/>
                  </a:solidFill>
                  <a:latin typeface="+mj-ea"/>
                  <a:ea typeface="+mj-ea"/>
                </a:rPr>
                <a:t>어서오세요</a:t>
              </a:r>
              <a:r>
                <a:rPr lang="en-US" altLang="ko-KR" sz="1000">
                  <a:solidFill>
                    <a:schemeClr val="bg1"/>
                  </a:solidFill>
                  <a:latin typeface="+mj-ea"/>
                  <a:ea typeface="+mj-ea"/>
                </a:rPr>
                <a:t>! </a:t>
              </a:r>
              <a:r>
                <a:rPr lang="ko-KR" altLang="en-US" sz="1000">
                  <a:solidFill>
                    <a:schemeClr val="bg1"/>
                  </a:solidFill>
                  <a:latin typeface="+mj-ea"/>
                  <a:ea typeface="+mj-ea"/>
                </a:rPr>
                <a:t>무엇을 도와드릴까요</a:t>
              </a:r>
              <a:r>
                <a:rPr lang="en-US" altLang="ko-KR" sz="1000">
                  <a:solidFill>
                    <a:schemeClr val="bg1"/>
                  </a:solidFill>
                  <a:latin typeface="+mj-ea"/>
                  <a:ea typeface="+mj-ea"/>
                </a:rPr>
                <a:t>?</a:t>
              </a:r>
              <a:endParaRPr lang="ko-KR" altLang="en-US" sz="10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1FBCFFC-40AC-3E2F-877D-F1A1533CD2D6}"/>
              </a:ext>
            </a:extLst>
          </p:cNvPr>
          <p:cNvSpPr/>
          <p:nvPr/>
        </p:nvSpPr>
        <p:spPr>
          <a:xfrm>
            <a:off x="1489788" y="3566272"/>
            <a:ext cx="2861420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홍길동 고객님이 입장하셨습니다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8822F10-D0DF-FECB-C930-5B4B56B652D4}"/>
              </a:ext>
            </a:extLst>
          </p:cNvPr>
          <p:cNvSpPr/>
          <p:nvPr/>
        </p:nvSpPr>
        <p:spPr>
          <a:xfrm>
            <a:off x="6425960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상담사 화면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DA7F3C8-E4AE-090E-D4B6-4DE6444E2BEE}"/>
              </a:ext>
            </a:extLst>
          </p:cNvPr>
          <p:cNvSpPr/>
          <p:nvPr/>
        </p:nvSpPr>
        <p:spPr>
          <a:xfrm>
            <a:off x="5034289" y="3060022"/>
            <a:ext cx="1447257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ko-KR" altLang="en-US" sz="800">
                <a:solidFill>
                  <a:srgbClr val="00B050"/>
                </a:solidFill>
                <a:latin typeface="+mj-ea"/>
                <a:ea typeface="+mj-ea"/>
              </a:rPr>
              <a:t>채팅 시스템에서 상담종료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E2DF74B-64B8-05F4-D03E-AAAE49C19669}"/>
              </a:ext>
            </a:extLst>
          </p:cNvPr>
          <p:cNvSpPr/>
          <p:nvPr/>
        </p:nvSpPr>
        <p:spPr>
          <a:xfrm>
            <a:off x="4334716" y="1976702"/>
            <a:ext cx="838448" cy="226592"/>
          </a:xfrm>
          <a:prstGeom prst="round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로그 아웃</a:t>
            </a:r>
          </a:p>
        </p:txBody>
      </p:sp>
    </p:spTree>
    <p:extLst>
      <p:ext uri="{BB962C8B-B14F-4D97-AF65-F5344CB8AC3E}">
        <p14:creationId xmlns:p14="http://schemas.microsoft.com/office/powerpoint/2010/main" val="3314407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80B182-4E89-F09A-FC6B-E5FC0293D3D9}"/>
              </a:ext>
            </a:extLst>
          </p:cNvPr>
          <p:cNvSpPr/>
          <p:nvPr/>
        </p:nvSpPr>
        <p:spPr>
          <a:xfrm>
            <a:off x="278" y="0"/>
            <a:ext cx="6199557" cy="3189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r>
              <a:rPr lang="ko-KR" altLang="en-US" sz="1600">
                <a:solidFill>
                  <a:schemeClr val="tx1"/>
                </a:solidFill>
                <a:latin typeface="+mj-ea"/>
                <a:ea typeface="+mj-ea"/>
              </a:rPr>
              <a:t>상담사 화면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4A3782-8EE0-4ED8-53BD-E21E89AE1F95}"/>
              </a:ext>
            </a:extLst>
          </p:cNvPr>
          <p:cNvGrpSpPr/>
          <p:nvPr/>
        </p:nvGrpSpPr>
        <p:grpSpPr>
          <a:xfrm>
            <a:off x="3771557" y="3206098"/>
            <a:ext cx="4794955" cy="2429948"/>
            <a:chOff x="6198704" y="3274881"/>
            <a:chExt cx="4794955" cy="242994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5248C34-3BBE-96D2-8D62-E9368CEF2C43}"/>
                </a:ext>
              </a:extLst>
            </p:cNvPr>
            <p:cNvSpPr/>
            <p:nvPr/>
          </p:nvSpPr>
          <p:spPr>
            <a:xfrm>
              <a:off x="6198704" y="5478238"/>
              <a:ext cx="4347080" cy="2265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r>
                <a:rPr lang="ko-KR" altLang="en-US" sz="1000">
                  <a:solidFill>
                    <a:schemeClr val="bg1">
                      <a:lumMod val="75000"/>
                    </a:schemeClr>
                  </a:solidFill>
                  <a:latin typeface="+mj-ea"/>
                  <a:ea typeface="+mj-ea"/>
                </a:rPr>
                <a:t>메시지를 입력하세요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B8FFB5-8B35-5C1C-0269-6A63F74A37F3}"/>
                </a:ext>
              </a:extLst>
            </p:cNvPr>
            <p:cNvSpPr/>
            <p:nvPr/>
          </p:nvSpPr>
          <p:spPr>
            <a:xfrm>
              <a:off x="10592859" y="5478238"/>
              <a:ext cx="400800" cy="226591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전송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74849C-2F1D-D06E-BCD3-1C8F434014CD}"/>
                </a:ext>
              </a:extLst>
            </p:cNvPr>
            <p:cNvSpPr/>
            <p:nvPr/>
          </p:nvSpPr>
          <p:spPr>
            <a:xfrm>
              <a:off x="6199835" y="3522440"/>
              <a:ext cx="4793824" cy="1827115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 anchorCtr="0">
              <a:noAutofit/>
            </a:bodyPr>
            <a:lstStyle/>
            <a:p>
              <a:endParaRPr lang="ko-KR" altLang="en-US" sz="100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C25B7E2-2E8A-CF32-68CE-691AA069282B}"/>
                </a:ext>
              </a:extLst>
            </p:cNvPr>
            <p:cNvSpPr/>
            <p:nvPr/>
          </p:nvSpPr>
          <p:spPr>
            <a:xfrm>
              <a:off x="10337890" y="3274881"/>
              <a:ext cx="655769" cy="226591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상담종료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DF9AFDA-9989-DC6D-2DA7-A933D194ABD4}"/>
                </a:ext>
              </a:extLst>
            </p:cNvPr>
            <p:cNvSpPr/>
            <p:nvPr/>
          </p:nvSpPr>
          <p:spPr>
            <a:xfrm>
              <a:off x="6198704" y="3274881"/>
              <a:ext cx="712484" cy="226591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r>
                <a:rPr lang="en-US" altLang="ko-KR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cust01</a:t>
              </a:r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38FD611-9F5F-8EC4-9F43-74E2649E104F}"/>
                </a:ext>
              </a:extLst>
            </p:cNvPr>
            <p:cNvSpPr/>
            <p:nvPr/>
          </p:nvSpPr>
          <p:spPr>
            <a:xfrm>
              <a:off x="6829322" y="3274881"/>
              <a:ext cx="712484" cy="226591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r>
                <a: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상담중</a:t>
              </a:r>
              <a:r>
                <a:rPr lang="en-US" altLang="ko-KR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나</a:t>
              </a:r>
              <a:r>
                <a:rPr lang="en-US" altLang="ko-KR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A671F02-259D-D49B-88D0-E2B939C9D54A}"/>
                </a:ext>
              </a:extLst>
            </p:cNvPr>
            <p:cNvGrpSpPr/>
            <p:nvPr/>
          </p:nvGrpSpPr>
          <p:grpSpPr>
            <a:xfrm>
              <a:off x="8834736" y="4451119"/>
              <a:ext cx="2079445" cy="446085"/>
              <a:chOff x="6399123" y="2317078"/>
              <a:chExt cx="2079445" cy="446085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0C136B1-B500-B1A9-9304-7A8117D3FE16}"/>
                  </a:ext>
                </a:extLst>
              </p:cNvPr>
              <p:cNvSpPr/>
              <p:nvPr/>
            </p:nvSpPr>
            <p:spPr>
              <a:xfrm>
                <a:off x="7766084" y="2317078"/>
                <a:ext cx="712484" cy="226591"/>
              </a:xfrm>
              <a:prstGeom prst="rect">
                <a:avLst/>
              </a:prstGeom>
              <a:noFill/>
              <a:ln w="3175">
                <a:noFill/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noAutofit/>
              </a:bodyPr>
              <a:lstStyle/>
              <a:p>
                <a:pPr algn="r"/>
                <a:r>
                  <a:rPr lang="ko-KR" altLang="en-US" sz="1000">
                    <a:solidFill>
                      <a:schemeClr val="bg1">
                        <a:lumMod val="65000"/>
                      </a:schemeClr>
                    </a:solidFill>
                    <a:latin typeface="+mj-ea"/>
                    <a:ea typeface="+mj-ea"/>
                  </a:rPr>
                  <a:t>홍길동</a:t>
                </a: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27CAB550-21A7-5ADF-6BE8-40332A14208F}"/>
                  </a:ext>
                </a:extLst>
              </p:cNvPr>
              <p:cNvSpPr/>
              <p:nvPr/>
            </p:nvSpPr>
            <p:spPr>
              <a:xfrm>
                <a:off x="6399123" y="2536572"/>
                <a:ext cx="2061328" cy="226591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noAutofit/>
              </a:bodyPr>
              <a:lstStyle/>
              <a:p>
                <a:pPr algn="r"/>
                <a:r>
                  <a:rPr lang="ko-KR" altLang="en-US" sz="1000">
                    <a:solidFill>
                      <a:schemeClr val="bg1"/>
                    </a:solidFill>
                    <a:latin typeface="+mj-ea"/>
                    <a:ea typeface="+mj-ea"/>
                  </a:rPr>
                  <a:t>안녕하세요</a:t>
                </a:r>
                <a:r>
                  <a:rPr lang="en-US" altLang="ko-KR" sz="1000">
                    <a:solidFill>
                      <a:schemeClr val="bg1"/>
                    </a:solidFill>
                    <a:latin typeface="+mj-ea"/>
                    <a:ea typeface="+mj-ea"/>
                  </a:rPr>
                  <a:t>? </a:t>
                </a:r>
                <a:r>
                  <a:rPr lang="ko-KR" altLang="en-US" sz="1000">
                    <a:solidFill>
                      <a:schemeClr val="bg1"/>
                    </a:solidFill>
                    <a:latin typeface="+mj-ea"/>
                    <a:ea typeface="+mj-ea"/>
                  </a:rPr>
                  <a:t>상담원</a:t>
                </a:r>
                <a:r>
                  <a:rPr lang="en-US" altLang="ko-KR" sz="1000">
                    <a:solidFill>
                      <a:schemeClr val="bg1"/>
                    </a:solidFill>
                    <a:latin typeface="+mj-ea"/>
                    <a:ea typeface="+mj-ea"/>
                  </a:rPr>
                  <a:t>-01</a:t>
                </a:r>
                <a:r>
                  <a:rPr lang="ko-KR" altLang="en-US" sz="1000">
                    <a:solidFill>
                      <a:schemeClr val="bg1"/>
                    </a:solidFill>
                    <a:latin typeface="+mj-ea"/>
                    <a:ea typeface="+mj-ea"/>
                  </a:rPr>
                  <a:t>님</a:t>
                </a:r>
                <a:r>
                  <a:rPr lang="en-US" altLang="ko-KR" sz="1000">
                    <a:solidFill>
                      <a:schemeClr val="bg1"/>
                    </a:solidFill>
                    <a:latin typeface="+mj-ea"/>
                    <a:ea typeface="+mj-ea"/>
                  </a:rPr>
                  <a:t>!</a:t>
                </a:r>
                <a:endParaRPr lang="ko-KR" altLang="en-US" sz="100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0114E2-E0ED-8EBB-1697-5D97DB8179A0}"/>
                </a:ext>
              </a:extLst>
            </p:cNvPr>
            <p:cNvSpPr/>
            <p:nvPr/>
          </p:nvSpPr>
          <p:spPr>
            <a:xfrm>
              <a:off x="6810659" y="3630381"/>
              <a:ext cx="3515182" cy="226591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en-US" altLang="ko-KR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cust01 </a:t>
              </a:r>
              <a:r>
                <a: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고객님 방에 상담원</a:t>
              </a:r>
              <a:r>
                <a:rPr lang="en-US" altLang="ko-KR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-01</a:t>
              </a:r>
              <a:r>
                <a: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님이 입장하셨습니다</a:t>
              </a:r>
              <a:r>
                <a:rPr lang="en-US" altLang="ko-KR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79DA571-4A12-6B19-68D7-6AA7B2C135D7}"/>
                </a:ext>
              </a:extLst>
            </p:cNvPr>
            <p:cNvGrpSpPr/>
            <p:nvPr/>
          </p:nvGrpSpPr>
          <p:grpSpPr>
            <a:xfrm>
              <a:off x="6326574" y="3928326"/>
              <a:ext cx="2674356" cy="451439"/>
              <a:chOff x="9090383" y="2205526"/>
              <a:chExt cx="2674356" cy="451439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DE1B3D7-875F-A0DD-06D6-7E195839890E}"/>
                  </a:ext>
                </a:extLst>
              </p:cNvPr>
              <p:cNvSpPr/>
              <p:nvPr/>
            </p:nvSpPr>
            <p:spPr>
              <a:xfrm>
                <a:off x="9090383" y="2205526"/>
                <a:ext cx="712484" cy="226591"/>
              </a:xfrm>
              <a:prstGeom prst="rect">
                <a:avLst/>
              </a:prstGeom>
              <a:noFill/>
              <a:ln w="3175">
                <a:noFill/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noAutofit/>
              </a:bodyPr>
              <a:lstStyle/>
              <a:p>
                <a:r>
                  <a:rPr lang="ko-KR" altLang="en-US" sz="1000">
                    <a:solidFill>
                      <a:schemeClr val="bg1">
                        <a:lumMod val="65000"/>
                      </a:schemeClr>
                    </a:solidFill>
                    <a:latin typeface="+mj-ea"/>
                    <a:ea typeface="+mj-ea"/>
                  </a:rPr>
                  <a:t>상담원</a:t>
                </a:r>
                <a:r>
                  <a:rPr lang="en-US" altLang="ko-KR" sz="1000">
                    <a:solidFill>
                      <a:schemeClr val="bg1">
                        <a:lumMod val="65000"/>
                      </a:schemeClr>
                    </a:solidFill>
                    <a:latin typeface="+mj-ea"/>
                    <a:ea typeface="+mj-ea"/>
                  </a:rPr>
                  <a:t>-01</a:t>
                </a:r>
                <a:endParaRPr lang="ko-KR" altLang="en-US" sz="100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E0C27002-AA1B-98FA-786C-505DAC86CB07}"/>
                  </a:ext>
                </a:extLst>
              </p:cNvPr>
              <p:cNvSpPr/>
              <p:nvPr/>
            </p:nvSpPr>
            <p:spPr>
              <a:xfrm>
                <a:off x="9131558" y="2430374"/>
                <a:ext cx="2633181" cy="226591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noAutofit/>
              </a:bodyPr>
              <a:lstStyle/>
              <a:p>
                <a:r>
                  <a:rPr lang="ko-KR" altLang="en-US" sz="1000">
                    <a:solidFill>
                      <a:schemeClr val="bg1"/>
                    </a:solidFill>
                    <a:latin typeface="+mj-ea"/>
                    <a:ea typeface="+mj-ea"/>
                  </a:rPr>
                  <a:t>안녕하세요</a:t>
                </a:r>
                <a:r>
                  <a:rPr lang="en-US" altLang="ko-KR" sz="1000">
                    <a:solidFill>
                      <a:schemeClr val="bg1"/>
                    </a:solidFill>
                    <a:latin typeface="+mj-ea"/>
                    <a:ea typeface="+mj-ea"/>
                  </a:rPr>
                  <a:t>? </a:t>
                </a:r>
                <a:r>
                  <a:rPr lang="ko-KR" altLang="en-US" sz="1000">
                    <a:solidFill>
                      <a:schemeClr val="bg1"/>
                    </a:solidFill>
                    <a:latin typeface="+mj-ea"/>
                    <a:ea typeface="+mj-ea"/>
                  </a:rPr>
                  <a:t>홍길철님 무엇을 도와드릴까요</a:t>
                </a:r>
                <a:r>
                  <a:rPr lang="en-US" altLang="ko-KR" sz="1000">
                    <a:solidFill>
                      <a:schemeClr val="bg1"/>
                    </a:solidFill>
                    <a:latin typeface="+mj-ea"/>
                    <a:ea typeface="+mj-ea"/>
                  </a:rPr>
                  <a:t>?</a:t>
                </a:r>
                <a:endParaRPr lang="ko-KR" altLang="en-US" sz="100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467B56-0710-72B5-A7C9-B99AEE4F204A}"/>
              </a:ext>
            </a:extLst>
          </p:cNvPr>
          <p:cNvSpPr/>
          <p:nvPr/>
        </p:nvSpPr>
        <p:spPr>
          <a:xfrm>
            <a:off x="3758145" y="547962"/>
            <a:ext cx="712484" cy="2419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1100">
                <a:solidFill>
                  <a:schemeClr val="tx1"/>
                </a:solidFill>
                <a:latin typeface="+mj-ea"/>
                <a:ea typeface="+mj-ea"/>
              </a:rPr>
              <a:t>상담 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692D35-B47E-911E-62A1-0ABBE2E82C7C}"/>
              </a:ext>
            </a:extLst>
          </p:cNvPr>
          <p:cNvSpPr/>
          <p:nvPr/>
        </p:nvSpPr>
        <p:spPr>
          <a:xfrm>
            <a:off x="4564117" y="545515"/>
            <a:ext cx="655769" cy="226591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로그아웃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CC8CFD-C37F-D7A2-DB38-43D7C02FE445}"/>
              </a:ext>
            </a:extLst>
          </p:cNvPr>
          <p:cNvSpPr/>
          <p:nvPr/>
        </p:nvSpPr>
        <p:spPr>
          <a:xfrm>
            <a:off x="3785011" y="792389"/>
            <a:ext cx="779106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r"/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접속 상담원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: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01B1C0-F1A1-F0BE-A6D0-069A13B9A313}"/>
              </a:ext>
            </a:extLst>
          </p:cNvPr>
          <p:cNvSpPr/>
          <p:nvPr/>
        </p:nvSpPr>
        <p:spPr>
          <a:xfrm>
            <a:off x="4526797" y="792389"/>
            <a:ext cx="654697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ko-KR" altLang="en-US" sz="1000">
                <a:solidFill>
                  <a:schemeClr val="tx1"/>
                </a:solidFill>
                <a:latin typeface="+mj-ea"/>
                <a:ea typeface="+mj-ea"/>
              </a:rPr>
              <a:t>상담원</a:t>
            </a:r>
            <a:r>
              <a:rPr lang="en-US" altLang="ko-KR" sz="1000">
                <a:solidFill>
                  <a:schemeClr val="tx1"/>
                </a:solidFill>
                <a:latin typeface="+mj-ea"/>
                <a:ea typeface="+mj-ea"/>
              </a:rPr>
              <a:t>-01</a:t>
            </a:r>
            <a:endParaRPr lang="ko-KR" altLang="en-US" sz="1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D0B200-8D8B-5D73-5A42-75CD5A9B8108}"/>
              </a:ext>
            </a:extLst>
          </p:cNvPr>
          <p:cNvSpPr/>
          <p:nvPr/>
        </p:nvSpPr>
        <p:spPr>
          <a:xfrm>
            <a:off x="3844106" y="1221954"/>
            <a:ext cx="1178744" cy="2265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en-US" altLang="ko-KR" sz="700">
                <a:solidFill>
                  <a:schemeClr val="bg1"/>
                </a:solidFill>
                <a:latin typeface="+mj-ea"/>
                <a:ea typeface="+mj-ea"/>
              </a:rPr>
              <a:t>cust01 / </a:t>
            </a:r>
            <a:r>
              <a:rPr lang="ko-KR" altLang="en-US" sz="700">
                <a:solidFill>
                  <a:schemeClr val="bg1"/>
                </a:solidFill>
                <a:latin typeface="+mj-ea"/>
                <a:ea typeface="+mj-ea"/>
              </a:rPr>
              <a:t>홍길동 </a:t>
            </a:r>
            <a:r>
              <a:rPr lang="en-US" altLang="ko-KR" sz="700">
                <a:solidFill>
                  <a:schemeClr val="bg1"/>
                </a:solidFill>
                <a:latin typeface="+mj-ea"/>
                <a:ea typeface="+mj-ea"/>
              </a:rPr>
              <a:t>[0]</a:t>
            </a:r>
            <a:endParaRPr lang="ko-KR" altLang="en-US" sz="7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A75EBBC-207A-494B-E8D8-D93EF3A2E2DC}"/>
              </a:ext>
            </a:extLst>
          </p:cNvPr>
          <p:cNvSpPr/>
          <p:nvPr/>
        </p:nvSpPr>
        <p:spPr>
          <a:xfrm>
            <a:off x="3844106" y="1415175"/>
            <a:ext cx="1178744" cy="2265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en-US" altLang="ko-KR" sz="9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room-a59a2b5c</a:t>
            </a:r>
            <a:endParaRPr lang="ko-KR" altLang="en-US" sz="90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257E32-45BC-4DEE-61EA-CD38033EEBF7}"/>
              </a:ext>
            </a:extLst>
          </p:cNvPr>
          <p:cNvSpPr/>
          <p:nvPr/>
        </p:nvSpPr>
        <p:spPr>
          <a:xfrm>
            <a:off x="3771557" y="1086144"/>
            <a:ext cx="1447257" cy="165785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0E00858-976D-242D-67CF-3F6C10248B0A}"/>
              </a:ext>
            </a:extLst>
          </p:cNvPr>
          <p:cNvSpPr/>
          <p:nvPr/>
        </p:nvSpPr>
        <p:spPr>
          <a:xfrm>
            <a:off x="3844106" y="1691571"/>
            <a:ext cx="1178744" cy="2265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en-US" altLang="ko-KR" sz="700">
                <a:solidFill>
                  <a:schemeClr val="bg1"/>
                </a:solidFill>
                <a:latin typeface="+mj-ea"/>
                <a:ea typeface="+mj-ea"/>
              </a:rPr>
              <a:t>cust02 / </a:t>
            </a:r>
            <a:r>
              <a:rPr lang="ko-KR" altLang="en-US" sz="700">
                <a:solidFill>
                  <a:schemeClr val="bg1"/>
                </a:solidFill>
                <a:latin typeface="+mj-ea"/>
                <a:ea typeface="+mj-ea"/>
              </a:rPr>
              <a:t>홍길철 </a:t>
            </a:r>
            <a:r>
              <a:rPr lang="en-US" altLang="ko-KR" sz="700">
                <a:solidFill>
                  <a:schemeClr val="bg1"/>
                </a:solidFill>
                <a:latin typeface="+mj-ea"/>
                <a:ea typeface="+mj-ea"/>
              </a:rPr>
              <a:t>[0]</a:t>
            </a:r>
            <a:endParaRPr lang="ko-KR" altLang="en-US" sz="7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A773FA-7A43-6215-FF4C-A666ECEBBA9F}"/>
              </a:ext>
            </a:extLst>
          </p:cNvPr>
          <p:cNvSpPr/>
          <p:nvPr/>
        </p:nvSpPr>
        <p:spPr>
          <a:xfrm>
            <a:off x="3844106" y="1884792"/>
            <a:ext cx="1178744" cy="22659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en-US" altLang="ko-KR" sz="9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room-a59a2b5d</a:t>
            </a:r>
            <a:endParaRPr lang="ko-KR" altLang="en-US" sz="90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9DE751F-73F6-9C61-D1F8-ADAA17519A9E}"/>
              </a:ext>
            </a:extLst>
          </p:cNvPr>
          <p:cNvSpPr/>
          <p:nvPr/>
        </p:nvSpPr>
        <p:spPr>
          <a:xfrm>
            <a:off x="5467720" y="1442086"/>
            <a:ext cx="1386499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r"/>
            <a:r>
              <a:rPr lang="ko-KR" altLang="en-US" sz="9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대기 중인 방이 없습니다</a:t>
            </a:r>
            <a:r>
              <a:rPr lang="en-US" altLang="ko-KR" sz="90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90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AC8713-5DC6-2454-D295-4BFFCD91A10C}"/>
              </a:ext>
            </a:extLst>
          </p:cNvPr>
          <p:cNvSpPr/>
          <p:nvPr/>
        </p:nvSpPr>
        <p:spPr>
          <a:xfrm>
            <a:off x="5431842" y="1080790"/>
            <a:ext cx="1447257" cy="16632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23B7AE1-992D-2AA4-098C-346047F5B726}"/>
              </a:ext>
            </a:extLst>
          </p:cNvPr>
          <p:cNvSpPr/>
          <p:nvPr/>
        </p:nvSpPr>
        <p:spPr>
          <a:xfrm>
            <a:off x="8165712" y="2929992"/>
            <a:ext cx="1447257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en-US" altLang="ko-KR" sz="800">
                <a:solidFill>
                  <a:srgbClr val="00B050"/>
                </a:solidFill>
                <a:latin typeface="+mj-ea"/>
                <a:ea typeface="+mj-ea"/>
              </a:rPr>
              <a:t>cust01 </a:t>
            </a:r>
            <a:r>
              <a:rPr lang="ko-KR" altLang="en-US" sz="800">
                <a:solidFill>
                  <a:srgbClr val="00B050"/>
                </a:solidFill>
                <a:latin typeface="+mj-ea"/>
                <a:ea typeface="+mj-ea"/>
              </a:rPr>
              <a:t>고객의</a:t>
            </a:r>
            <a:endParaRPr lang="en-US" altLang="ko-KR" sz="80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en-US" altLang="ko-KR" sz="800">
                <a:solidFill>
                  <a:srgbClr val="00B050"/>
                </a:solidFill>
                <a:latin typeface="+mj-ea"/>
                <a:ea typeface="+mj-ea"/>
              </a:rPr>
              <a:t>room-a59a2b5c</a:t>
            </a:r>
            <a:r>
              <a:rPr lang="ko-KR" altLang="en-US" sz="800">
                <a:solidFill>
                  <a:srgbClr val="00B050"/>
                </a:solidFill>
                <a:latin typeface="+mj-ea"/>
                <a:ea typeface="+mj-ea"/>
              </a:rPr>
              <a:t>를 나가기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7D4134C-45C1-D4F1-BB00-159877FBC32E}"/>
              </a:ext>
            </a:extLst>
          </p:cNvPr>
          <p:cNvSpPr/>
          <p:nvPr/>
        </p:nvSpPr>
        <p:spPr>
          <a:xfrm>
            <a:off x="4960332" y="318924"/>
            <a:ext cx="1447257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r>
              <a:rPr lang="ko-KR" altLang="en-US" sz="800">
                <a:solidFill>
                  <a:srgbClr val="00B050"/>
                </a:solidFill>
                <a:latin typeface="+mj-ea"/>
                <a:ea typeface="+mj-ea"/>
              </a:rPr>
              <a:t>채팅 시스템에서 로그아웃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094F2F3-70BD-9C8D-88B5-85886F8EE7B0}"/>
              </a:ext>
            </a:extLst>
          </p:cNvPr>
          <p:cNvGrpSpPr/>
          <p:nvPr/>
        </p:nvGrpSpPr>
        <p:grpSpPr>
          <a:xfrm>
            <a:off x="220666" y="496382"/>
            <a:ext cx="2981590" cy="1862836"/>
            <a:chOff x="6428152" y="1210595"/>
            <a:chExt cx="2981590" cy="186283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705CA5C-1FC8-D9DB-9EBE-E2B5CC61142C}"/>
                </a:ext>
              </a:extLst>
            </p:cNvPr>
            <p:cNvSpPr/>
            <p:nvPr/>
          </p:nvSpPr>
          <p:spPr>
            <a:xfrm>
              <a:off x="6846981" y="1210595"/>
              <a:ext cx="1585078" cy="24198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+mj-ea"/>
                  <a:ea typeface="+mj-ea"/>
                </a:rPr>
                <a:t>상담사 로그인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7B13D23-05FA-DE79-E9F9-BE93DC9A910D}"/>
                </a:ext>
              </a:extLst>
            </p:cNvPr>
            <p:cNvGrpSpPr/>
            <p:nvPr/>
          </p:nvGrpSpPr>
          <p:grpSpPr>
            <a:xfrm>
              <a:off x="6751413" y="1696383"/>
              <a:ext cx="1537577" cy="551122"/>
              <a:chOff x="1033432" y="1894727"/>
              <a:chExt cx="1537577" cy="551122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AFA11C48-4D6A-99A7-C52A-1DE32E119B0E}"/>
                  </a:ext>
                </a:extLst>
              </p:cNvPr>
              <p:cNvSpPr/>
              <p:nvPr/>
            </p:nvSpPr>
            <p:spPr>
              <a:xfrm>
                <a:off x="1033432" y="1894727"/>
                <a:ext cx="599425" cy="226591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ko-KR" altLang="en-US" sz="1000">
                    <a:solidFill>
                      <a:schemeClr val="tx1"/>
                    </a:solidFill>
                    <a:latin typeface="+mj-ea"/>
                    <a:ea typeface="+mj-ea"/>
                  </a:rPr>
                  <a:t>아이디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EC880EB-C217-CCA2-829D-A3EBDAC4B062}"/>
                  </a:ext>
                </a:extLst>
              </p:cNvPr>
              <p:cNvSpPr/>
              <p:nvPr/>
            </p:nvSpPr>
            <p:spPr>
              <a:xfrm>
                <a:off x="1033432" y="2219258"/>
                <a:ext cx="599425" cy="226591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ko-KR" altLang="en-US" sz="1000">
                    <a:solidFill>
                      <a:schemeClr val="tx1"/>
                    </a:solidFill>
                    <a:latin typeface="+mj-ea"/>
                    <a:ea typeface="+mj-ea"/>
                  </a:rPr>
                  <a:t>비밀번호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4B2D1D4-7664-9E92-5048-70E2282AA3AA}"/>
                  </a:ext>
                </a:extLst>
              </p:cNvPr>
              <p:cNvSpPr/>
              <p:nvPr/>
            </p:nvSpPr>
            <p:spPr>
              <a:xfrm>
                <a:off x="1680359" y="1894727"/>
                <a:ext cx="890650" cy="226591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A4D51AD8-77BD-37A8-B75B-3A6BA3D0D0A5}"/>
                  </a:ext>
                </a:extLst>
              </p:cNvPr>
              <p:cNvSpPr/>
              <p:nvPr/>
            </p:nvSpPr>
            <p:spPr>
              <a:xfrm>
                <a:off x="1680359" y="2219258"/>
                <a:ext cx="890650" cy="226591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/>
              </a:p>
            </p:txBody>
          </p:sp>
        </p:grp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C5C7BDDA-1D34-E349-BBD5-7B4AED458EAE}"/>
                </a:ext>
              </a:extLst>
            </p:cNvPr>
            <p:cNvSpPr/>
            <p:nvPr/>
          </p:nvSpPr>
          <p:spPr>
            <a:xfrm>
              <a:off x="7027375" y="2406619"/>
              <a:ext cx="985652" cy="226592"/>
            </a:xfrm>
            <a:prstGeom prst="round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+mj-ea"/>
                  <a:ea typeface="+mj-ea"/>
                </a:rPr>
                <a:t>로그인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F6D19C3-8E48-5600-D35E-4DE059C007B4}"/>
                </a:ext>
              </a:extLst>
            </p:cNvPr>
            <p:cNvSpPr/>
            <p:nvPr/>
          </p:nvSpPr>
          <p:spPr>
            <a:xfrm>
              <a:off x="6428152" y="1580693"/>
              <a:ext cx="2257962" cy="1160948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CB7A67D-35AF-180D-788D-9915EBDFA35C}"/>
                </a:ext>
              </a:extLst>
            </p:cNvPr>
            <p:cNvSpPr/>
            <p:nvPr/>
          </p:nvSpPr>
          <p:spPr>
            <a:xfrm>
              <a:off x="7962485" y="2846840"/>
              <a:ext cx="1447257" cy="226591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r>
                <a:rPr lang="ko-KR" altLang="en-US" sz="800">
                  <a:solidFill>
                    <a:srgbClr val="00B050"/>
                  </a:solidFill>
                  <a:latin typeface="+mj-ea"/>
                  <a:ea typeface="+mj-ea"/>
                </a:rPr>
                <a:t>채팅 시스템에 로그인</a:t>
              </a: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3C62C52-6B20-C272-6D5A-F32B1591DAB6}"/>
              </a:ext>
            </a:extLst>
          </p:cNvPr>
          <p:cNvSpPr/>
          <p:nvPr/>
        </p:nvSpPr>
        <p:spPr>
          <a:xfrm>
            <a:off x="5058729" y="1086144"/>
            <a:ext cx="160971" cy="165785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76CF6AF-F83A-ECAC-6CDB-E172118784A0}"/>
              </a:ext>
            </a:extLst>
          </p:cNvPr>
          <p:cNvSpPr/>
          <p:nvPr/>
        </p:nvSpPr>
        <p:spPr>
          <a:xfrm>
            <a:off x="5060835" y="1090072"/>
            <a:ext cx="160971" cy="165785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ko-KR" altLang="en-US" sz="1050">
                <a:solidFill>
                  <a:schemeClr val="bg1">
                    <a:lumMod val="95000"/>
                  </a:schemeClr>
                </a:solidFill>
              </a:rPr>
              <a:t>▲</a:t>
            </a:r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endParaRPr lang="en-US" altLang="ko-KR" sz="105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ko-KR" altLang="en-US" sz="1050">
                <a:solidFill>
                  <a:schemeClr val="bg1">
                    <a:lumMod val="95000"/>
                  </a:schemeClr>
                </a:solidFill>
              </a:rPr>
              <a:t>▼</a:t>
            </a:r>
          </a:p>
        </p:txBody>
      </p:sp>
      <p:pic>
        <p:nvPicPr>
          <p:cNvPr id="55" name="그림 54" descr="텍스트, 폰트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08C15B-93D5-B2C3-2378-DA24F4972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914" y="1456752"/>
            <a:ext cx="1971675" cy="590550"/>
          </a:xfrm>
          <a:prstGeom prst="rect">
            <a:avLst/>
          </a:prstGeom>
        </p:spPr>
      </p:pic>
      <p:pic>
        <p:nvPicPr>
          <p:cNvPr id="57" name="그림 56" descr="텍스트, 일렉트릭 블루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C3F9DC-8447-6B6A-41A4-0F7F78B71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888" y="2220121"/>
            <a:ext cx="1800225" cy="523875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33126A41-731D-1FB9-5DBC-0468AEAAAAD1}"/>
              </a:ext>
            </a:extLst>
          </p:cNvPr>
          <p:cNvSpPr/>
          <p:nvPr/>
        </p:nvSpPr>
        <p:spPr>
          <a:xfrm>
            <a:off x="521951" y="3561598"/>
            <a:ext cx="2376759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cust01/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홍길동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고객님의 챗봇 상담에 개입하시겠습니까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?</a:t>
            </a:r>
            <a:endParaRPr lang="ko-KR" altLang="en-US" sz="7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D69022-22E1-7CC3-2889-F0833577B5B3}"/>
              </a:ext>
            </a:extLst>
          </p:cNvPr>
          <p:cNvSpPr/>
          <p:nvPr/>
        </p:nvSpPr>
        <p:spPr>
          <a:xfrm>
            <a:off x="1957226" y="3780092"/>
            <a:ext cx="369207" cy="163647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확인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D2A9B50-AEE1-4A48-6EBA-888BA0BA35B4}"/>
              </a:ext>
            </a:extLst>
          </p:cNvPr>
          <p:cNvSpPr/>
          <p:nvPr/>
        </p:nvSpPr>
        <p:spPr>
          <a:xfrm>
            <a:off x="2394214" y="3780092"/>
            <a:ext cx="369207" cy="163647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BED8E9-A32B-771A-7675-FD203855F3DD}"/>
              </a:ext>
            </a:extLst>
          </p:cNvPr>
          <p:cNvSpPr/>
          <p:nvPr/>
        </p:nvSpPr>
        <p:spPr>
          <a:xfrm>
            <a:off x="485064" y="3553410"/>
            <a:ext cx="2413646" cy="53098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4472D1F-1679-8728-CF0D-19AB2D13EAC9}"/>
              </a:ext>
            </a:extLst>
          </p:cNvPr>
          <p:cNvSpPr/>
          <p:nvPr/>
        </p:nvSpPr>
        <p:spPr>
          <a:xfrm>
            <a:off x="521951" y="4203295"/>
            <a:ext cx="2376759" cy="226591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cust01/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홍길동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고객님의 챗봇 상담을 종료하겠습니까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?</a:t>
            </a:r>
            <a:endParaRPr lang="ko-KR" altLang="en-US" sz="7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BAB5BCE-4472-A725-3002-2F6F5880175D}"/>
              </a:ext>
            </a:extLst>
          </p:cNvPr>
          <p:cNvSpPr/>
          <p:nvPr/>
        </p:nvSpPr>
        <p:spPr>
          <a:xfrm>
            <a:off x="1957226" y="4421789"/>
            <a:ext cx="369207" cy="163647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확인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221C40B-377C-0FA8-F65F-3AC7E8D770A7}"/>
              </a:ext>
            </a:extLst>
          </p:cNvPr>
          <p:cNvSpPr/>
          <p:nvPr/>
        </p:nvSpPr>
        <p:spPr>
          <a:xfrm>
            <a:off x="2394214" y="4421789"/>
            <a:ext cx="369207" cy="163647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취소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D4326FE-D6D8-921E-DADB-388AA708F5E4}"/>
              </a:ext>
            </a:extLst>
          </p:cNvPr>
          <p:cNvSpPr/>
          <p:nvPr/>
        </p:nvSpPr>
        <p:spPr>
          <a:xfrm>
            <a:off x="485064" y="4195107"/>
            <a:ext cx="2413646" cy="53098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808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13150</TotalTime>
  <Words>1806</Words>
  <Application>Microsoft Office PowerPoint</Application>
  <PresentationFormat>와이드스크린</PresentationFormat>
  <Paragraphs>569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D2Coding</vt:lpstr>
      <vt:lpstr>Droid Serif</vt:lpstr>
      <vt:lpstr>fkGroteskNeue</vt:lpstr>
      <vt:lpstr>JetBrains Mono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PALMAN HEO</dc:creator>
  <cp:lastModifiedBy>PALMAN HEO</cp:lastModifiedBy>
  <cp:revision>91</cp:revision>
  <dcterms:created xsi:type="dcterms:W3CDTF">2026-01-15T04:46:25Z</dcterms:created>
  <dcterms:modified xsi:type="dcterms:W3CDTF">2026-02-01T20:37:31Z</dcterms:modified>
</cp:coreProperties>
</file>